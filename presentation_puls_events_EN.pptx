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71" r:id="rId20"/>
    <p:sldId id="257" r:id="rId3"/>
    <p:sldId id="258" r:id="rId4"/>
    <p:sldId id="259" r:id="rId5"/>
    <p:sldId id="260" r:id="rId14"/>
    <p:sldId id="272" r:id="rId21"/>
    <p:sldId id="261" r:id="rId6"/>
    <p:sldId id="262" r:id="rId7"/>
    <p:sldId id="263" r:id="rId8"/>
    <p:sldId id="264" r:id="rId9"/>
    <p:sldId id="265" r:id="rId10"/>
    <p:sldId id="266" r:id="rId11"/>
    <p:sldId id="267" r:id="rId12"/>
    <p:sldId id="268"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97"/>
    <p:restoredTop sz="94610"/>
  </p:normalViewPr>
  <p:slideViewPr>
    <p:cSldViewPr snapToGrid="0" snapToObjects="1">
      <p:cViewPr varScale="1">
        <p:scale>
          <a:sx n="163" d="100"/>
          <a:sy n="163" d="100"/>
        </p:scale>
        <p:origin x="184" y="3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312263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slide. Introduce the context: Puls-Events wants to test whether an AI chatbot can recommend cultural events from real Open Agenda data.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difference between a standalone LLM and a RAG system. The LLM alone invents. The RAG first retrieves real events then summarises them.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modes: offline pipeline builds the index, online pipeline serves queries. Emphasise separation of concerns.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rejection of the OpenDataSoft source. Show that notebook exploration before writing production code is essential.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self-contained pattern: each bash script writes the Python file AND executes it. Highlight skip logic: if the artefact already exists, the step is skipped.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L2 distances validate semantic search. Emphasise case 4: out-of-scope query correctly refused without hallucination.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Run: bash pipeline.sh --skip-run then bash 04_run.sh. Open localhost:8501. Test: 1) classical concert 2) best restaurant (out of scope) 3) what to do this weekend.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the date parsing bug discovery (milliseconds vs ISO). This bug would have silently corrupted the date filter in production. The tests caught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questions covering all realistic cases. RAGAS metrics objectively measure quality. Mention the rate limit constraint on the free Mistral tier.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that the path to production is well defined. No architectural overhaul required: only infrastructure investment.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questions Jeremy will ask during the 10-minute discussion. Prepare to answer confidently without reading from the slide.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slide. Return to the five validated points. Close with the clear recommendation to proceed to production.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Justify each choice. For FAISS: IndexFlatL2 is exact and sufficient at this scale. For chunking: descriptions are too short to split.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28512691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4.png"/><Relationship Id="rId7"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a:effectLst/>
      </p:bgPr>
    </p:bg>
    <p:spTree>
      <p:nvGrpSpPr>
        <p:cNvPr id="1" name=""/>
        <p:cNvGrpSpPr/>
        <p:nvPr/>
      </p:nvGrpSpPr>
      <p:grpSpPr>
        <a:xfrm>
          <a:off x="0" y="0"/>
          <a:ext cx="0" cy="0"/>
          <a:chOff x="0" y="0"/>
          <a:chExt cx="0" cy="0"/>
        </a:xfrm>
      </p:grpSpPr>
      <p:sp>
        <p:nvSpPr>
          <p:cNvPr id="2" name="Shape 0"/>
          <p:cNvSpPr/>
          <p:nvPr/>
        </p:nvSpPr>
        <p:spPr>
          <a:xfrm>
            <a:off x="0" y="0"/>
            <a:ext cx="3474720" cy="5143500"/>
          </a:xfrm>
          <a:prstGeom prst="rect">
            <a:avLst/>
          </a:prstGeom>
          <a:solidFill>
            <a:srgbClr val="2E75B6"/>
          </a:solidFill>
          <a:ln/>
        </p:spPr>
      </p:sp>
      <p:sp>
        <p:nvSpPr>
          <p:cNvPr id="3" name="Shape 1"/>
          <p:cNvSpPr/>
          <p:nvPr/>
        </p:nvSpPr>
        <p:spPr>
          <a:xfrm>
            <a:off x="1097280" y="640080"/>
            <a:ext cx="1280160" cy="1280160"/>
          </a:xfrm>
          <a:prstGeom prst="ellipse">
            <a:avLst/>
          </a:prstGeom>
          <a:solidFill>
            <a:srgbClr val="FFFFFF"/>
          </a:solidFill>
          <a:ln/>
        </p:spPr>
      </p:sp>
      <p:sp>
        <p:nvSpPr>
          <p:cNvPr id="4" name="Text 2"/>
          <p:cNvSpPr/>
          <p:nvPr/>
        </p:nvSpPr>
        <p:spPr>
          <a:xfrm>
            <a:off x="1097280" y="640080"/>
            <a:ext cx="1280160" cy="1280160"/>
          </a:xfrm>
          <a:prstGeom prst="rect">
            <a:avLst/>
          </a:prstGeom>
          <a:noFill/>
          <a:ln/>
        </p:spPr>
        <p:txBody>
          <a:bodyPr wrap="square" lIns="0" tIns="0" rIns="0" bIns="0" rtlCol="0" anchor="ctr"/>
          <a:lstStyle/>
          <a:p>
            <a:pPr marL="0" indent="0" algn="ctr">
              <a:buNone/>
            </a:pPr>
            <a:r>
              <a:rPr lang="en-US" sz="3600" b="1" dirty="0">
                <a:solidFill>
                  <a:srgbClr val="1F4E79"/>
                </a:solidFill>
              </a:rPr>
              <a:t>PE</a:t>
            </a:r>
            <a:endParaRPr lang="en-US" sz="3600" dirty="0"/>
          </a:p>
        </p:txBody>
      </p:sp>
      <p:sp>
        <p:nvSpPr>
          <p:cNvPr id="5" name="Text 3"/>
          <p:cNvSpPr/>
          <p:nvPr/>
        </p:nvSpPr>
        <p:spPr>
          <a:xfrm>
            <a:off x="274320" y="2194560"/>
            <a:ext cx="2926080" cy="457200"/>
          </a:xfrm>
          <a:prstGeom prst="rect">
            <a:avLst/>
          </a:prstGeom>
          <a:noFill/>
          <a:ln/>
        </p:spPr>
        <p:txBody>
          <a:bodyPr wrap="square" rtlCol="0" anchor="ctr"/>
          <a:lstStyle/>
          <a:p>
            <a:pPr marL="0" indent="0" algn="ctr">
              <a:buNone/>
            </a:pPr>
            <a:r>
              <a:rPr lang="en-US" sz="1600" b="1" dirty="0">
                <a:solidFill>
                  <a:srgbClr val="FFFFFF"/>
                </a:solidFill>
              </a:rPr>
              <a:t>Puls-Events</a:t>
            </a:r>
            <a:endParaRPr lang="en-US" sz="1600" dirty="0"/>
          </a:p>
        </p:txBody>
      </p:sp>
      <p:sp>
        <p:nvSpPr>
          <p:cNvPr id="6" name="Text 4"/>
          <p:cNvSpPr/>
          <p:nvPr/>
        </p:nvSpPr>
        <p:spPr>
          <a:xfrm>
            <a:off x="274320" y="2651760"/>
            <a:ext cx="2926080" cy="365760"/>
          </a:xfrm>
          <a:prstGeom prst="rect">
            <a:avLst/>
          </a:prstGeom>
          <a:noFill/>
          <a:ln/>
        </p:spPr>
        <p:txBody>
          <a:bodyPr wrap="square" rtlCol="0" anchor="ctr"/>
          <a:lstStyle/>
          <a:p>
            <a:pPr marL="0" indent="0" algn="ctr">
              <a:buNone/>
            </a:pPr>
            <a:r>
              <a:rPr lang="en-US" sz="1100" dirty="0">
                <a:solidFill>
                  <a:srgbClr val="CADCFC"/>
                </a:solidFill>
              </a:rPr>
              <a:t>Cultural Events Assistant Paris</a:t>
            </a:r>
            <a:endParaRPr lang="en-US" sz="1100" dirty="0"/>
          </a:p>
        </p:txBody>
      </p:sp>
      <p:sp>
        <p:nvSpPr>
          <p:cNvPr id="7" name="Text 5"/>
          <p:cNvSpPr/>
          <p:nvPr/>
        </p:nvSpPr>
        <p:spPr>
          <a:xfrm>
            <a:off x="3840480" y="914400"/>
            <a:ext cx="5029200" cy="548640"/>
          </a:xfrm>
          <a:prstGeom prst="rect">
            <a:avLst/>
          </a:prstGeom>
          <a:noFill/>
          <a:ln/>
        </p:spPr>
        <p:txBody>
          <a:bodyPr wrap="square" rtlCol="0" anchor="ctr"/>
          <a:lstStyle/>
          <a:p>
            <a:pPr marL="0" indent="0">
              <a:buNone/>
            </a:pPr>
            <a:r>
              <a:rPr lang="en-US" sz="1300" b="1" kern="0" spc="400" dirty="0">
                <a:solidFill>
                  <a:srgbClr val="F39C12"/>
                </a:solidFill>
              </a:rPr>
              <a:t>RAG SYSTEM</a:t>
            </a:r>
            <a:endParaRPr lang="en-US" sz="1300" dirty="0"/>
          </a:p>
        </p:txBody>
      </p:sp>
      <p:sp>
        <p:nvSpPr>
          <p:cNvPr id="8" name="Text 6"/>
          <p:cNvSpPr/>
          <p:nvPr/>
        </p:nvSpPr>
        <p:spPr>
          <a:xfrm>
            <a:off x="3840480" y="1554480"/>
            <a:ext cx="5029200" cy="1097280"/>
          </a:xfrm>
          <a:prstGeom prst="rect">
            <a:avLst/>
          </a:prstGeom>
          <a:noFill/>
          <a:ln/>
        </p:spPr>
        <p:txBody>
          <a:bodyPr wrap="square"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Proof of Concept</a:t>
            </a:r>
            <a:endParaRPr lang="en-US" sz="3000" dirty="0"/>
          </a:p>
          <a:p>
            <a:pPr marL="0" indent="0">
              <a:buNone/>
            </a:pPr>
            <a:r>
              <a:rPr lang="en-US" sz="3000" b="1" dirty="0">
                <a:solidFill>
                  <a:srgbClr val="FFFFFF"/>
                </a:solidFill>
                <a:latin typeface="Cambria" pitchFamily="34" charset="0"/>
                <a:ea typeface="Cambria" pitchFamily="34" charset="-122"/>
                <a:cs typeface="Cambria" pitchFamily="34" charset="-120"/>
              </a:rPr>
              <a:t>Cultural Event Recommendations</a:t>
            </a:r>
            <a:endParaRPr lang="en-US" sz="3000" dirty="0"/>
          </a:p>
        </p:txBody>
      </p:sp>
      <p:sp>
        <p:nvSpPr>
          <p:cNvPr id="9" name="Text 7"/>
          <p:cNvSpPr/>
          <p:nvPr/>
        </p:nvSpPr>
        <p:spPr>
          <a:xfrm>
            <a:off x="3840480" y="2743200"/>
            <a:ext cx="5029200" cy="365760"/>
          </a:xfrm>
          <a:prstGeom prst="rect">
            <a:avLst/>
          </a:prstGeom>
          <a:noFill/>
          <a:ln/>
        </p:spPr>
        <p:txBody>
          <a:bodyPr wrap="square" rtlCol="0" anchor="ctr"/>
          <a:lstStyle/>
          <a:p>
            <a:pPr marL="0" indent="0">
              <a:buNone/>
            </a:pPr>
            <a:r>
              <a:rPr lang="en-US" sz="1400" i="1" dirty="0">
                <a:solidFill>
                  <a:srgbClr val="CADCFC"/>
                </a:solidFill>
              </a:rPr>
              <a:t>Retrieval-Augmented Generation</a:t>
            </a:r>
            <a:endParaRPr lang="en-US" sz="1400" dirty="0"/>
          </a:p>
        </p:txBody>
      </p:sp>
      <p:sp>
        <p:nvSpPr>
          <p:cNvPr id="10" name="Shape 8"/>
          <p:cNvSpPr/>
          <p:nvPr/>
        </p:nvSpPr>
        <p:spPr>
          <a:xfrm>
            <a:off x="3840480" y="3200400"/>
            <a:ext cx="4754880" cy="0"/>
          </a:xfrm>
          <a:prstGeom prst="line">
            <a:avLst/>
          </a:prstGeom>
          <a:noFill/>
          <a:ln w="19050">
            <a:solidFill>
              <a:srgbClr val="028090"/>
            </a:solidFill>
            <a:prstDash val="solid"/>
          </a:ln>
        </p:spPr>
      </p:sp>
      <p:sp>
        <p:nvSpPr>
          <p:cNvPr id="11" name="Text 9"/>
          <p:cNvSpPr/>
          <p:nvPr/>
        </p:nvSpPr>
        <p:spPr>
          <a:xfrm>
            <a:off x="3840480" y="3383280"/>
            <a:ext cx="5029200" cy="822960"/>
          </a:xfrm>
          <a:prstGeom prst="rect">
            <a:avLst/>
          </a:prstGeom>
          <a:noFill/>
          <a:ln/>
        </p:spPr>
        <p:txBody>
          <a:bodyPr wrap="square" rtlCol="0" anchor="ctr"/>
          <a:lstStyle/>
          <a:p>
            <a:pPr marL="0" indent="0">
              <a:buNone/>
            </a:pPr>
            <a:r>
              <a:rPr lang="en-US" sz="1200" dirty="0">
                <a:solidFill>
                  <a:srgbClr val="CADCFC"/>
                </a:solidFill>
              </a:rPr>
              <a:t>Hope Donglo  |  Freelance Data Engineer</a:t>
            </a:r>
            <a:endParaRPr lang="en-US" sz="1200" dirty="0"/>
          </a:p>
          <a:p>
            <a:pPr marL="0" indent="0">
              <a:buNone/>
            </a:pPr>
            <a:r>
              <a:rPr lang="en-US" sz="1200" dirty="0">
                <a:solidFill>
                  <a:srgbClr val="CADCFC"/>
                </a:solidFill>
              </a:rPr>
              <a:t>March 2026  |  Paris, Ile-de-France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F4E79"/>
          </a:solidFill>
          <a:ln/>
        </p:spPr>
      </p:sp>
      <p:sp>
        <p:nvSpPr>
          <p:cNvPr id="3" name="Text 1"/>
          <p:cNvSpPr/>
          <p:nvPr/>
        </p:nvSpPr>
        <p:spPr>
          <a:xfrm>
            <a:off x="365760" y="0"/>
            <a:ext cx="8412480" cy="914400"/>
          </a:xfrm>
          <a:prstGeom prst="rect">
            <a:avLst/>
          </a:prstGeom>
          <a:noFill/>
          <a:ln/>
        </p:spPr>
        <p:txBody>
          <a:bodyPr wrap="square" rtlCol="0" anchor="ctr"/>
          <a:lstStyle/>
          <a:p>
            <a:pPr marL="0" indent="0">
              <a:buNone/>
            </a:pPr>
            <a:r>
              <a:rPr lang="en-US" sz="2200" b="1" dirty="0">
                <a:solidFill>
                  <a:srgbClr val="FFFFFF"/>
                </a:solidFill>
              </a:rPr>
              <a:t>CONTEXT AND OBJECTIVES</a:t>
            </a:r>
            <a:endParaRPr lang="en-US" sz="2200" dirty="0"/>
          </a:p>
        </p:txBody>
      </p:sp>
      <p:sp>
        <p:nvSpPr>
          <p:cNvPr id="4" name="Shape 2"/>
          <p:cNvSpPr/>
          <p:nvPr/>
        </p:nvSpPr>
        <p:spPr>
          <a:xfrm>
            <a:off x="365760" y="1097280"/>
            <a:ext cx="4023360" cy="3474720"/>
          </a:xfrm>
          <a:prstGeom prst="roundRect">
            <a:avLst>
              <a:gd name="adj" fmla="val 3158"/>
            </a:avLst>
          </a:prstGeom>
          <a:solidFill>
            <a:srgbClr val="F2F6FA"/>
          </a:solidFill>
          <a:ln/>
          <a:effectLst>
            <a:outerShdw blurRad="101600" dist="38100" dir="2700000" algn="bl" rotWithShape="0">
              <a:srgbClr val="000000">
                <a:alpha val="12000"/>
              </a:srgbClr>
            </a:outerShdw>
          </a:effectLst>
        </p:spPr>
      </p:sp>
      <p:sp>
        <p:nvSpPr>
          <p:cNvPr id="5" name="Shape 3"/>
          <p:cNvSpPr/>
          <p:nvPr/>
        </p:nvSpPr>
        <p:spPr>
          <a:xfrm>
            <a:off x="822960" y="1280160"/>
            <a:ext cx="640080" cy="640080"/>
          </a:xfrm>
          <a:prstGeom prst="ellipse">
            <a:avLst/>
          </a:prstGeom>
          <a:solidFill>
            <a:srgbClr val="2E75B6"/>
          </a:solidFill>
          <a:ln/>
        </p:spPr>
      </p:sp>
      <p:pic>
        <p:nvPicPr>
          <p:cNvPr id="6" name="Image 0" descr="preencoded.png"/>
          <p:cNvPicPr>
            <a:picLocks noChangeAspect="1"/>
          </p:cNvPicPr>
          <p:nvPr/>
        </p:nvPicPr>
        <p:blipFill>
          <a:blip r:embed="rId3"/>
          <a:stretch>
            <a:fillRect/>
          </a:stretch>
        </p:blipFill>
        <p:spPr>
          <a:xfrm>
            <a:off x="914400" y="1371600"/>
            <a:ext cx="457200" cy="457200"/>
          </a:xfrm>
          <a:prstGeom prst="rect">
            <a:avLst/>
          </a:prstGeom>
        </p:spPr>
      </p:pic>
      <p:sp>
        <p:nvSpPr>
          <p:cNvPr id="7" name="Text 4"/>
          <p:cNvSpPr/>
          <p:nvPr/>
        </p:nvSpPr>
        <p:spPr>
          <a:xfrm>
            <a:off x="1554480" y="1325880"/>
            <a:ext cx="2560320" cy="640080"/>
          </a:xfrm>
          <a:prstGeom prst="rect">
            <a:avLst/>
          </a:prstGeom>
          <a:noFill/>
          <a:ln/>
        </p:spPr>
        <p:txBody>
          <a:bodyPr wrap="square" rtlCol="0" anchor="ctr"/>
          <a:lstStyle/>
          <a:p>
            <a:pPr marL="0" indent="0">
              <a:buNone/>
            </a:pPr>
            <a:r>
              <a:rPr lang="en-US" sz="1600" b="1" dirty="0">
                <a:solidFill>
                  <a:srgbClr val="1F4E79"/>
                </a:solidFill>
              </a:rPr>
              <a:t>The Challenge</a:t>
            </a:r>
            <a:endParaRPr lang="en-US" sz="1600" dirty="0"/>
          </a:p>
        </p:txBody>
      </p:sp>
      <p:sp>
        <p:nvSpPr>
          <p:cNvPr id="8" name="Text 5"/>
          <p:cNvSpPr/>
          <p:nvPr/>
        </p:nvSpPr>
        <p:spPr>
          <a:xfrm>
            <a:off x="548640" y="2011680"/>
            <a:ext cx="3657600" cy="2377440"/>
          </a:xfrm>
          <a:prstGeom prst="rect">
            <a:avLst/>
          </a:prstGeom>
          <a:noFill/>
          <a:ln/>
        </p:spPr>
        <p:txBody>
          <a:bodyPr wrap="square" rtlCol="0" anchor="ctr"/>
          <a:lstStyle/>
          <a:p>
            <a:pPr marL="0" indent="0">
              <a:buNone/>
            </a:pPr>
            <a:r>
              <a:rPr lang="en-US" sz="1200" dirty="0">
                <a:solidFill>
                  <a:srgbClr val="5D6D7E"/>
                </a:solidFill>
              </a:rPr>
              <a:t>Puls-Events aggregates cultural events from Open Agenda.</a:t>
            </a:r>
            <a:endParaRPr lang="en-US" sz="1200" dirty="0"/>
          </a:p>
          <a:p>
            <a:pPr marL="0" indent="0">
              <a:buNone/>
            </a:pPr>
            <a:r>
              <a:rPr lang="en-US" sz="1200" dirty="0">
                <a:solidFill>
                  <a:srgbClr val="5D6D7E"/>
                </a:solidFill>
              </a:rPr>
              <a:t> </a:t>
            </a:r>
            <a:endParaRPr lang="en-US" sz="1200" dirty="0"/>
          </a:p>
          <a:p>
            <a:pPr marL="0" indent="0">
              <a:buNone/>
            </a:pPr>
            <a:r>
              <a:rPr lang="en-US" sz="1200" dirty="0">
                <a:solidFill>
                  <a:srgbClr val="5D6D7E"/>
                </a:solidFill>
              </a:rPr>
              <a:t>Users want to discover events by asking questions in natural language.</a:t>
            </a:r>
            <a:endParaRPr lang="en-US" sz="1200" dirty="0"/>
          </a:p>
          <a:p>
            <a:pPr marL="0" indent="0">
              <a:buNone/>
            </a:pPr>
            <a:r>
              <a:rPr lang="en-US" sz="1200" dirty="0">
                <a:solidFill>
                  <a:srgbClr val="5D6D7E"/>
                </a:solidFill>
              </a:rPr>
              <a:t> </a:t>
            </a:r>
            <a:endParaRPr lang="en-US" sz="1200" dirty="0"/>
          </a:p>
          <a:p>
            <a:pPr marL="0" indent="0">
              <a:buNone/>
            </a:pPr>
            <a:r>
              <a:rPr lang="en-US" sz="1200" dirty="0">
                <a:solidFill>
                  <a:srgbClr val="5D6D7E"/>
                </a:solidFill>
              </a:rPr>
              <a:t>Generic LLMs do not know about recent local events and hallucinate answers.</a:t>
            </a:r>
            <a:endParaRPr lang="en-US" sz="1200" dirty="0"/>
          </a:p>
        </p:txBody>
      </p:sp>
      <p:sp>
        <p:nvSpPr>
          <p:cNvPr id="9" name="Shape 6"/>
          <p:cNvSpPr/>
          <p:nvPr/>
        </p:nvSpPr>
        <p:spPr>
          <a:xfrm>
            <a:off x="4754880" y="1097280"/>
            <a:ext cx="4023360" cy="3474720"/>
          </a:xfrm>
          <a:prstGeom prst="roundRect">
            <a:avLst>
              <a:gd name="adj" fmla="val 3158"/>
            </a:avLst>
          </a:prstGeom>
          <a:solidFill>
            <a:srgbClr val="F2F6FA"/>
          </a:solidFill>
          <a:ln/>
          <a:effectLst>
            <a:outerShdw blurRad="101600" dist="38100" dir="2700000" algn="bl" rotWithShape="0">
              <a:srgbClr val="000000">
                <a:alpha val="12000"/>
              </a:srgbClr>
            </a:outerShdw>
          </a:effectLst>
        </p:spPr>
      </p:sp>
      <p:sp>
        <p:nvSpPr>
          <p:cNvPr id="10" name="Shape 7"/>
          <p:cNvSpPr/>
          <p:nvPr/>
        </p:nvSpPr>
        <p:spPr>
          <a:xfrm>
            <a:off x="5212080" y="1280160"/>
            <a:ext cx="640080" cy="640080"/>
          </a:xfrm>
          <a:prstGeom prst="ellipse">
            <a:avLst/>
          </a:prstGeom>
          <a:solidFill>
            <a:srgbClr val="028090"/>
          </a:solidFill>
          <a:ln/>
        </p:spPr>
      </p:sp>
      <p:pic>
        <p:nvPicPr>
          <p:cNvPr id="11" name="Image 1" descr="preencoded.png"/>
          <p:cNvPicPr>
            <a:picLocks noChangeAspect="1"/>
          </p:cNvPicPr>
          <p:nvPr/>
        </p:nvPicPr>
        <p:blipFill>
          <a:blip r:embed="rId4"/>
          <a:stretch>
            <a:fillRect/>
          </a:stretch>
        </p:blipFill>
        <p:spPr>
          <a:xfrm>
            <a:off x="5321808" y="1371600"/>
            <a:ext cx="411480" cy="411480"/>
          </a:xfrm>
          <a:prstGeom prst="rect">
            <a:avLst/>
          </a:prstGeom>
        </p:spPr>
      </p:pic>
      <p:sp>
        <p:nvSpPr>
          <p:cNvPr id="12" name="Text 8"/>
          <p:cNvSpPr/>
          <p:nvPr/>
        </p:nvSpPr>
        <p:spPr>
          <a:xfrm>
            <a:off x="5943600" y="1325880"/>
            <a:ext cx="2560320" cy="640080"/>
          </a:xfrm>
          <a:prstGeom prst="rect">
            <a:avLst/>
          </a:prstGeom>
          <a:noFill/>
          <a:ln/>
        </p:spPr>
        <p:txBody>
          <a:bodyPr wrap="square" rtlCol="0" anchor="ctr"/>
          <a:lstStyle/>
          <a:p>
            <a:pPr marL="0" indent="0">
              <a:buNone/>
            </a:pPr>
            <a:r>
              <a:rPr lang="en-US" sz="1600" b="1" dirty="0">
                <a:solidFill>
                  <a:srgbClr val="1F4E79"/>
                </a:solidFill>
              </a:rPr>
              <a:t>The RAG Solution</a:t>
            </a:r>
            <a:endParaRPr lang="en-US" sz="1600" dirty="0"/>
          </a:p>
        </p:txBody>
      </p:sp>
      <p:sp>
        <p:nvSpPr>
          <p:cNvPr id="13" name="Text 9"/>
          <p:cNvSpPr/>
          <p:nvPr/>
        </p:nvSpPr>
        <p:spPr>
          <a:xfrm>
            <a:off x="4937760" y="2011680"/>
            <a:ext cx="3657600" cy="2377440"/>
          </a:xfrm>
          <a:prstGeom prst="rect">
            <a:avLst/>
          </a:prstGeom>
          <a:noFill/>
          <a:ln/>
        </p:spPr>
        <p:txBody>
          <a:bodyPr wrap="square" rtlCol="0" anchor="ctr"/>
          <a:lstStyle/>
          <a:p>
            <a:pPr marL="0" indent="0">
              <a:buNone/>
            </a:pPr>
            <a:r>
              <a:rPr lang="en-US" sz="1200" dirty="0">
                <a:solidFill>
                  <a:srgbClr val="5D6D7E"/>
                </a:solidFill>
              </a:rPr>
              <a:t>The RAG system combines:</a:t>
            </a:r>
            <a:endParaRPr lang="en-US" sz="1200" dirty="0"/>
          </a:p>
          <a:p>
            <a:pPr marL="0" indent="0">
              <a:buNone/>
            </a:pPr>
            <a:r>
              <a:rPr lang="en-US" sz="1200" dirty="0">
                <a:solidFill>
                  <a:srgbClr val="5D6D7E"/>
                </a:solidFill>
              </a:rPr>
              <a:t> </a:t>
            </a:r>
            <a:endParaRPr lang="en-US" sz="1200" dirty="0"/>
          </a:p>
          <a:p>
            <a:pPr marL="342900" indent="-342900">
              <a:buSzPct val="100000"/>
              <a:buChar char="•"/>
            </a:pPr>
            <a:r>
              <a:rPr lang="en-US" sz="1200" dirty="0">
                <a:solidFill>
                  <a:srgbClr val="5D6D7E"/>
                </a:solidFill>
              </a:rPr>
              <a:t>Retrieval of relevant events from a vector knowledge base.</a:t>
            </a:r>
            <a:endParaRPr lang="en-US" sz="1200" dirty="0"/>
          </a:p>
          <a:p>
            <a:pPr marL="342900" indent="-342900">
              <a:buSzPct val="100000"/>
              <a:buChar char="•"/>
            </a:pPr>
            <a:r>
              <a:rPr lang="en-US" sz="1200" dirty="0">
                <a:solidFill>
                  <a:srgbClr val="5D6D7E"/>
                </a:solidFill>
              </a:rPr>
              <a:t>Generation of a French response grounded exclusively in that data.</a:t>
            </a:r>
            <a:endParaRPr lang="en-US" sz="1200" dirty="0"/>
          </a:p>
          <a:p>
            <a:pPr marL="0" indent="0">
              <a:buNone/>
            </a:pPr>
            <a:r>
              <a:rPr lang="en-US" sz="1200" dirty="0">
                <a:solidFill>
                  <a:srgbClr val="5D6D7E"/>
                </a:solidFill>
              </a:rPr>
              <a:t> </a:t>
            </a:r>
            <a:endParaRPr lang="en-US" sz="1200" dirty="0"/>
          </a:p>
          <a:p>
            <a:pPr marL="0" indent="0">
              <a:buNone/>
            </a:pPr>
            <a:r>
              <a:rPr lang="en-US" sz="1200" dirty="0">
                <a:solidFill>
                  <a:srgbClr val="5D6D7E"/>
                </a:solidFill>
              </a:rPr>
              <a:t>Zero hallucination. Always up-to-date data.</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F4E79"/>
          </a:solidFill>
          <a:ln/>
        </p:spPr>
      </p:sp>
      <p:sp>
        <p:nvSpPr>
          <p:cNvPr id="3" name="Text 1"/>
          <p:cNvSpPr/>
          <p:nvPr/>
        </p:nvSpPr>
        <p:spPr>
          <a:xfrm>
            <a:off x="365760" y="0"/>
            <a:ext cx="8412480" cy="914400"/>
          </a:xfrm>
          <a:prstGeom prst="rect">
            <a:avLst/>
          </a:prstGeom>
          <a:noFill/>
          <a:ln/>
        </p:spPr>
        <p:txBody>
          <a:bodyPr wrap="square" rtlCol="0" anchor="ctr"/>
          <a:lstStyle/>
          <a:p>
            <a:pPr marL="0" indent="0">
              <a:buNone/>
            </a:pPr>
            <a:r>
              <a:rPr lang="en-US" sz="2200" b="1" dirty="0">
                <a:solidFill>
                  <a:srgbClr val="FFFFFF"/>
                </a:solidFill>
              </a:rPr>
              <a:t>SYSTEM ARCHITECTURE</a:t>
            </a:r>
            <a:endParaRPr lang="en-US" sz="2200" dirty="0"/>
          </a:p>
        </p:txBody>
      </p:sp>
      <p:sp>
        <p:nvSpPr>
          <p:cNvPr id="4" name="Shape 2"/>
          <p:cNvSpPr/>
          <p:nvPr/>
        </p:nvSpPr>
        <p:spPr>
          <a:xfrm>
            <a:off x="274320" y="1097280"/>
            <a:ext cx="1463040" cy="1828800"/>
          </a:xfrm>
          <a:prstGeom prst="roundRect">
            <a:avLst>
              <a:gd name="adj" fmla="val 7500"/>
            </a:avLst>
          </a:prstGeom>
          <a:solidFill>
            <a:srgbClr val="1F4E79"/>
          </a:solidFill>
          <a:ln/>
        </p:spPr>
      </p:sp>
      <p:pic>
        <p:nvPicPr>
          <p:cNvPr id="5" name="Image 0" descr="preencoded.png"/>
          <p:cNvPicPr>
            <a:picLocks noChangeAspect="1"/>
          </p:cNvPicPr>
          <p:nvPr/>
        </p:nvPicPr>
        <p:blipFill>
          <a:blip r:embed="rId3"/>
          <a:stretch>
            <a:fillRect/>
          </a:stretch>
        </p:blipFill>
        <p:spPr>
          <a:xfrm>
            <a:off x="777240" y="1234440"/>
            <a:ext cx="457200" cy="457200"/>
          </a:xfrm>
          <a:prstGeom prst="rect">
            <a:avLst/>
          </a:prstGeom>
        </p:spPr>
      </p:pic>
      <p:sp>
        <p:nvSpPr>
          <p:cNvPr id="6" name="Text 3"/>
          <p:cNvSpPr/>
          <p:nvPr/>
        </p:nvSpPr>
        <p:spPr>
          <a:xfrm>
            <a:off x="274320" y="1783080"/>
            <a:ext cx="1463040" cy="411480"/>
          </a:xfrm>
          <a:prstGeom prst="rect">
            <a:avLst/>
          </a:prstGeom>
          <a:noFill/>
          <a:ln/>
        </p:spPr>
        <p:txBody>
          <a:bodyPr wrap="square" rtlCol="0" anchor="ctr"/>
          <a:lstStyle/>
          <a:p>
            <a:pPr marL="0" indent="0" algn="ctr">
              <a:buNone/>
            </a:pPr>
            <a:r>
              <a:rPr lang="en-US" sz="1100" b="1" dirty="0">
                <a:solidFill>
                  <a:srgbClr val="FFFFFF"/>
                </a:solidFill>
              </a:rPr>
              <a:t>Open Agenda</a:t>
            </a:r>
            <a:endParaRPr lang="en-US" sz="1100" dirty="0"/>
          </a:p>
        </p:txBody>
      </p:sp>
      <p:sp>
        <p:nvSpPr>
          <p:cNvPr id="7" name="Text 4"/>
          <p:cNvSpPr/>
          <p:nvPr/>
        </p:nvSpPr>
        <p:spPr>
          <a:xfrm>
            <a:off x="274320" y="2194560"/>
            <a:ext cx="1463040" cy="365760"/>
          </a:xfrm>
          <a:prstGeom prst="rect">
            <a:avLst/>
          </a:prstGeom>
          <a:noFill/>
          <a:ln/>
        </p:spPr>
        <p:txBody>
          <a:bodyPr wrap="square" rtlCol="0" anchor="ctr"/>
          <a:lstStyle/>
          <a:p>
            <a:pPr marL="0" indent="0" algn="ctr">
              <a:buNone/>
            </a:pPr>
            <a:r>
              <a:rPr lang="en-US" sz="1000" dirty="0">
                <a:solidFill>
                  <a:srgbClr val="CADCFC"/>
                </a:solidFill>
              </a:rPr>
              <a:t>9,651 events</a:t>
            </a:r>
            <a:endParaRPr lang="en-US" sz="1000" dirty="0"/>
          </a:p>
        </p:txBody>
      </p:sp>
      <p:sp>
        <p:nvSpPr>
          <p:cNvPr id="8" name="Shape 5"/>
          <p:cNvSpPr/>
          <p:nvPr/>
        </p:nvSpPr>
        <p:spPr>
          <a:xfrm>
            <a:off x="1783080" y="1874520"/>
            <a:ext cx="164592" cy="164592"/>
          </a:xfrm>
          <a:prstGeom prst="rect">
            <a:avLst/>
          </a:prstGeom>
          <a:solidFill>
            <a:srgbClr val="F39C12"/>
          </a:solidFill>
          <a:ln/>
        </p:spPr>
      </p:sp>
      <p:sp>
        <p:nvSpPr>
          <p:cNvPr id="9" name="Shape 6"/>
          <p:cNvSpPr/>
          <p:nvPr/>
        </p:nvSpPr>
        <p:spPr>
          <a:xfrm>
            <a:off x="1993392" y="1097280"/>
            <a:ext cx="1463040" cy="1828800"/>
          </a:xfrm>
          <a:prstGeom prst="roundRect">
            <a:avLst>
              <a:gd name="adj" fmla="val 7500"/>
            </a:avLst>
          </a:prstGeom>
          <a:solidFill>
            <a:srgbClr val="2E75B6"/>
          </a:solidFill>
          <a:ln/>
        </p:spPr>
      </p:sp>
      <p:pic>
        <p:nvPicPr>
          <p:cNvPr id="10" name="Image 1" descr="preencoded.png"/>
          <p:cNvPicPr>
            <a:picLocks noChangeAspect="1"/>
          </p:cNvPicPr>
          <p:nvPr/>
        </p:nvPicPr>
        <p:blipFill>
          <a:blip r:embed="rId4"/>
          <a:stretch>
            <a:fillRect/>
          </a:stretch>
        </p:blipFill>
        <p:spPr>
          <a:xfrm>
            <a:off x="2496312" y="1234440"/>
            <a:ext cx="457200" cy="457200"/>
          </a:xfrm>
          <a:prstGeom prst="rect">
            <a:avLst/>
          </a:prstGeom>
        </p:spPr>
      </p:pic>
      <p:sp>
        <p:nvSpPr>
          <p:cNvPr id="11" name="Text 7"/>
          <p:cNvSpPr/>
          <p:nvPr/>
        </p:nvSpPr>
        <p:spPr>
          <a:xfrm>
            <a:off x="1993392" y="1783080"/>
            <a:ext cx="1463040" cy="411480"/>
          </a:xfrm>
          <a:prstGeom prst="rect">
            <a:avLst/>
          </a:prstGeom>
          <a:noFill/>
          <a:ln/>
        </p:spPr>
        <p:txBody>
          <a:bodyPr wrap="square" rtlCol="0" anchor="ctr"/>
          <a:lstStyle/>
          <a:p>
            <a:pPr marL="0" indent="0" algn="ctr">
              <a:buNone/>
            </a:pPr>
            <a:r>
              <a:rPr lang="en-US" sz="1100" b="1" dirty="0">
                <a:solidFill>
                  <a:srgbClr val="FFFFFF"/>
                </a:solidFill>
              </a:rPr>
              <a:t>Cleaning</a:t>
            </a:r>
            <a:endParaRPr lang="en-US" sz="1100" dirty="0"/>
          </a:p>
        </p:txBody>
      </p:sp>
      <p:sp>
        <p:nvSpPr>
          <p:cNvPr id="12" name="Text 8"/>
          <p:cNvSpPr/>
          <p:nvPr/>
        </p:nvSpPr>
        <p:spPr>
          <a:xfrm>
            <a:off x="1993392" y="2194560"/>
            <a:ext cx="1463040" cy="365760"/>
          </a:xfrm>
          <a:prstGeom prst="rect">
            <a:avLst/>
          </a:prstGeom>
          <a:noFill/>
          <a:ln/>
        </p:spPr>
        <p:txBody>
          <a:bodyPr wrap="square" rtlCol="0" anchor="ctr"/>
          <a:lstStyle/>
          <a:p>
            <a:pPr marL="0" indent="0" algn="ctr">
              <a:buNone/>
            </a:pPr>
            <a:r>
              <a:rPr lang="en-US" sz="1000" dirty="0">
                <a:solidFill>
                  <a:srgbClr val="CADCFC"/>
                </a:solidFill>
              </a:rPr>
              <a:t>1,740 retained</a:t>
            </a:r>
            <a:endParaRPr lang="en-US" sz="1000" dirty="0"/>
          </a:p>
        </p:txBody>
      </p:sp>
      <p:sp>
        <p:nvSpPr>
          <p:cNvPr id="13" name="Shape 9"/>
          <p:cNvSpPr/>
          <p:nvPr/>
        </p:nvSpPr>
        <p:spPr>
          <a:xfrm>
            <a:off x="3502152" y="1874520"/>
            <a:ext cx="164592" cy="164592"/>
          </a:xfrm>
          <a:prstGeom prst="rect">
            <a:avLst/>
          </a:prstGeom>
          <a:solidFill>
            <a:srgbClr val="F39C12"/>
          </a:solidFill>
          <a:ln/>
        </p:spPr>
      </p:sp>
      <p:sp>
        <p:nvSpPr>
          <p:cNvPr id="14" name="Shape 10"/>
          <p:cNvSpPr/>
          <p:nvPr/>
        </p:nvSpPr>
        <p:spPr>
          <a:xfrm>
            <a:off x="3712464" y="1097280"/>
            <a:ext cx="1463040" cy="1828800"/>
          </a:xfrm>
          <a:prstGeom prst="roundRect">
            <a:avLst>
              <a:gd name="adj" fmla="val 7500"/>
            </a:avLst>
          </a:prstGeom>
          <a:solidFill>
            <a:srgbClr val="028090"/>
          </a:solidFill>
          <a:ln/>
        </p:spPr>
      </p:sp>
      <p:pic>
        <p:nvPicPr>
          <p:cNvPr id="15" name="Image 2" descr="preencoded.png"/>
          <p:cNvPicPr>
            <a:picLocks noChangeAspect="1"/>
          </p:cNvPicPr>
          <p:nvPr/>
        </p:nvPicPr>
        <p:blipFill>
          <a:blip r:embed="rId5"/>
          <a:stretch>
            <a:fillRect/>
          </a:stretch>
        </p:blipFill>
        <p:spPr>
          <a:xfrm>
            <a:off x="4215384" y="1234440"/>
            <a:ext cx="457200" cy="457200"/>
          </a:xfrm>
          <a:prstGeom prst="rect">
            <a:avLst/>
          </a:prstGeom>
        </p:spPr>
      </p:pic>
      <p:sp>
        <p:nvSpPr>
          <p:cNvPr id="16" name="Text 11"/>
          <p:cNvSpPr/>
          <p:nvPr/>
        </p:nvSpPr>
        <p:spPr>
          <a:xfrm>
            <a:off x="3712464" y="1783080"/>
            <a:ext cx="1463040" cy="411480"/>
          </a:xfrm>
          <a:prstGeom prst="rect">
            <a:avLst/>
          </a:prstGeom>
          <a:noFill/>
          <a:ln/>
        </p:spPr>
        <p:txBody>
          <a:bodyPr wrap="square" rtlCol="0" anchor="ctr"/>
          <a:lstStyle/>
          <a:p>
            <a:pPr marL="0" indent="0" algn="ctr">
              <a:buNone/>
            </a:pPr>
            <a:r>
              <a:rPr lang="en-US" sz="1100" b="1" dirty="0">
                <a:solidFill>
                  <a:srgbClr val="FFFFFF"/>
                </a:solidFill>
              </a:rPr>
              <a:t>Embedding</a:t>
            </a:r>
            <a:endParaRPr lang="en-US" sz="1100" dirty="0"/>
          </a:p>
        </p:txBody>
      </p:sp>
      <p:sp>
        <p:nvSpPr>
          <p:cNvPr id="17" name="Text 12"/>
          <p:cNvSpPr/>
          <p:nvPr/>
        </p:nvSpPr>
        <p:spPr>
          <a:xfrm>
            <a:off x="3712464" y="2194560"/>
            <a:ext cx="1463040" cy="365760"/>
          </a:xfrm>
          <a:prstGeom prst="rect">
            <a:avLst/>
          </a:prstGeom>
          <a:noFill/>
          <a:ln/>
        </p:spPr>
        <p:txBody>
          <a:bodyPr wrap="square" rtlCol="0" anchor="ctr"/>
          <a:lstStyle/>
          <a:p>
            <a:pPr marL="0" indent="0" algn="ctr">
              <a:buNone/>
            </a:pPr>
            <a:r>
              <a:rPr lang="en-US" sz="1000" dirty="0">
                <a:solidFill>
                  <a:srgbClr val="CADCFC"/>
                </a:solidFill>
              </a:rPr>
              <a:t>mistral-embed</a:t>
            </a:r>
            <a:endParaRPr lang="en-US" sz="1000" dirty="0"/>
          </a:p>
        </p:txBody>
      </p:sp>
      <p:sp>
        <p:nvSpPr>
          <p:cNvPr id="18" name="Shape 13"/>
          <p:cNvSpPr/>
          <p:nvPr/>
        </p:nvSpPr>
        <p:spPr>
          <a:xfrm>
            <a:off x="5221224" y="1874520"/>
            <a:ext cx="164592" cy="164592"/>
          </a:xfrm>
          <a:prstGeom prst="rect">
            <a:avLst/>
          </a:prstGeom>
          <a:solidFill>
            <a:srgbClr val="F39C12"/>
          </a:solidFill>
          <a:ln/>
        </p:spPr>
      </p:sp>
      <p:sp>
        <p:nvSpPr>
          <p:cNvPr id="19" name="Shape 14"/>
          <p:cNvSpPr/>
          <p:nvPr/>
        </p:nvSpPr>
        <p:spPr>
          <a:xfrm>
            <a:off x="5431536" y="1097280"/>
            <a:ext cx="1463040" cy="1828800"/>
          </a:xfrm>
          <a:prstGeom prst="roundRect">
            <a:avLst>
              <a:gd name="adj" fmla="val 7500"/>
            </a:avLst>
          </a:prstGeom>
          <a:solidFill>
            <a:srgbClr val="1F4E79"/>
          </a:solidFill>
          <a:ln/>
        </p:spPr>
      </p:sp>
      <p:pic>
        <p:nvPicPr>
          <p:cNvPr id="20" name="Image 3" descr="preencoded.png"/>
          <p:cNvPicPr>
            <a:picLocks noChangeAspect="1"/>
          </p:cNvPicPr>
          <p:nvPr/>
        </p:nvPicPr>
        <p:blipFill>
          <a:blip r:embed="rId6"/>
          <a:stretch>
            <a:fillRect/>
          </a:stretch>
        </p:blipFill>
        <p:spPr>
          <a:xfrm>
            <a:off x="5934456" y="1234440"/>
            <a:ext cx="457200" cy="457200"/>
          </a:xfrm>
          <a:prstGeom prst="rect">
            <a:avLst/>
          </a:prstGeom>
        </p:spPr>
      </p:pic>
      <p:sp>
        <p:nvSpPr>
          <p:cNvPr id="21" name="Text 15"/>
          <p:cNvSpPr/>
          <p:nvPr/>
        </p:nvSpPr>
        <p:spPr>
          <a:xfrm>
            <a:off x="5431536" y="1783080"/>
            <a:ext cx="1463040" cy="411480"/>
          </a:xfrm>
          <a:prstGeom prst="rect">
            <a:avLst/>
          </a:prstGeom>
          <a:noFill/>
          <a:ln/>
        </p:spPr>
        <p:txBody>
          <a:bodyPr wrap="square" rtlCol="0" anchor="ctr"/>
          <a:lstStyle/>
          <a:p>
            <a:pPr marL="0" indent="0" algn="ctr">
              <a:buNone/>
            </a:pPr>
            <a:r>
              <a:rPr lang="en-US" sz="1100" b="1" dirty="0">
                <a:solidFill>
                  <a:srgbClr val="FFFFFF"/>
                </a:solidFill>
              </a:rPr>
              <a:t>FAISS Index</a:t>
            </a:r>
            <a:endParaRPr lang="en-US" sz="1100" dirty="0"/>
          </a:p>
        </p:txBody>
      </p:sp>
      <p:sp>
        <p:nvSpPr>
          <p:cNvPr id="22" name="Text 16"/>
          <p:cNvSpPr/>
          <p:nvPr/>
        </p:nvSpPr>
        <p:spPr>
          <a:xfrm>
            <a:off x="5431536" y="2194560"/>
            <a:ext cx="1463040" cy="365760"/>
          </a:xfrm>
          <a:prstGeom prst="rect">
            <a:avLst/>
          </a:prstGeom>
          <a:noFill/>
          <a:ln/>
        </p:spPr>
        <p:txBody>
          <a:bodyPr wrap="square" rtlCol="0" anchor="ctr"/>
          <a:lstStyle/>
          <a:p>
            <a:pPr marL="0" indent="0" algn="ctr">
              <a:buNone/>
            </a:pPr>
            <a:r>
              <a:rPr lang="en-US" sz="1000" dirty="0">
                <a:solidFill>
                  <a:srgbClr val="CADCFC"/>
                </a:solidFill>
              </a:rPr>
              <a:t>1,024 dims</a:t>
            </a:r>
            <a:endParaRPr lang="en-US" sz="1000" dirty="0"/>
          </a:p>
        </p:txBody>
      </p:sp>
      <p:sp>
        <p:nvSpPr>
          <p:cNvPr id="23" name="Shape 17"/>
          <p:cNvSpPr/>
          <p:nvPr/>
        </p:nvSpPr>
        <p:spPr>
          <a:xfrm>
            <a:off x="6940296" y="1874520"/>
            <a:ext cx="164592" cy="164592"/>
          </a:xfrm>
          <a:prstGeom prst="rect">
            <a:avLst/>
          </a:prstGeom>
          <a:solidFill>
            <a:srgbClr val="F39C12"/>
          </a:solidFill>
          <a:ln/>
        </p:spPr>
      </p:sp>
      <p:sp>
        <p:nvSpPr>
          <p:cNvPr id="24" name="Shape 18"/>
          <p:cNvSpPr/>
          <p:nvPr/>
        </p:nvSpPr>
        <p:spPr>
          <a:xfrm>
            <a:off x="7150608" y="1097280"/>
            <a:ext cx="1463040" cy="1828800"/>
          </a:xfrm>
          <a:prstGeom prst="roundRect">
            <a:avLst>
              <a:gd name="adj" fmla="val 7500"/>
            </a:avLst>
          </a:prstGeom>
          <a:solidFill>
            <a:srgbClr val="2E75B6"/>
          </a:solidFill>
          <a:ln/>
        </p:spPr>
      </p:sp>
      <p:pic>
        <p:nvPicPr>
          <p:cNvPr id="25" name="Image 4" descr="preencoded.png"/>
          <p:cNvPicPr>
            <a:picLocks noChangeAspect="1"/>
          </p:cNvPicPr>
          <p:nvPr/>
        </p:nvPicPr>
        <p:blipFill>
          <a:blip r:embed="rId7"/>
          <a:stretch>
            <a:fillRect/>
          </a:stretch>
        </p:blipFill>
        <p:spPr>
          <a:xfrm>
            <a:off x="7653528" y="1234440"/>
            <a:ext cx="457200" cy="457200"/>
          </a:xfrm>
          <a:prstGeom prst="rect">
            <a:avLst/>
          </a:prstGeom>
        </p:spPr>
      </p:pic>
      <p:sp>
        <p:nvSpPr>
          <p:cNvPr id="26" name="Text 19"/>
          <p:cNvSpPr/>
          <p:nvPr/>
        </p:nvSpPr>
        <p:spPr>
          <a:xfrm>
            <a:off x="7150608" y="1783080"/>
            <a:ext cx="1463040" cy="411480"/>
          </a:xfrm>
          <a:prstGeom prst="rect">
            <a:avLst/>
          </a:prstGeom>
          <a:noFill/>
          <a:ln/>
        </p:spPr>
        <p:txBody>
          <a:bodyPr wrap="square" rtlCol="0" anchor="ctr"/>
          <a:lstStyle/>
          <a:p>
            <a:pPr marL="0" indent="0" algn="ctr">
              <a:buNone/>
            </a:pPr>
            <a:r>
              <a:rPr lang="en-US" sz="1100" b="1" dirty="0">
                <a:solidFill>
                  <a:srgbClr val="FFFFFF"/>
                </a:solidFill>
              </a:rPr>
              <a:t>Mistral LLM</a:t>
            </a:r>
            <a:endParaRPr lang="en-US" sz="1100" dirty="0"/>
          </a:p>
        </p:txBody>
      </p:sp>
      <p:sp>
        <p:nvSpPr>
          <p:cNvPr id="27" name="Text 20"/>
          <p:cNvSpPr/>
          <p:nvPr/>
        </p:nvSpPr>
        <p:spPr>
          <a:xfrm>
            <a:off x="7150608" y="2194560"/>
            <a:ext cx="1463040" cy="365760"/>
          </a:xfrm>
          <a:prstGeom prst="rect">
            <a:avLst/>
          </a:prstGeom>
          <a:noFill/>
          <a:ln/>
        </p:spPr>
        <p:txBody>
          <a:bodyPr wrap="square" rtlCol="0" anchor="ctr"/>
          <a:lstStyle/>
          <a:p>
            <a:pPr marL="0" indent="0" algn="ctr">
              <a:buNone/>
            </a:pPr>
            <a:r>
              <a:rPr lang="en-US" sz="1000" dirty="0">
                <a:solidFill>
                  <a:srgbClr val="CADCFC"/>
                </a:solidFill>
              </a:rPr>
              <a:t>Generation</a:t>
            </a:r>
            <a:endParaRPr lang="en-US" sz="1000" dirty="0"/>
          </a:p>
        </p:txBody>
      </p:sp>
      <p:sp>
        <p:nvSpPr>
          <p:cNvPr id="28" name="Shape 21"/>
          <p:cNvSpPr/>
          <p:nvPr/>
        </p:nvSpPr>
        <p:spPr>
          <a:xfrm>
            <a:off x="274320" y="3200400"/>
            <a:ext cx="8595360" cy="1600200"/>
          </a:xfrm>
          <a:prstGeom prst="rect">
            <a:avLst/>
          </a:prstGeom>
          <a:solidFill>
            <a:srgbClr val="F2F6FA"/>
          </a:solidFill>
          <a:ln/>
          <a:effectLst>
            <a:outerShdw blurRad="101600" dist="38100" dir="2700000" algn="bl" rotWithShape="0">
              <a:srgbClr val="000000">
                <a:alpha val="12000"/>
              </a:srgbClr>
            </a:outerShdw>
          </a:effectLst>
        </p:spPr>
      </p:sp>
      <p:sp>
        <p:nvSpPr>
          <p:cNvPr id="29" name="Text 22"/>
          <p:cNvSpPr/>
          <p:nvPr/>
        </p:nvSpPr>
        <p:spPr>
          <a:xfrm>
            <a:off x="457200" y="3291840"/>
            <a:ext cx="8229600" cy="365760"/>
          </a:xfrm>
          <a:prstGeom prst="rect">
            <a:avLst/>
          </a:prstGeom>
          <a:noFill/>
          <a:ln/>
        </p:spPr>
        <p:txBody>
          <a:bodyPr wrap="square" rtlCol="0" anchor="ctr"/>
          <a:lstStyle/>
          <a:p>
            <a:pPr marL="0" indent="0">
              <a:buNone/>
            </a:pPr>
            <a:r>
              <a:rPr lang="en-US" sz="1100" b="1" kern="0" spc="200" dirty="0">
                <a:solidFill>
                  <a:srgbClr val="1F4E79"/>
                </a:solidFill>
              </a:rPr>
              <a:t>REAL-TIME INFERENCE FLOW</a:t>
            </a:r>
            <a:endParaRPr lang="en-US" sz="1100" dirty="0"/>
          </a:p>
        </p:txBody>
      </p:sp>
      <p:sp>
        <p:nvSpPr>
          <p:cNvPr id="30" name="Shape 23"/>
          <p:cNvSpPr/>
          <p:nvPr/>
        </p:nvSpPr>
        <p:spPr>
          <a:xfrm>
            <a:off x="411480" y="3703320"/>
            <a:ext cx="1325880" cy="914400"/>
          </a:xfrm>
          <a:prstGeom prst="roundRect">
            <a:avLst>
              <a:gd name="adj" fmla="val 8000"/>
            </a:avLst>
          </a:prstGeom>
          <a:solidFill>
            <a:srgbClr val="FFFFFF"/>
          </a:solidFill>
          <a:ln/>
          <a:effectLst>
            <a:outerShdw blurRad="101600" dist="38100" dir="2700000" algn="bl" rotWithShape="0">
              <a:srgbClr val="000000">
                <a:alpha val="12000"/>
              </a:srgbClr>
            </a:outerShdw>
          </a:effectLst>
        </p:spPr>
      </p:sp>
      <p:sp>
        <p:nvSpPr>
          <p:cNvPr id="31" name="Text 24"/>
          <p:cNvSpPr/>
          <p:nvPr/>
        </p:nvSpPr>
        <p:spPr>
          <a:xfrm>
            <a:off x="411480" y="3730752"/>
            <a:ext cx="1325880" cy="320040"/>
          </a:xfrm>
          <a:prstGeom prst="rect">
            <a:avLst/>
          </a:prstGeom>
          <a:noFill/>
          <a:ln/>
        </p:spPr>
        <p:txBody>
          <a:bodyPr wrap="square" rtlCol="0" anchor="ctr"/>
          <a:lstStyle/>
          <a:p>
            <a:pPr marL="0" indent="0" algn="ctr">
              <a:buNone/>
            </a:pPr>
            <a:r>
              <a:rPr lang="en-US" sz="1400" b="1" dirty="0">
                <a:solidFill>
                  <a:srgbClr val="2E75B6"/>
                </a:solidFill>
              </a:rPr>
              <a:t>1</a:t>
            </a:r>
            <a:endParaRPr lang="en-US" sz="1400" dirty="0"/>
          </a:p>
        </p:txBody>
      </p:sp>
      <p:sp>
        <p:nvSpPr>
          <p:cNvPr id="32" name="Text 25"/>
          <p:cNvSpPr/>
          <p:nvPr/>
        </p:nvSpPr>
        <p:spPr>
          <a:xfrm>
            <a:off x="411480" y="4069080"/>
            <a:ext cx="1325880" cy="502920"/>
          </a:xfrm>
          <a:prstGeom prst="rect">
            <a:avLst/>
          </a:prstGeom>
          <a:noFill/>
          <a:ln/>
        </p:spPr>
        <p:txBody>
          <a:bodyPr wrap="square" rtlCol="0" anchor="ctr"/>
          <a:lstStyle/>
          <a:p>
            <a:pPr marL="0" indent="0" algn="ctr">
              <a:buNone/>
            </a:pPr>
            <a:r>
              <a:rPr lang="en-US" sz="900" dirty="0">
                <a:solidFill>
                  <a:srgbClr val="5D6D7E"/>
                </a:solidFill>
              </a:rPr>
              <a:t>User query</a:t>
            </a:r>
            <a:endParaRPr lang="en-US" sz="900" dirty="0"/>
          </a:p>
        </p:txBody>
      </p:sp>
      <p:sp>
        <p:nvSpPr>
          <p:cNvPr id="33" name="Shape 26"/>
          <p:cNvSpPr/>
          <p:nvPr/>
        </p:nvSpPr>
        <p:spPr>
          <a:xfrm>
            <a:off x="1847088" y="3703320"/>
            <a:ext cx="1325880" cy="914400"/>
          </a:xfrm>
          <a:prstGeom prst="roundRect">
            <a:avLst>
              <a:gd name="adj" fmla="val 8000"/>
            </a:avLst>
          </a:prstGeom>
          <a:solidFill>
            <a:srgbClr val="FFFFFF"/>
          </a:solidFill>
          <a:ln/>
          <a:effectLst>
            <a:outerShdw blurRad="101600" dist="38100" dir="2700000" algn="bl" rotWithShape="0">
              <a:srgbClr val="000000">
                <a:alpha val="12000"/>
              </a:srgbClr>
            </a:outerShdw>
          </a:effectLst>
        </p:spPr>
      </p:sp>
      <p:sp>
        <p:nvSpPr>
          <p:cNvPr id="34" name="Text 27"/>
          <p:cNvSpPr/>
          <p:nvPr/>
        </p:nvSpPr>
        <p:spPr>
          <a:xfrm>
            <a:off x="1847088" y="3730752"/>
            <a:ext cx="1325880" cy="320040"/>
          </a:xfrm>
          <a:prstGeom prst="rect">
            <a:avLst/>
          </a:prstGeom>
          <a:noFill/>
          <a:ln/>
        </p:spPr>
        <p:txBody>
          <a:bodyPr wrap="square" rtlCol="0" anchor="ctr"/>
          <a:lstStyle/>
          <a:p>
            <a:pPr marL="0" indent="0" algn="ctr">
              <a:buNone/>
            </a:pPr>
            <a:r>
              <a:rPr lang="en-US" sz="1400" b="1" dirty="0">
                <a:solidFill>
                  <a:srgbClr val="2E75B6"/>
                </a:solidFill>
              </a:rPr>
              <a:t>2</a:t>
            </a:r>
            <a:endParaRPr lang="en-US" sz="1400" dirty="0"/>
          </a:p>
        </p:txBody>
      </p:sp>
      <p:sp>
        <p:nvSpPr>
          <p:cNvPr id="35" name="Text 28"/>
          <p:cNvSpPr/>
          <p:nvPr/>
        </p:nvSpPr>
        <p:spPr>
          <a:xfrm>
            <a:off x="1847088" y="4069080"/>
            <a:ext cx="1325880" cy="502920"/>
          </a:xfrm>
          <a:prstGeom prst="rect">
            <a:avLst/>
          </a:prstGeom>
          <a:noFill/>
          <a:ln/>
        </p:spPr>
        <p:txBody>
          <a:bodyPr wrap="square" rtlCol="0" anchor="ctr"/>
          <a:lstStyle/>
          <a:p>
            <a:pPr marL="0" indent="0" algn="ctr">
              <a:buNone/>
            </a:pPr>
            <a:r>
              <a:rPr lang="en-US" sz="900" dirty="0">
                <a:solidFill>
                  <a:srgbClr val="5D6D7E"/>
                </a:solidFill>
              </a:rPr>
              <a:t>Embed query</a:t>
            </a:r>
            <a:endParaRPr lang="en-US" sz="900" dirty="0"/>
          </a:p>
        </p:txBody>
      </p:sp>
      <p:sp>
        <p:nvSpPr>
          <p:cNvPr id="36" name="Shape 29"/>
          <p:cNvSpPr/>
          <p:nvPr/>
        </p:nvSpPr>
        <p:spPr>
          <a:xfrm>
            <a:off x="3282696" y="3703320"/>
            <a:ext cx="1325880" cy="914400"/>
          </a:xfrm>
          <a:prstGeom prst="roundRect">
            <a:avLst>
              <a:gd name="adj" fmla="val 8000"/>
            </a:avLst>
          </a:prstGeom>
          <a:solidFill>
            <a:srgbClr val="FFFFFF"/>
          </a:solidFill>
          <a:ln/>
          <a:effectLst>
            <a:outerShdw blurRad="101600" dist="38100" dir="2700000" algn="bl" rotWithShape="0">
              <a:srgbClr val="000000">
                <a:alpha val="12000"/>
              </a:srgbClr>
            </a:outerShdw>
          </a:effectLst>
        </p:spPr>
      </p:sp>
      <p:sp>
        <p:nvSpPr>
          <p:cNvPr id="37" name="Text 30"/>
          <p:cNvSpPr/>
          <p:nvPr/>
        </p:nvSpPr>
        <p:spPr>
          <a:xfrm>
            <a:off x="3282696" y="3730752"/>
            <a:ext cx="1325880" cy="320040"/>
          </a:xfrm>
          <a:prstGeom prst="rect">
            <a:avLst/>
          </a:prstGeom>
          <a:noFill/>
          <a:ln/>
        </p:spPr>
        <p:txBody>
          <a:bodyPr wrap="square" rtlCol="0" anchor="ctr"/>
          <a:lstStyle/>
          <a:p>
            <a:pPr marL="0" indent="0" algn="ctr">
              <a:buNone/>
            </a:pPr>
            <a:r>
              <a:rPr lang="en-US" sz="1400" b="1" dirty="0">
                <a:solidFill>
                  <a:srgbClr val="2E75B6"/>
                </a:solidFill>
              </a:rPr>
              <a:t>3</a:t>
            </a:r>
            <a:endParaRPr lang="en-US" sz="1400" dirty="0"/>
          </a:p>
        </p:txBody>
      </p:sp>
      <p:sp>
        <p:nvSpPr>
          <p:cNvPr id="38" name="Text 31"/>
          <p:cNvSpPr/>
          <p:nvPr/>
        </p:nvSpPr>
        <p:spPr>
          <a:xfrm>
            <a:off x="3282696" y="4069080"/>
            <a:ext cx="1325880" cy="502920"/>
          </a:xfrm>
          <a:prstGeom prst="rect">
            <a:avLst/>
          </a:prstGeom>
          <a:noFill/>
          <a:ln/>
        </p:spPr>
        <p:txBody>
          <a:bodyPr wrap="square" rtlCol="0" anchor="ctr"/>
          <a:lstStyle/>
          <a:p>
            <a:pPr marL="0" indent="0" algn="ctr">
              <a:buNone/>
            </a:pPr>
            <a:r>
              <a:rPr lang="en-US" sz="900" dirty="0">
                <a:solidFill>
                  <a:srgbClr val="5D6D7E"/>
                </a:solidFill>
              </a:rPr>
              <a:t>FAISS search (top 5)</a:t>
            </a:r>
            <a:endParaRPr lang="en-US" sz="900" dirty="0"/>
          </a:p>
        </p:txBody>
      </p:sp>
      <p:sp>
        <p:nvSpPr>
          <p:cNvPr id="39" name="Shape 32"/>
          <p:cNvSpPr/>
          <p:nvPr/>
        </p:nvSpPr>
        <p:spPr>
          <a:xfrm>
            <a:off x="4718304" y="3703320"/>
            <a:ext cx="1325880" cy="914400"/>
          </a:xfrm>
          <a:prstGeom prst="roundRect">
            <a:avLst>
              <a:gd name="adj" fmla="val 8000"/>
            </a:avLst>
          </a:prstGeom>
          <a:solidFill>
            <a:srgbClr val="FFFFFF"/>
          </a:solidFill>
          <a:ln/>
          <a:effectLst>
            <a:outerShdw blurRad="101600" dist="38100" dir="2700000" algn="bl" rotWithShape="0">
              <a:srgbClr val="000000">
                <a:alpha val="12000"/>
              </a:srgbClr>
            </a:outerShdw>
          </a:effectLst>
        </p:spPr>
      </p:sp>
      <p:sp>
        <p:nvSpPr>
          <p:cNvPr id="40" name="Text 33"/>
          <p:cNvSpPr/>
          <p:nvPr/>
        </p:nvSpPr>
        <p:spPr>
          <a:xfrm>
            <a:off x="4718304" y="3730752"/>
            <a:ext cx="1325880" cy="320040"/>
          </a:xfrm>
          <a:prstGeom prst="rect">
            <a:avLst/>
          </a:prstGeom>
          <a:noFill/>
          <a:ln/>
        </p:spPr>
        <p:txBody>
          <a:bodyPr wrap="square" rtlCol="0" anchor="ctr"/>
          <a:lstStyle/>
          <a:p>
            <a:pPr marL="0" indent="0" algn="ctr">
              <a:buNone/>
            </a:pPr>
            <a:r>
              <a:rPr lang="en-US" sz="1400" b="1" dirty="0">
                <a:solidFill>
                  <a:srgbClr val="2E75B6"/>
                </a:solidFill>
              </a:rPr>
              <a:t>4</a:t>
            </a:r>
            <a:endParaRPr lang="en-US" sz="1400" dirty="0"/>
          </a:p>
        </p:txBody>
      </p:sp>
      <p:sp>
        <p:nvSpPr>
          <p:cNvPr id="41" name="Text 34"/>
          <p:cNvSpPr/>
          <p:nvPr/>
        </p:nvSpPr>
        <p:spPr>
          <a:xfrm>
            <a:off x="4718304" y="4069080"/>
            <a:ext cx="1325880" cy="502920"/>
          </a:xfrm>
          <a:prstGeom prst="rect">
            <a:avLst/>
          </a:prstGeom>
          <a:noFill/>
          <a:ln/>
        </p:spPr>
        <p:txBody>
          <a:bodyPr wrap="square" rtlCol="0" anchor="ctr"/>
          <a:lstStyle/>
          <a:p>
            <a:pPr marL="0" indent="0" algn="ctr">
              <a:buNone/>
            </a:pPr>
            <a:r>
              <a:rPr lang="en-US" sz="900" dirty="0">
                <a:solidFill>
                  <a:srgbClr val="5D6D7E"/>
                </a:solidFill>
              </a:rPr>
              <a:t>Inject context</a:t>
            </a:r>
            <a:endParaRPr lang="en-US" sz="900" dirty="0"/>
          </a:p>
        </p:txBody>
      </p:sp>
      <p:sp>
        <p:nvSpPr>
          <p:cNvPr id="42" name="Shape 35"/>
          <p:cNvSpPr/>
          <p:nvPr/>
        </p:nvSpPr>
        <p:spPr>
          <a:xfrm>
            <a:off x="6153912" y="3703320"/>
            <a:ext cx="1325880" cy="914400"/>
          </a:xfrm>
          <a:prstGeom prst="roundRect">
            <a:avLst>
              <a:gd name="adj" fmla="val 8000"/>
            </a:avLst>
          </a:prstGeom>
          <a:solidFill>
            <a:srgbClr val="FFFFFF"/>
          </a:solidFill>
          <a:ln/>
          <a:effectLst>
            <a:outerShdw blurRad="101600" dist="38100" dir="2700000" algn="bl" rotWithShape="0">
              <a:srgbClr val="000000">
                <a:alpha val="12000"/>
              </a:srgbClr>
            </a:outerShdw>
          </a:effectLst>
        </p:spPr>
      </p:sp>
      <p:sp>
        <p:nvSpPr>
          <p:cNvPr id="43" name="Text 36"/>
          <p:cNvSpPr/>
          <p:nvPr/>
        </p:nvSpPr>
        <p:spPr>
          <a:xfrm>
            <a:off x="6153912" y="3730752"/>
            <a:ext cx="1325880" cy="320040"/>
          </a:xfrm>
          <a:prstGeom prst="rect">
            <a:avLst/>
          </a:prstGeom>
          <a:noFill/>
          <a:ln/>
        </p:spPr>
        <p:txBody>
          <a:bodyPr wrap="square" rtlCol="0" anchor="ctr"/>
          <a:lstStyle/>
          <a:p>
            <a:pPr marL="0" indent="0" algn="ctr">
              <a:buNone/>
            </a:pPr>
            <a:r>
              <a:rPr lang="en-US" sz="1400" b="1" dirty="0">
                <a:solidFill>
                  <a:srgbClr val="2E75B6"/>
                </a:solidFill>
              </a:rPr>
              <a:t>5</a:t>
            </a:r>
            <a:endParaRPr lang="en-US" sz="1400" dirty="0"/>
          </a:p>
        </p:txBody>
      </p:sp>
      <p:sp>
        <p:nvSpPr>
          <p:cNvPr id="44" name="Text 37"/>
          <p:cNvSpPr/>
          <p:nvPr/>
        </p:nvSpPr>
        <p:spPr>
          <a:xfrm>
            <a:off x="6153912" y="4069080"/>
            <a:ext cx="1325880" cy="502920"/>
          </a:xfrm>
          <a:prstGeom prst="rect">
            <a:avLst/>
          </a:prstGeom>
          <a:noFill/>
          <a:ln/>
        </p:spPr>
        <p:txBody>
          <a:bodyPr wrap="square" rtlCol="0" anchor="ctr"/>
          <a:lstStyle/>
          <a:p>
            <a:pPr marL="0" indent="0" algn="ctr">
              <a:buNone/>
            </a:pPr>
            <a:r>
              <a:rPr lang="en-US" sz="900" dirty="0">
                <a:solidFill>
                  <a:srgbClr val="5D6D7E"/>
                </a:solidFill>
              </a:rPr>
              <a:t>Mistral response</a:t>
            </a:r>
            <a:endParaRPr lang="en-US" sz="900" dirty="0"/>
          </a:p>
        </p:txBody>
      </p:sp>
      <p:sp>
        <p:nvSpPr>
          <p:cNvPr id="45" name="Shape 38"/>
          <p:cNvSpPr/>
          <p:nvPr/>
        </p:nvSpPr>
        <p:spPr>
          <a:xfrm>
            <a:off x="7589520" y="3703320"/>
            <a:ext cx="1325880" cy="914400"/>
          </a:xfrm>
          <a:prstGeom prst="roundRect">
            <a:avLst>
              <a:gd name="adj" fmla="val 8000"/>
            </a:avLst>
          </a:prstGeom>
          <a:solidFill>
            <a:srgbClr val="FFFFFF"/>
          </a:solidFill>
          <a:ln/>
          <a:effectLst>
            <a:outerShdw blurRad="101600" dist="38100" dir="2700000" algn="bl" rotWithShape="0">
              <a:srgbClr val="000000">
                <a:alpha val="12000"/>
              </a:srgbClr>
            </a:outerShdw>
          </a:effectLst>
        </p:spPr>
      </p:sp>
      <p:sp>
        <p:nvSpPr>
          <p:cNvPr id="46" name="Text 39"/>
          <p:cNvSpPr/>
          <p:nvPr/>
        </p:nvSpPr>
        <p:spPr>
          <a:xfrm>
            <a:off x="7589520" y="3730752"/>
            <a:ext cx="1325880" cy="320040"/>
          </a:xfrm>
          <a:prstGeom prst="rect">
            <a:avLst/>
          </a:prstGeom>
          <a:noFill/>
          <a:ln/>
        </p:spPr>
        <p:txBody>
          <a:bodyPr wrap="square" rtlCol="0" anchor="ctr"/>
          <a:lstStyle/>
          <a:p>
            <a:pPr marL="0" indent="0" algn="ctr">
              <a:buNone/>
            </a:pPr>
            <a:r>
              <a:rPr lang="en-US" sz="1400" b="1" dirty="0">
                <a:solidFill>
                  <a:srgbClr val="2E75B6"/>
                </a:solidFill>
              </a:rPr>
              <a:t>6</a:t>
            </a:r>
            <a:endParaRPr lang="en-US" sz="1400" dirty="0"/>
          </a:p>
        </p:txBody>
      </p:sp>
      <p:sp>
        <p:nvSpPr>
          <p:cNvPr id="47" name="Text 40"/>
          <p:cNvSpPr/>
          <p:nvPr/>
        </p:nvSpPr>
        <p:spPr>
          <a:xfrm>
            <a:off x="7589520" y="4069080"/>
            <a:ext cx="1325880" cy="502920"/>
          </a:xfrm>
          <a:prstGeom prst="rect">
            <a:avLst/>
          </a:prstGeom>
          <a:noFill/>
          <a:ln/>
        </p:spPr>
        <p:txBody>
          <a:bodyPr wrap="square" rtlCol="0" anchor="ctr"/>
          <a:lstStyle/>
          <a:p>
            <a:pPr marL="0" indent="0" algn="ctr">
              <a:buNone/>
            </a:pPr>
            <a:r>
              <a:rPr lang="en-US" sz="900" dirty="0">
                <a:solidFill>
                  <a:srgbClr val="5D6D7E"/>
                </a:solidFill>
              </a:rPr>
              <a:t>Display + sources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F4E79"/>
          </a:solidFill>
          <a:ln/>
        </p:spPr>
      </p:sp>
      <p:sp>
        <p:nvSpPr>
          <p:cNvPr id="3" name="Text 1"/>
          <p:cNvSpPr/>
          <p:nvPr/>
        </p:nvSpPr>
        <p:spPr>
          <a:xfrm>
            <a:off x="365760" y="0"/>
            <a:ext cx="8412480" cy="914400"/>
          </a:xfrm>
          <a:prstGeom prst="rect">
            <a:avLst/>
          </a:prstGeom>
          <a:noFill/>
          <a:ln/>
        </p:spPr>
        <p:txBody>
          <a:bodyPr wrap="square" rtlCol="0" anchor="ctr"/>
          <a:lstStyle/>
          <a:p>
            <a:pPr marL="0" indent="0">
              <a:buNone/>
            </a:pPr>
            <a:r>
              <a:rPr lang="en-US" sz="2200" b="1" dirty="0">
                <a:solidFill>
                  <a:srgbClr val="FFFFFF"/>
                </a:solidFill>
              </a:rPr>
              <a:t>DATA SOURCE  |  OPEN AGENDA PARIS</a:t>
            </a:r>
            <a:endParaRPr lang="en-US" sz="2200" dirty="0"/>
          </a:p>
        </p:txBody>
      </p:sp>
      <p:sp>
        <p:nvSpPr>
          <p:cNvPr id="4" name="Shape 2"/>
          <p:cNvSpPr/>
          <p:nvPr/>
        </p:nvSpPr>
        <p:spPr>
          <a:xfrm>
            <a:off x="274320" y="1051560"/>
            <a:ext cx="1965960" cy="1463040"/>
          </a:xfrm>
          <a:prstGeom prst="roundRect">
            <a:avLst>
              <a:gd name="adj" fmla="val 7500"/>
            </a:avLst>
          </a:prstGeom>
          <a:solidFill>
            <a:srgbClr val="1F4E79"/>
          </a:solidFill>
          <a:ln/>
        </p:spPr>
      </p:sp>
      <p:sp>
        <p:nvSpPr>
          <p:cNvPr id="5" name="Text 3"/>
          <p:cNvSpPr/>
          <p:nvPr/>
        </p:nvSpPr>
        <p:spPr>
          <a:xfrm>
            <a:off x="274320" y="1143000"/>
            <a:ext cx="1965960" cy="731520"/>
          </a:xfrm>
          <a:prstGeom prst="rect">
            <a:avLst/>
          </a:prstGeom>
          <a:noFill/>
          <a:ln/>
        </p:spPr>
        <p:txBody>
          <a:bodyPr wrap="square" rtlCol="0" anchor="ctr"/>
          <a:lstStyle/>
          <a:p>
            <a:pPr marL="0" indent="0" algn="ctr">
              <a:buNone/>
            </a:pPr>
            <a:r>
              <a:rPr lang="en-US" sz="3000" b="1" dirty="0">
                <a:solidFill>
                  <a:srgbClr val="FFFFFF"/>
                </a:solidFill>
                <a:latin typeface="Cambria" pitchFamily="34" charset="0"/>
                <a:ea typeface="Cambria" pitchFamily="34" charset="-122"/>
                <a:cs typeface="Cambria" pitchFamily="34" charset="-120"/>
              </a:rPr>
              <a:t>9,651</a:t>
            </a:r>
            <a:endParaRPr lang="en-US" sz="3000" dirty="0"/>
          </a:p>
        </p:txBody>
      </p:sp>
      <p:sp>
        <p:nvSpPr>
          <p:cNvPr id="6" name="Text 4"/>
          <p:cNvSpPr/>
          <p:nvPr/>
        </p:nvSpPr>
        <p:spPr>
          <a:xfrm>
            <a:off x="274320" y="1920240"/>
            <a:ext cx="1965960" cy="457200"/>
          </a:xfrm>
          <a:prstGeom prst="rect">
            <a:avLst/>
          </a:prstGeom>
          <a:noFill/>
          <a:ln/>
        </p:spPr>
        <p:txBody>
          <a:bodyPr wrap="square" rtlCol="0" anchor="ctr"/>
          <a:lstStyle/>
          <a:p>
            <a:pPr marL="0" indent="0" algn="ctr">
              <a:buNone/>
            </a:pPr>
            <a:r>
              <a:rPr lang="en-US" sz="1000" dirty="0">
                <a:solidFill>
                  <a:srgbClr val="CADCFC"/>
                </a:solidFill>
              </a:rPr>
              <a:t>events available</a:t>
            </a:r>
            <a:endParaRPr lang="en-US" sz="1000" dirty="0"/>
          </a:p>
        </p:txBody>
      </p:sp>
      <p:sp>
        <p:nvSpPr>
          <p:cNvPr id="7" name="Shape 5"/>
          <p:cNvSpPr/>
          <p:nvPr/>
        </p:nvSpPr>
        <p:spPr>
          <a:xfrm>
            <a:off x="2450592" y="1051560"/>
            <a:ext cx="1965960" cy="1463040"/>
          </a:xfrm>
          <a:prstGeom prst="roundRect">
            <a:avLst>
              <a:gd name="adj" fmla="val 7500"/>
            </a:avLst>
          </a:prstGeom>
          <a:solidFill>
            <a:srgbClr val="2E75B6"/>
          </a:solidFill>
          <a:ln/>
        </p:spPr>
      </p:sp>
      <p:sp>
        <p:nvSpPr>
          <p:cNvPr id="8" name="Text 6"/>
          <p:cNvSpPr/>
          <p:nvPr/>
        </p:nvSpPr>
        <p:spPr>
          <a:xfrm>
            <a:off x="2450592" y="1143000"/>
            <a:ext cx="1965960" cy="731520"/>
          </a:xfrm>
          <a:prstGeom prst="rect">
            <a:avLst/>
          </a:prstGeom>
          <a:noFill/>
          <a:ln/>
        </p:spPr>
        <p:txBody>
          <a:bodyPr wrap="square" rtlCol="0" anchor="ctr"/>
          <a:lstStyle/>
          <a:p>
            <a:pPr marL="0" indent="0" algn="ctr">
              <a:buNone/>
            </a:pPr>
            <a:r>
              <a:rPr lang="en-US" sz="3000" b="1" dirty="0">
                <a:solidFill>
                  <a:srgbClr val="FFFFFF"/>
                </a:solidFill>
                <a:latin typeface="Cambria" pitchFamily="34" charset="0"/>
                <a:ea typeface="Cambria" pitchFamily="34" charset="-122"/>
                <a:cs typeface="Cambria" pitchFamily="34" charset="-120"/>
              </a:rPr>
              <a:t>1,740</a:t>
            </a:r>
            <a:endParaRPr lang="en-US" sz="3000" dirty="0"/>
          </a:p>
        </p:txBody>
      </p:sp>
      <p:sp>
        <p:nvSpPr>
          <p:cNvPr id="9" name="Text 7"/>
          <p:cNvSpPr/>
          <p:nvPr/>
        </p:nvSpPr>
        <p:spPr>
          <a:xfrm>
            <a:off x="2450592" y="1920240"/>
            <a:ext cx="1965960" cy="457200"/>
          </a:xfrm>
          <a:prstGeom prst="rect">
            <a:avLst/>
          </a:prstGeom>
          <a:noFill/>
          <a:ln/>
        </p:spPr>
        <p:txBody>
          <a:bodyPr wrap="square" rtlCol="0" anchor="ctr"/>
          <a:lstStyle/>
          <a:p>
            <a:pPr marL="0" indent="0" algn="ctr">
              <a:buNone/>
            </a:pPr>
            <a:r>
              <a:rPr lang="en-US" sz="1000" dirty="0">
                <a:solidFill>
                  <a:srgbClr val="CADCFC"/>
                </a:solidFill>
              </a:rPr>
              <a:t>retained (12 months)</a:t>
            </a:r>
            <a:endParaRPr lang="en-US" sz="1000" dirty="0"/>
          </a:p>
        </p:txBody>
      </p:sp>
      <p:sp>
        <p:nvSpPr>
          <p:cNvPr id="10" name="Shape 8"/>
          <p:cNvSpPr/>
          <p:nvPr/>
        </p:nvSpPr>
        <p:spPr>
          <a:xfrm>
            <a:off x="4626864" y="1051560"/>
            <a:ext cx="1965960" cy="1463040"/>
          </a:xfrm>
          <a:prstGeom prst="roundRect">
            <a:avLst>
              <a:gd name="adj" fmla="val 7500"/>
            </a:avLst>
          </a:prstGeom>
          <a:solidFill>
            <a:srgbClr val="028090"/>
          </a:solidFill>
          <a:ln/>
        </p:spPr>
      </p:sp>
      <p:sp>
        <p:nvSpPr>
          <p:cNvPr id="11" name="Text 9"/>
          <p:cNvSpPr/>
          <p:nvPr/>
        </p:nvSpPr>
        <p:spPr>
          <a:xfrm>
            <a:off x="4626864" y="1143000"/>
            <a:ext cx="1965960" cy="731520"/>
          </a:xfrm>
          <a:prstGeom prst="rect">
            <a:avLst/>
          </a:prstGeom>
          <a:noFill/>
          <a:ln/>
        </p:spPr>
        <p:txBody>
          <a:bodyPr wrap="square" rtlCol="0" anchor="ctr"/>
          <a:lstStyle/>
          <a:p>
            <a:pPr marL="0" indent="0" algn="ctr">
              <a:buNone/>
            </a:pPr>
            <a:r>
              <a:rPr lang="en-US" sz="3000" b="1" dirty="0">
                <a:solidFill>
                  <a:srgbClr val="FFFFFF"/>
                </a:solidFill>
                <a:latin typeface="Cambria" pitchFamily="34" charset="0"/>
                <a:ea typeface="Cambria" pitchFamily="34" charset="-122"/>
                <a:cs typeface="Cambria" pitchFamily="34" charset="-120"/>
              </a:rPr>
              <a:t>97</a:t>
            </a:r>
            <a:endParaRPr lang="en-US" sz="3000" dirty="0"/>
          </a:p>
        </p:txBody>
      </p:sp>
      <p:sp>
        <p:nvSpPr>
          <p:cNvPr id="12" name="Text 10"/>
          <p:cNvSpPr/>
          <p:nvPr/>
        </p:nvSpPr>
        <p:spPr>
          <a:xfrm>
            <a:off x="4626864" y="1920240"/>
            <a:ext cx="1965960" cy="457200"/>
          </a:xfrm>
          <a:prstGeom prst="rect">
            <a:avLst/>
          </a:prstGeom>
          <a:noFill/>
          <a:ln/>
        </p:spPr>
        <p:txBody>
          <a:bodyPr wrap="square" rtlCol="0" anchor="ctr"/>
          <a:lstStyle/>
          <a:p>
            <a:pPr marL="0" indent="0" algn="ctr">
              <a:buNone/>
            </a:pPr>
            <a:r>
              <a:rPr lang="en-US" sz="1000" dirty="0">
                <a:solidFill>
                  <a:srgbClr val="CADCFC"/>
                </a:solidFill>
              </a:rPr>
              <a:t>API pages fetched</a:t>
            </a:r>
            <a:endParaRPr lang="en-US" sz="1000" dirty="0"/>
          </a:p>
        </p:txBody>
      </p:sp>
      <p:sp>
        <p:nvSpPr>
          <p:cNvPr id="13" name="Shape 11"/>
          <p:cNvSpPr/>
          <p:nvPr/>
        </p:nvSpPr>
        <p:spPr>
          <a:xfrm>
            <a:off x="6803136" y="1051560"/>
            <a:ext cx="1965960" cy="1463040"/>
          </a:xfrm>
          <a:prstGeom prst="roundRect">
            <a:avLst>
              <a:gd name="adj" fmla="val 7500"/>
            </a:avLst>
          </a:prstGeom>
          <a:solidFill>
            <a:srgbClr val="1F4E79"/>
          </a:solidFill>
          <a:ln/>
        </p:spPr>
      </p:sp>
      <p:sp>
        <p:nvSpPr>
          <p:cNvPr id="14" name="Text 12"/>
          <p:cNvSpPr/>
          <p:nvPr/>
        </p:nvSpPr>
        <p:spPr>
          <a:xfrm>
            <a:off x="6803136" y="1143000"/>
            <a:ext cx="1965960" cy="731520"/>
          </a:xfrm>
          <a:prstGeom prst="rect">
            <a:avLst/>
          </a:prstGeom>
          <a:noFill/>
          <a:ln/>
        </p:spPr>
        <p:txBody>
          <a:bodyPr wrap="square" rtlCol="0" anchor="ctr"/>
          <a:lstStyle/>
          <a:p>
            <a:pPr marL="0" indent="0" algn="ctr">
              <a:buNone/>
            </a:pPr>
            <a:r>
              <a:rPr lang="en-US" sz="3000" b="1" dirty="0">
                <a:solidFill>
                  <a:srgbClr val="FFFFFF"/>
                </a:solidFill>
                <a:latin typeface="Cambria" pitchFamily="34" charset="0"/>
                <a:ea typeface="Cambria" pitchFamily="34" charset="-122"/>
                <a:cs typeface="Cambria" pitchFamily="34" charset="-120"/>
              </a:rPr>
              <a:t>13</a:t>
            </a:r>
            <a:endParaRPr lang="en-US" sz="3000" dirty="0"/>
          </a:p>
        </p:txBody>
      </p:sp>
      <p:sp>
        <p:nvSpPr>
          <p:cNvPr id="15" name="Text 13"/>
          <p:cNvSpPr/>
          <p:nvPr/>
        </p:nvSpPr>
        <p:spPr>
          <a:xfrm>
            <a:off x="6803136" y="1920240"/>
            <a:ext cx="1965960" cy="457200"/>
          </a:xfrm>
          <a:prstGeom prst="rect">
            <a:avLst/>
          </a:prstGeom>
          <a:noFill/>
          <a:ln/>
        </p:spPr>
        <p:txBody>
          <a:bodyPr wrap="square" rtlCol="0" anchor="ctr"/>
          <a:lstStyle/>
          <a:p>
            <a:pPr marL="0" indent="0" algn="ctr">
              <a:buNone/>
            </a:pPr>
            <a:r>
              <a:rPr lang="en-US" sz="1000" dirty="0">
                <a:solidFill>
                  <a:srgbClr val="CADCFC"/>
                </a:solidFill>
              </a:rPr>
              <a:t>fields selected</a:t>
            </a:r>
            <a:endParaRPr lang="en-US" sz="1000" dirty="0"/>
          </a:p>
        </p:txBody>
      </p:sp>
      <p:sp>
        <p:nvSpPr>
          <p:cNvPr id="16" name="Text 14"/>
          <p:cNvSpPr/>
          <p:nvPr/>
        </p:nvSpPr>
        <p:spPr>
          <a:xfrm>
            <a:off x="365760" y="2743200"/>
            <a:ext cx="4023360" cy="365760"/>
          </a:xfrm>
          <a:prstGeom prst="rect">
            <a:avLst/>
          </a:prstGeom>
          <a:noFill/>
          <a:ln/>
        </p:spPr>
        <p:txBody>
          <a:bodyPr wrap="square" rtlCol="0" anchor="ctr"/>
          <a:lstStyle/>
          <a:p>
            <a:pPr marL="0" indent="0">
              <a:buNone/>
            </a:pPr>
            <a:r>
              <a:rPr lang="en-US" sz="1300" b="1" dirty="0">
                <a:solidFill>
                  <a:srgbClr val="1F4E79"/>
                </a:solidFill>
              </a:rPr>
              <a:t>Why Open Agenda?</a:t>
            </a:r>
            <a:endParaRPr lang="en-US" sz="1300" dirty="0"/>
          </a:p>
        </p:txBody>
      </p:sp>
      <p:sp>
        <p:nvSpPr>
          <p:cNvPr id="17" name="Text 15"/>
          <p:cNvSpPr/>
          <p:nvPr/>
        </p:nvSpPr>
        <p:spPr>
          <a:xfrm>
            <a:off x="365760" y="3154680"/>
            <a:ext cx="4023360" cy="1737360"/>
          </a:xfrm>
          <a:prstGeom prst="rect">
            <a:avLst/>
          </a:prstGeom>
          <a:noFill/>
          <a:ln/>
        </p:spPr>
        <p:txBody>
          <a:bodyPr wrap="square" rtlCol="0" anchor="ctr"/>
          <a:lstStyle/>
          <a:p>
            <a:pPr marL="342900" indent="-342900">
              <a:buSzPct val="100000"/>
              <a:buChar char="•"/>
            </a:pPr>
            <a:r>
              <a:rPr lang="en-US" sz="1200" dirty="0">
                <a:solidFill>
                  <a:srgbClr val="5D6D7E"/>
                </a:solidFill>
              </a:rPr>
              <a:t>Live data via native API v2</a:t>
            </a:r>
            <a:endParaRPr lang="en-US" sz="1200" dirty="0"/>
          </a:p>
          <a:p>
            <a:pPr marL="342900" indent="-342900">
              <a:buSzPct val="100000"/>
              <a:buChar char="•"/>
            </a:pPr>
            <a:r>
              <a:rPr lang="en-US" sz="1200" dirty="0">
                <a:solidFill>
                  <a:srgbClr val="5D6D7E"/>
                </a:solidFill>
              </a:rPr>
              <a:t>Deciding for Paris agenda (UID 82290100)</a:t>
            </a:r>
            <a:endParaRPr lang="en-US" sz="1200" dirty="0"/>
          </a:p>
          <a:p>
            <a:pPr marL="342900" indent="-342900">
              <a:buSzPct val="100000"/>
              <a:buChar char="•"/>
            </a:pPr>
            <a:r>
              <a:rPr lang="en-US" sz="1200" dirty="0">
                <a:solidFill>
                  <a:srgbClr val="5D6D7E"/>
                </a:solidFill>
              </a:rPr>
              <a:t>OpenDataSoft export rejected: 2021 data</a:t>
            </a:r>
            <a:endParaRPr lang="en-US" sz="1200" dirty="0"/>
          </a:p>
          <a:p>
            <a:pPr marL="342900" indent="-342900">
              <a:buSzPct val="100000"/>
              <a:buChar char="•"/>
            </a:pPr>
            <a:r>
              <a:rPr lang="en-US" sz="1200" dirty="0">
                <a:solidFill>
                  <a:srgbClr val="5D6D7E"/>
                </a:solidFill>
              </a:rPr>
              <a:t>Cursor-based pagination over 12-month window</a:t>
            </a:r>
            <a:endParaRPr lang="en-US" sz="1200" dirty="0"/>
          </a:p>
        </p:txBody>
      </p:sp>
      <p:sp>
        <p:nvSpPr>
          <p:cNvPr id="18" name="Text 16"/>
          <p:cNvSpPr/>
          <p:nvPr/>
        </p:nvSpPr>
        <p:spPr>
          <a:xfrm>
            <a:off x="4754880" y="2743200"/>
            <a:ext cx="4023360" cy="365760"/>
          </a:xfrm>
          <a:prstGeom prst="rect">
            <a:avLst/>
          </a:prstGeom>
          <a:noFill/>
          <a:ln/>
        </p:spPr>
        <p:txBody>
          <a:bodyPr wrap="square" rtlCol="0" anchor="ctr"/>
          <a:lstStyle/>
          <a:p>
            <a:pPr marL="0" indent="0">
              <a:buNone/>
            </a:pPr>
            <a:r>
              <a:rPr lang="en-US" sz="1300" b="1" dirty="0">
                <a:solidFill>
                  <a:srgbClr val="1F4E79"/>
                </a:solidFill>
              </a:rPr>
              <a:t>Data Quality</a:t>
            </a:r>
            <a:endParaRPr lang="en-US" sz="1300" dirty="0"/>
          </a:p>
        </p:txBody>
      </p:sp>
      <p:sp>
        <p:nvSpPr>
          <p:cNvPr id="19" name="Text 17"/>
          <p:cNvSpPr/>
          <p:nvPr/>
        </p:nvSpPr>
        <p:spPr>
          <a:xfrm>
            <a:off x="4754880" y="3154680"/>
            <a:ext cx="4023360" cy="1737360"/>
          </a:xfrm>
          <a:prstGeom prst="rect">
            <a:avLst/>
          </a:prstGeom>
          <a:noFill/>
          <a:ln/>
        </p:spPr>
        <p:txBody>
          <a:bodyPr wrap="square" rtlCol="0" anchor="ctr"/>
          <a:lstStyle/>
          <a:p>
            <a:pPr marL="342900" indent="-342900">
              <a:buSzPct val="100000"/>
              <a:buChar char="•"/>
            </a:pPr>
            <a:r>
              <a:rPr lang="en-US" sz="1200" dirty="0">
                <a:solidFill>
                  <a:srgbClr val="5D6D7E"/>
                </a:solidFill>
              </a:rPr>
              <a:t>description.fr: 0% null values</a:t>
            </a:r>
            <a:endParaRPr lang="en-US" sz="1200" dirty="0"/>
          </a:p>
          <a:p>
            <a:pPr marL="342900" indent="-342900">
              <a:buSzPct val="100000"/>
              <a:buChar char="•"/>
            </a:pPr>
            <a:r>
              <a:rPr lang="en-US" sz="1200" dirty="0">
                <a:solidFill>
                  <a:srgbClr val="5D6D7E"/>
                </a:solidFill>
              </a:rPr>
              <a:t>keywords.fr: 89% null, excluded from pipeline</a:t>
            </a:r>
            <a:endParaRPr lang="en-US" sz="1200" dirty="0"/>
          </a:p>
          <a:p>
            <a:pPr marL="342900" indent="-342900">
              <a:buSzPct val="100000"/>
              <a:buChar char="•"/>
            </a:pPr>
            <a:r>
              <a:rPr lang="en-US" sz="1200" dirty="0">
                <a:solidFill>
                  <a:srgbClr val="5D6D7E"/>
                </a:solidFill>
              </a:rPr>
              <a:t>Dates stored as Unix milliseconds, not ISO 8601</a:t>
            </a:r>
            <a:endParaRPr lang="en-US" sz="1200" dirty="0"/>
          </a:p>
          <a:p>
            <a:pPr marL="342900" indent="-342900">
              <a:buSzPct val="100000"/>
              <a:buChar char="•"/>
            </a:pPr>
            <a:r>
              <a:rPr lang="en-US" sz="1200" dirty="0">
                <a:solidFill>
                  <a:srgbClr val="5D6D7E"/>
                </a:solidFill>
              </a:rPr>
              <a:t>Postal codes corrected in city field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F4E79"/>
          </a:solidFill>
          <a:ln/>
        </p:spPr>
      </p:sp>
      <p:sp>
        <p:nvSpPr>
          <p:cNvPr id="3" name="Text 1"/>
          <p:cNvSpPr/>
          <p:nvPr/>
        </p:nvSpPr>
        <p:spPr>
          <a:xfrm>
            <a:off x="365760" y="0"/>
            <a:ext cx="8412480" cy="914400"/>
          </a:xfrm>
          <a:prstGeom prst="rect">
            <a:avLst/>
          </a:prstGeom>
          <a:noFill/>
          <a:ln/>
        </p:spPr>
        <p:txBody>
          <a:bodyPr wrap="square" rtlCol="0" anchor="ctr"/>
          <a:lstStyle/>
          <a:p>
            <a:pPr marL="0" indent="0">
              <a:buNone/>
            </a:pPr>
            <a:r>
              <a:rPr lang="en-US" sz="2200" b="1" dirty="0">
                <a:solidFill>
                  <a:srgbClr val="FFFFFF"/>
                </a:solidFill>
              </a:rPr>
              <a:t>AUTOMATED PIPELINE</a:t>
            </a:r>
            <a:endParaRPr lang="en-US" sz="2200" dirty="0"/>
          </a:p>
        </p:txBody>
      </p:sp>
      <p:sp>
        <p:nvSpPr>
          <p:cNvPr id="4" name="Shape 2"/>
          <p:cNvSpPr/>
          <p:nvPr/>
        </p:nvSpPr>
        <p:spPr>
          <a:xfrm>
            <a:off x="274320" y="1051560"/>
            <a:ext cx="4206240" cy="1097280"/>
          </a:xfrm>
          <a:prstGeom prst="roundRect">
            <a:avLst>
              <a:gd name="adj" fmla="val 8333"/>
            </a:avLst>
          </a:prstGeom>
          <a:solidFill>
            <a:srgbClr val="F2F6FA"/>
          </a:solidFill>
          <a:ln/>
          <a:effectLst>
            <a:outerShdw blurRad="101600" dist="38100" dir="2700000" algn="bl" rotWithShape="0">
              <a:srgbClr val="000000">
                <a:alpha val="12000"/>
              </a:srgbClr>
            </a:outerShdw>
          </a:effectLst>
        </p:spPr>
      </p:sp>
      <p:sp>
        <p:nvSpPr>
          <p:cNvPr id="5" name="Shape 3"/>
          <p:cNvSpPr/>
          <p:nvPr/>
        </p:nvSpPr>
        <p:spPr>
          <a:xfrm>
            <a:off x="365760" y="1143000"/>
            <a:ext cx="502920" cy="822960"/>
          </a:xfrm>
          <a:prstGeom prst="roundRect">
            <a:avLst>
              <a:gd name="adj" fmla="val 10909"/>
            </a:avLst>
          </a:prstGeom>
          <a:solidFill>
            <a:srgbClr val="1F4E79"/>
          </a:solidFill>
          <a:ln/>
        </p:spPr>
      </p:sp>
      <p:sp>
        <p:nvSpPr>
          <p:cNvPr id="6" name="Text 4"/>
          <p:cNvSpPr/>
          <p:nvPr/>
        </p:nvSpPr>
        <p:spPr>
          <a:xfrm>
            <a:off x="365760" y="1143000"/>
            <a:ext cx="502920" cy="822960"/>
          </a:xfrm>
          <a:prstGeom prst="rect">
            <a:avLst/>
          </a:prstGeom>
          <a:noFill/>
          <a:ln/>
        </p:spPr>
        <p:txBody>
          <a:bodyPr wrap="square" lIns="0" tIns="0" rIns="0" bIns="0" rtlCol="0" anchor="ctr"/>
          <a:lstStyle/>
          <a:p>
            <a:pPr marL="0" indent="0" algn="ctr">
              <a:buNone/>
            </a:pPr>
            <a:r>
              <a:rPr lang="en-US" sz="1800" b="1" dirty="0">
                <a:solidFill>
                  <a:srgbClr val="FFFFFF"/>
                </a:solidFill>
              </a:rPr>
              <a:t>01</a:t>
            </a:r>
            <a:endParaRPr lang="en-US" sz="1800" dirty="0"/>
          </a:p>
        </p:txBody>
      </p:sp>
      <p:sp>
        <p:nvSpPr>
          <p:cNvPr id="7" name="Text 5"/>
          <p:cNvSpPr/>
          <p:nvPr/>
        </p:nvSpPr>
        <p:spPr>
          <a:xfrm>
            <a:off x="960120" y="1143000"/>
            <a:ext cx="3429000" cy="365760"/>
          </a:xfrm>
          <a:prstGeom prst="rect">
            <a:avLst/>
          </a:prstGeom>
          <a:noFill/>
          <a:ln/>
        </p:spPr>
        <p:txBody>
          <a:bodyPr wrap="square" rtlCol="0" anchor="ctr"/>
          <a:lstStyle/>
          <a:p>
            <a:pPr marL="0" indent="0">
              <a:buNone/>
            </a:pPr>
            <a:r>
              <a:rPr lang="en-US" sz="1200" b="1" dirty="0">
                <a:solidFill>
                  <a:srgbClr val="1F4E79"/>
                </a:solidFill>
              </a:rPr>
              <a:t>01_fetch.sh</a:t>
            </a:r>
            <a:endParaRPr lang="en-US" sz="1200" dirty="0"/>
          </a:p>
        </p:txBody>
      </p:sp>
      <p:sp>
        <p:nvSpPr>
          <p:cNvPr id="8" name="Text 6"/>
          <p:cNvSpPr/>
          <p:nvPr/>
        </p:nvSpPr>
        <p:spPr>
          <a:xfrm>
            <a:off x="960120" y="1527048"/>
            <a:ext cx="3429000" cy="548640"/>
          </a:xfrm>
          <a:prstGeom prst="rect">
            <a:avLst/>
          </a:prstGeom>
          <a:noFill/>
          <a:ln/>
        </p:spPr>
        <p:txBody>
          <a:bodyPr wrap="square" rtlCol="0" anchor="ctr"/>
          <a:lstStyle/>
          <a:p>
            <a:pPr marL="0" indent="0">
              <a:buNone/>
            </a:pPr>
            <a:r>
              <a:rPr lang="en-US" sz="1000" dirty="0">
                <a:solidFill>
                  <a:srgbClr val="5D6D7E"/>
                </a:solidFill>
              </a:rPr>
              <a:t>Fetch events from Open Agenda API with cursor-based pagination</a:t>
            </a:r>
            <a:endParaRPr lang="en-US" sz="1000" dirty="0"/>
          </a:p>
        </p:txBody>
      </p:sp>
      <p:sp>
        <p:nvSpPr>
          <p:cNvPr id="9" name="Shape 7"/>
          <p:cNvSpPr/>
          <p:nvPr/>
        </p:nvSpPr>
        <p:spPr>
          <a:xfrm>
            <a:off x="4754880" y="1051560"/>
            <a:ext cx="4206240" cy="1097280"/>
          </a:xfrm>
          <a:prstGeom prst="roundRect">
            <a:avLst>
              <a:gd name="adj" fmla="val 8333"/>
            </a:avLst>
          </a:prstGeom>
          <a:solidFill>
            <a:srgbClr val="F2F6FA"/>
          </a:solidFill>
          <a:ln/>
          <a:effectLst>
            <a:outerShdw blurRad="101600" dist="38100" dir="2700000" algn="bl" rotWithShape="0">
              <a:srgbClr val="000000">
                <a:alpha val="12000"/>
              </a:srgbClr>
            </a:outerShdw>
          </a:effectLst>
        </p:spPr>
      </p:sp>
      <p:sp>
        <p:nvSpPr>
          <p:cNvPr id="10" name="Shape 8"/>
          <p:cNvSpPr/>
          <p:nvPr/>
        </p:nvSpPr>
        <p:spPr>
          <a:xfrm>
            <a:off x="4846320" y="1143000"/>
            <a:ext cx="502920" cy="822960"/>
          </a:xfrm>
          <a:prstGeom prst="roundRect">
            <a:avLst>
              <a:gd name="adj" fmla="val 10909"/>
            </a:avLst>
          </a:prstGeom>
          <a:solidFill>
            <a:srgbClr val="2E75B6"/>
          </a:solidFill>
          <a:ln/>
        </p:spPr>
      </p:sp>
      <p:sp>
        <p:nvSpPr>
          <p:cNvPr id="11" name="Text 9"/>
          <p:cNvSpPr/>
          <p:nvPr/>
        </p:nvSpPr>
        <p:spPr>
          <a:xfrm>
            <a:off x="4846320" y="1143000"/>
            <a:ext cx="502920" cy="822960"/>
          </a:xfrm>
          <a:prstGeom prst="rect">
            <a:avLst/>
          </a:prstGeom>
          <a:noFill/>
          <a:ln/>
        </p:spPr>
        <p:txBody>
          <a:bodyPr wrap="square" lIns="0" tIns="0" rIns="0" bIns="0" rtlCol="0" anchor="ctr"/>
          <a:lstStyle/>
          <a:p>
            <a:pPr marL="0" indent="0" algn="ctr">
              <a:buNone/>
            </a:pPr>
            <a:r>
              <a:rPr lang="en-US" sz="1800" b="1" dirty="0">
                <a:solidFill>
                  <a:srgbClr val="FFFFFF"/>
                </a:solidFill>
              </a:rPr>
              <a:t>02</a:t>
            </a:r>
            <a:endParaRPr lang="en-US" sz="1800" dirty="0"/>
          </a:p>
        </p:txBody>
      </p:sp>
      <p:sp>
        <p:nvSpPr>
          <p:cNvPr id="12" name="Text 10"/>
          <p:cNvSpPr/>
          <p:nvPr/>
        </p:nvSpPr>
        <p:spPr>
          <a:xfrm>
            <a:off x="5440680" y="1143000"/>
            <a:ext cx="3429000" cy="365760"/>
          </a:xfrm>
          <a:prstGeom prst="rect">
            <a:avLst/>
          </a:prstGeom>
          <a:noFill/>
          <a:ln/>
        </p:spPr>
        <p:txBody>
          <a:bodyPr wrap="square" rtlCol="0" anchor="ctr"/>
          <a:lstStyle/>
          <a:p>
            <a:pPr marL="0" indent="0">
              <a:buNone/>
            </a:pPr>
            <a:r>
              <a:rPr lang="en-US" sz="1200" b="1" dirty="0">
                <a:solidFill>
                  <a:srgbClr val="1F4E79"/>
                </a:solidFill>
              </a:rPr>
              <a:t>02_embed.sh</a:t>
            </a:r>
            <a:endParaRPr lang="en-US" sz="1200" dirty="0"/>
          </a:p>
        </p:txBody>
      </p:sp>
      <p:sp>
        <p:nvSpPr>
          <p:cNvPr id="13" name="Text 11"/>
          <p:cNvSpPr/>
          <p:nvPr/>
        </p:nvSpPr>
        <p:spPr>
          <a:xfrm>
            <a:off x="5440680" y="1527048"/>
            <a:ext cx="3429000" cy="548640"/>
          </a:xfrm>
          <a:prstGeom prst="rect">
            <a:avLst/>
          </a:prstGeom>
          <a:noFill/>
          <a:ln/>
        </p:spPr>
        <p:txBody>
          <a:bodyPr wrap="square" rtlCol="0" anchor="ctr"/>
          <a:lstStyle/>
          <a:p>
            <a:pPr marL="0" indent="0">
              <a:buNone/>
            </a:pPr>
            <a:r>
              <a:rPr lang="en-US" sz="1000" dirty="0">
                <a:solidFill>
                  <a:srgbClr val="5D6D7E"/>
                </a:solidFill>
              </a:rPr>
              <a:t>Enriched chunking and embedding via mistral-embed (batch=5, sleep=3s)</a:t>
            </a:r>
            <a:endParaRPr lang="en-US" sz="1000" dirty="0"/>
          </a:p>
        </p:txBody>
      </p:sp>
      <p:sp>
        <p:nvSpPr>
          <p:cNvPr id="14" name="Shape 12"/>
          <p:cNvSpPr/>
          <p:nvPr/>
        </p:nvSpPr>
        <p:spPr>
          <a:xfrm>
            <a:off x="274320" y="2313432"/>
            <a:ext cx="4206240" cy="1097280"/>
          </a:xfrm>
          <a:prstGeom prst="roundRect">
            <a:avLst>
              <a:gd name="adj" fmla="val 8333"/>
            </a:avLst>
          </a:prstGeom>
          <a:solidFill>
            <a:srgbClr val="F2F6FA"/>
          </a:solidFill>
          <a:ln/>
          <a:effectLst>
            <a:outerShdw blurRad="101600" dist="38100" dir="2700000" algn="bl" rotWithShape="0">
              <a:srgbClr val="000000">
                <a:alpha val="12000"/>
              </a:srgbClr>
            </a:outerShdw>
          </a:effectLst>
        </p:spPr>
      </p:sp>
      <p:sp>
        <p:nvSpPr>
          <p:cNvPr id="15" name="Shape 13"/>
          <p:cNvSpPr/>
          <p:nvPr/>
        </p:nvSpPr>
        <p:spPr>
          <a:xfrm>
            <a:off x="365760" y="2404872"/>
            <a:ext cx="502920" cy="822960"/>
          </a:xfrm>
          <a:prstGeom prst="roundRect">
            <a:avLst>
              <a:gd name="adj" fmla="val 10909"/>
            </a:avLst>
          </a:prstGeom>
          <a:solidFill>
            <a:srgbClr val="028090"/>
          </a:solidFill>
          <a:ln/>
        </p:spPr>
      </p:sp>
      <p:sp>
        <p:nvSpPr>
          <p:cNvPr id="16" name="Text 14"/>
          <p:cNvSpPr/>
          <p:nvPr/>
        </p:nvSpPr>
        <p:spPr>
          <a:xfrm>
            <a:off x="365760" y="2404872"/>
            <a:ext cx="502920" cy="822960"/>
          </a:xfrm>
          <a:prstGeom prst="rect">
            <a:avLst/>
          </a:prstGeom>
          <a:noFill/>
          <a:ln/>
        </p:spPr>
        <p:txBody>
          <a:bodyPr wrap="square" lIns="0" tIns="0" rIns="0" bIns="0" rtlCol="0" anchor="ctr"/>
          <a:lstStyle/>
          <a:p>
            <a:pPr marL="0" indent="0" algn="ctr">
              <a:buNone/>
            </a:pPr>
            <a:r>
              <a:rPr lang="en-US" sz="1800" b="1" dirty="0">
                <a:solidFill>
                  <a:srgbClr val="FFFFFF"/>
                </a:solidFill>
              </a:rPr>
              <a:t>03</a:t>
            </a:r>
            <a:endParaRPr lang="en-US" sz="1800" dirty="0"/>
          </a:p>
        </p:txBody>
      </p:sp>
      <p:sp>
        <p:nvSpPr>
          <p:cNvPr id="17" name="Text 15"/>
          <p:cNvSpPr/>
          <p:nvPr/>
        </p:nvSpPr>
        <p:spPr>
          <a:xfrm>
            <a:off x="960120" y="2404872"/>
            <a:ext cx="3429000" cy="365760"/>
          </a:xfrm>
          <a:prstGeom prst="rect">
            <a:avLst/>
          </a:prstGeom>
          <a:noFill/>
          <a:ln/>
        </p:spPr>
        <p:txBody>
          <a:bodyPr wrap="square" rtlCol="0" anchor="ctr"/>
          <a:lstStyle/>
          <a:p>
            <a:pPr marL="0" indent="0">
              <a:buNone/>
            </a:pPr>
            <a:r>
              <a:rPr lang="en-US" sz="1200" b="1" dirty="0">
                <a:solidFill>
                  <a:srgbClr val="1F4E79"/>
                </a:solidFill>
              </a:rPr>
              <a:t>03_index.sh</a:t>
            </a:r>
            <a:endParaRPr lang="en-US" sz="1200" dirty="0"/>
          </a:p>
        </p:txBody>
      </p:sp>
      <p:sp>
        <p:nvSpPr>
          <p:cNvPr id="18" name="Text 16"/>
          <p:cNvSpPr/>
          <p:nvPr/>
        </p:nvSpPr>
        <p:spPr>
          <a:xfrm>
            <a:off x="960120" y="2788920"/>
            <a:ext cx="3429000" cy="548640"/>
          </a:xfrm>
          <a:prstGeom prst="rect">
            <a:avLst/>
          </a:prstGeom>
          <a:noFill/>
          <a:ln/>
        </p:spPr>
        <p:txBody>
          <a:bodyPr wrap="square" rtlCol="0" anchor="ctr"/>
          <a:lstStyle/>
          <a:p>
            <a:pPr marL="0" indent="0">
              <a:buNone/>
            </a:pPr>
            <a:r>
              <a:rPr lang="en-US" sz="1000" dirty="0">
                <a:solidFill>
                  <a:srgbClr val="5D6D7E"/>
                </a:solidFill>
              </a:rPr>
              <a:t>Build FAISS index and save parallel metadata array</a:t>
            </a:r>
            <a:endParaRPr lang="en-US" sz="1000" dirty="0"/>
          </a:p>
        </p:txBody>
      </p:sp>
      <p:sp>
        <p:nvSpPr>
          <p:cNvPr id="19" name="Shape 17"/>
          <p:cNvSpPr/>
          <p:nvPr/>
        </p:nvSpPr>
        <p:spPr>
          <a:xfrm>
            <a:off x="4754880" y="2313432"/>
            <a:ext cx="4206240" cy="1097280"/>
          </a:xfrm>
          <a:prstGeom prst="roundRect">
            <a:avLst>
              <a:gd name="adj" fmla="val 8333"/>
            </a:avLst>
          </a:prstGeom>
          <a:solidFill>
            <a:srgbClr val="F2F6FA"/>
          </a:solidFill>
          <a:ln/>
          <a:effectLst>
            <a:outerShdw blurRad="101600" dist="38100" dir="2700000" algn="bl" rotWithShape="0">
              <a:srgbClr val="000000">
                <a:alpha val="12000"/>
              </a:srgbClr>
            </a:outerShdw>
          </a:effectLst>
        </p:spPr>
      </p:sp>
      <p:sp>
        <p:nvSpPr>
          <p:cNvPr id="20" name="Shape 18"/>
          <p:cNvSpPr/>
          <p:nvPr/>
        </p:nvSpPr>
        <p:spPr>
          <a:xfrm>
            <a:off x="4846320" y="2404872"/>
            <a:ext cx="502920" cy="822960"/>
          </a:xfrm>
          <a:prstGeom prst="roundRect">
            <a:avLst>
              <a:gd name="adj" fmla="val 10909"/>
            </a:avLst>
          </a:prstGeom>
          <a:solidFill>
            <a:srgbClr val="1F4E79"/>
          </a:solidFill>
          <a:ln/>
        </p:spPr>
      </p:sp>
      <p:sp>
        <p:nvSpPr>
          <p:cNvPr id="21" name="Text 19"/>
          <p:cNvSpPr/>
          <p:nvPr/>
        </p:nvSpPr>
        <p:spPr>
          <a:xfrm>
            <a:off x="4846320" y="2404872"/>
            <a:ext cx="502920" cy="822960"/>
          </a:xfrm>
          <a:prstGeom prst="rect">
            <a:avLst/>
          </a:prstGeom>
          <a:noFill/>
          <a:ln/>
        </p:spPr>
        <p:txBody>
          <a:bodyPr wrap="square" lIns="0" tIns="0" rIns="0" bIns="0" rtlCol="0" anchor="ctr"/>
          <a:lstStyle/>
          <a:p>
            <a:pPr marL="0" indent="0" algn="ctr">
              <a:buNone/>
            </a:pPr>
            <a:r>
              <a:rPr lang="en-US" sz="1800" b="1" dirty="0">
                <a:solidFill>
                  <a:srgbClr val="FFFFFF"/>
                </a:solidFill>
              </a:rPr>
              <a:t>04</a:t>
            </a:r>
            <a:endParaRPr lang="en-US" sz="1800" dirty="0"/>
          </a:p>
        </p:txBody>
      </p:sp>
      <p:sp>
        <p:nvSpPr>
          <p:cNvPr id="22" name="Text 20"/>
          <p:cNvSpPr/>
          <p:nvPr/>
        </p:nvSpPr>
        <p:spPr>
          <a:xfrm>
            <a:off x="5440680" y="2404872"/>
            <a:ext cx="3429000" cy="365760"/>
          </a:xfrm>
          <a:prstGeom prst="rect">
            <a:avLst/>
          </a:prstGeom>
          <a:noFill/>
          <a:ln/>
        </p:spPr>
        <p:txBody>
          <a:bodyPr wrap="square" rtlCol="0" anchor="ctr"/>
          <a:lstStyle/>
          <a:p>
            <a:pPr marL="0" indent="0">
              <a:buNone/>
            </a:pPr>
            <a:r>
              <a:rPr lang="en-US" sz="1200" b="1" dirty="0">
                <a:solidFill>
                  <a:srgbClr val="1F4E79"/>
                </a:solidFill>
              </a:rPr>
              <a:t>05_test.sh</a:t>
            </a:r>
            <a:endParaRPr lang="en-US" sz="1200" dirty="0"/>
          </a:p>
        </p:txBody>
      </p:sp>
      <p:sp>
        <p:nvSpPr>
          <p:cNvPr id="23" name="Text 21"/>
          <p:cNvSpPr/>
          <p:nvPr/>
        </p:nvSpPr>
        <p:spPr>
          <a:xfrm>
            <a:off x="5440680" y="2788920"/>
            <a:ext cx="3429000" cy="548640"/>
          </a:xfrm>
          <a:prstGeom prst="rect">
            <a:avLst/>
          </a:prstGeom>
          <a:noFill/>
          <a:ln/>
        </p:spPr>
        <p:txBody>
          <a:bodyPr wrap="square" rtlCol="0" anchor="ctr"/>
          <a:lstStyle/>
          <a:p>
            <a:pPr marL="0" indent="0">
              <a:buNone/>
            </a:pPr>
            <a:r>
              <a:rPr lang="en-US" sz="1000" dirty="0">
                <a:solidFill>
                  <a:srgbClr val="5D6D7E"/>
                </a:solidFill>
              </a:rPr>
              <a:t>24 pytest tests: date, location, index dimension, chunk quality</a:t>
            </a:r>
            <a:endParaRPr lang="en-US" sz="1000" dirty="0"/>
          </a:p>
        </p:txBody>
      </p:sp>
      <p:sp>
        <p:nvSpPr>
          <p:cNvPr id="24" name="Shape 22"/>
          <p:cNvSpPr/>
          <p:nvPr/>
        </p:nvSpPr>
        <p:spPr>
          <a:xfrm>
            <a:off x="274320" y="3575304"/>
            <a:ext cx="4206240" cy="1097280"/>
          </a:xfrm>
          <a:prstGeom prst="roundRect">
            <a:avLst>
              <a:gd name="adj" fmla="val 8333"/>
            </a:avLst>
          </a:prstGeom>
          <a:solidFill>
            <a:srgbClr val="F2F6FA"/>
          </a:solidFill>
          <a:ln/>
          <a:effectLst>
            <a:outerShdw blurRad="101600" dist="38100" dir="2700000" algn="bl" rotWithShape="0">
              <a:srgbClr val="000000">
                <a:alpha val="12000"/>
              </a:srgbClr>
            </a:outerShdw>
          </a:effectLst>
        </p:spPr>
      </p:sp>
      <p:sp>
        <p:nvSpPr>
          <p:cNvPr id="25" name="Shape 23"/>
          <p:cNvSpPr/>
          <p:nvPr/>
        </p:nvSpPr>
        <p:spPr>
          <a:xfrm>
            <a:off x="365760" y="3666744"/>
            <a:ext cx="502920" cy="822960"/>
          </a:xfrm>
          <a:prstGeom prst="roundRect">
            <a:avLst>
              <a:gd name="adj" fmla="val 10909"/>
            </a:avLst>
          </a:prstGeom>
          <a:solidFill>
            <a:srgbClr val="2E75B6"/>
          </a:solidFill>
          <a:ln/>
        </p:spPr>
      </p:sp>
      <p:sp>
        <p:nvSpPr>
          <p:cNvPr id="26" name="Text 24"/>
          <p:cNvSpPr/>
          <p:nvPr/>
        </p:nvSpPr>
        <p:spPr>
          <a:xfrm>
            <a:off x="365760" y="3666744"/>
            <a:ext cx="502920" cy="822960"/>
          </a:xfrm>
          <a:prstGeom prst="rect">
            <a:avLst/>
          </a:prstGeom>
          <a:noFill/>
          <a:ln/>
        </p:spPr>
        <p:txBody>
          <a:bodyPr wrap="square" lIns="0" tIns="0" rIns="0" bIns="0" rtlCol="0" anchor="ctr"/>
          <a:lstStyle/>
          <a:p>
            <a:pPr marL="0" indent="0" algn="ctr">
              <a:buNone/>
            </a:pPr>
            <a:r>
              <a:rPr lang="en-US" sz="1800" b="1" dirty="0">
                <a:solidFill>
                  <a:srgbClr val="FFFFFF"/>
                </a:solidFill>
              </a:rPr>
              <a:t>05</a:t>
            </a:r>
            <a:endParaRPr lang="en-US" sz="1800" dirty="0"/>
          </a:p>
        </p:txBody>
      </p:sp>
      <p:sp>
        <p:nvSpPr>
          <p:cNvPr id="27" name="Text 25"/>
          <p:cNvSpPr/>
          <p:nvPr/>
        </p:nvSpPr>
        <p:spPr>
          <a:xfrm>
            <a:off x="960120" y="3666744"/>
            <a:ext cx="3429000" cy="365760"/>
          </a:xfrm>
          <a:prstGeom prst="rect">
            <a:avLst/>
          </a:prstGeom>
          <a:noFill/>
          <a:ln/>
        </p:spPr>
        <p:txBody>
          <a:bodyPr wrap="square" rtlCol="0" anchor="ctr"/>
          <a:lstStyle/>
          <a:p>
            <a:pPr marL="0" indent="0">
              <a:buNone/>
            </a:pPr>
            <a:r>
              <a:rPr lang="en-US" sz="1200" b="1" dirty="0">
                <a:solidFill>
                  <a:srgbClr val="1F4E79"/>
                </a:solidFill>
              </a:rPr>
              <a:t>06_eval.sh</a:t>
            </a:r>
            <a:endParaRPr lang="en-US" sz="1200" dirty="0"/>
          </a:p>
        </p:txBody>
      </p:sp>
      <p:sp>
        <p:nvSpPr>
          <p:cNvPr id="28" name="Text 26"/>
          <p:cNvSpPr/>
          <p:nvPr/>
        </p:nvSpPr>
        <p:spPr>
          <a:xfrm>
            <a:off x="960120" y="4050792"/>
            <a:ext cx="3429000" cy="548640"/>
          </a:xfrm>
          <a:prstGeom prst="rect">
            <a:avLst/>
          </a:prstGeom>
          <a:noFill/>
          <a:ln/>
        </p:spPr>
        <p:txBody>
          <a:bodyPr wrap="square" rtlCol="0" anchor="ctr"/>
          <a:lstStyle/>
          <a:p>
            <a:pPr marL="0" indent="0">
              <a:buNone/>
            </a:pPr>
            <a:r>
              <a:rPr lang="en-US" sz="1000" dirty="0">
                <a:solidFill>
                  <a:srgbClr val="5D6D7E"/>
                </a:solidFill>
              </a:rPr>
              <a:t>30 annotated questions, RAGAS evaluation (faithfulness, relevancy)</a:t>
            </a:r>
            <a:endParaRPr lang="en-US" sz="1000" dirty="0"/>
          </a:p>
        </p:txBody>
      </p:sp>
      <p:sp>
        <p:nvSpPr>
          <p:cNvPr id="29" name="Shape 27"/>
          <p:cNvSpPr/>
          <p:nvPr/>
        </p:nvSpPr>
        <p:spPr>
          <a:xfrm>
            <a:off x="4754880" y="3575304"/>
            <a:ext cx="4206240" cy="1097280"/>
          </a:xfrm>
          <a:prstGeom prst="roundRect">
            <a:avLst>
              <a:gd name="adj" fmla="val 8333"/>
            </a:avLst>
          </a:prstGeom>
          <a:solidFill>
            <a:srgbClr val="F2F6FA"/>
          </a:solidFill>
          <a:ln/>
          <a:effectLst>
            <a:outerShdw blurRad="101600" dist="38100" dir="2700000" algn="bl" rotWithShape="0">
              <a:srgbClr val="000000">
                <a:alpha val="12000"/>
              </a:srgbClr>
            </a:outerShdw>
          </a:effectLst>
        </p:spPr>
      </p:sp>
      <p:sp>
        <p:nvSpPr>
          <p:cNvPr id="30" name="Shape 28"/>
          <p:cNvSpPr/>
          <p:nvPr/>
        </p:nvSpPr>
        <p:spPr>
          <a:xfrm>
            <a:off x="4846320" y="3666744"/>
            <a:ext cx="502920" cy="822960"/>
          </a:xfrm>
          <a:prstGeom prst="roundRect">
            <a:avLst>
              <a:gd name="adj" fmla="val 10909"/>
            </a:avLst>
          </a:prstGeom>
          <a:solidFill>
            <a:srgbClr val="028090"/>
          </a:solidFill>
          <a:ln/>
        </p:spPr>
      </p:sp>
      <p:sp>
        <p:nvSpPr>
          <p:cNvPr id="31" name="Text 29"/>
          <p:cNvSpPr/>
          <p:nvPr/>
        </p:nvSpPr>
        <p:spPr>
          <a:xfrm>
            <a:off x="4846320" y="3666744"/>
            <a:ext cx="502920" cy="822960"/>
          </a:xfrm>
          <a:prstGeom prst="rect">
            <a:avLst/>
          </a:prstGeom>
          <a:noFill/>
          <a:ln/>
        </p:spPr>
        <p:txBody>
          <a:bodyPr wrap="square" lIns="0" tIns="0" rIns="0" bIns="0" rtlCol="0" anchor="ctr"/>
          <a:lstStyle/>
          <a:p>
            <a:pPr marL="0" indent="0" algn="ctr">
              <a:buNone/>
            </a:pPr>
            <a:r>
              <a:rPr lang="en-US" sz="1800" b="1" dirty="0">
                <a:solidFill>
                  <a:srgbClr val="FFFFFF"/>
                </a:solidFill>
              </a:rPr>
              <a:t>06</a:t>
            </a:r>
            <a:endParaRPr lang="en-US" sz="1800" dirty="0"/>
          </a:p>
        </p:txBody>
      </p:sp>
      <p:sp>
        <p:nvSpPr>
          <p:cNvPr id="32" name="Text 30"/>
          <p:cNvSpPr/>
          <p:nvPr/>
        </p:nvSpPr>
        <p:spPr>
          <a:xfrm>
            <a:off x="5440680" y="3666744"/>
            <a:ext cx="3429000" cy="365760"/>
          </a:xfrm>
          <a:prstGeom prst="rect">
            <a:avLst/>
          </a:prstGeom>
          <a:noFill/>
          <a:ln/>
        </p:spPr>
        <p:txBody>
          <a:bodyPr wrap="square" rtlCol="0" anchor="ctr"/>
          <a:lstStyle/>
          <a:p>
            <a:pPr marL="0" indent="0">
              <a:buNone/>
            </a:pPr>
            <a:r>
              <a:rPr lang="en-US" sz="1200" b="1" dirty="0">
                <a:solidFill>
                  <a:srgbClr val="1F4E79"/>
                </a:solidFill>
              </a:rPr>
              <a:t>04_run.sh</a:t>
            </a:r>
            <a:endParaRPr lang="en-US" sz="1200" dirty="0"/>
          </a:p>
        </p:txBody>
      </p:sp>
      <p:sp>
        <p:nvSpPr>
          <p:cNvPr id="33" name="Text 31"/>
          <p:cNvSpPr/>
          <p:nvPr/>
        </p:nvSpPr>
        <p:spPr>
          <a:xfrm>
            <a:off x="5440680" y="4050792"/>
            <a:ext cx="3429000" cy="548640"/>
          </a:xfrm>
          <a:prstGeom prst="rect">
            <a:avLst/>
          </a:prstGeom>
          <a:noFill/>
          <a:ln/>
        </p:spPr>
        <p:txBody>
          <a:bodyPr wrap="square" rtlCol="0" anchor="ctr"/>
          <a:lstStyle/>
          <a:p>
            <a:pPr marL="0" indent="0">
              <a:buNone/>
            </a:pPr>
            <a:r>
              <a:rPr lang="en-US" sz="1000" dirty="0">
                <a:solidFill>
                  <a:srgbClr val="5D6D7E"/>
                </a:solidFill>
              </a:rPr>
              <a:t>Launch Streamlit interface on localhost:8501</a:t>
            </a:r>
            <a:endParaRPr lang="en-US" sz="1000" dirty="0"/>
          </a:p>
        </p:txBody>
      </p:sp>
      <p:sp>
        <p:nvSpPr>
          <p:cNvPr id="34" name="Shape 32"/>
          <p:cNvSpPr/>
          <p:nvPr/>
        </p:nvSpPr>
        <p:spPr>
          <a:xfrm>
            <a:off x="274320" y="4663440"/>
            <a:ext cx="8595360" cy="365760"/>
          </a:xfrm>
          <a:prstGeom prst="roundRect">
            <a:avLst>
              <a:gd name="adj" fmla="val 15000"/>
            </a:avLst>
          </a:prstGeom>
          <a:solidFill>
            <a:srgbClr val="1A252F"/>
          </a:solidFill>
          <a:ln/>
        </p:spPr>
      </p:sp>
      <p:sp>
        <p:nvSpPr>
          <p:cNvPr id="35" name="Text 33"/>
          <p:cNvSpPr/>
          <p:nvPr/>
        </p:nvSpPr>
        <p:spPr>
          <a:xfrm>
            <a:off x="457200" y="4663440"/>
            <a:ext cx="8321040" cy="365760"/>
          </a:xfrm>
          <a:prstGeom prst="rect">
            <a:avLst/>
          </a:prstGeom>
          <a:noFill/>
          <a:ln/>
        </p:spPr>
        <p:txBody>
          <a:bodyPr wrap="square" rtlCol="0" anchor="ctr"/>
          <a:lstStyle/>
          <a:p>
            <a:pPr marL="0" indent="0">
              <a:buNone/>
            </a:pPr>
            <a:r>
              <a:rPr lang="en-US" sz="1200" dirty="0">
                <a:solidFill>
                  <a:srgbClr val="F39C12"/>
                </a:solidFill>
                <a:latin typeface="Courier New" pitchFamily="34" charset="0"/>
                <a:ea typeface="Courier New" pitchFamily="34" charset="-122"/>
                <a:cs typeface="Courier New" pitchFamily="34" charset="-120"/>
              </a:rPr>
              <a:t>$ bash pipeline.sh  →  Full rebuild from scratch in one command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F4E79"/>
          </a:solidFill>
          <a:ln/>
        </p:spPr>
      </p:sp>
      <p:sp>
        <p:nvSpPr>
          <p:cNvPr id="3" name="Text 1"/>
          <p:cNvSpPr/>
          <p:nvPr/>
        </p:nvSpPr>
        <p:spPr>
          <a:xfrm>
            <a:off x="365760" y="0"/>
            <a:ext cx="8412480" cy="914400"/>
          </a:xfrm>
          <a:prstGeom prst="rect">
            <a:avLst/>
          </a:prstGeom>
          <a:noFill/>
          <a:ln/>
        </p:spPr>
        <p:txBody>
          <a:bodyPr wrap="square" rtlCol="0" anchor="ctr"/>
          <a:lstStyle/>
          <a:p>
            <a:pPr marL="0" indent="0">
              <a:buNone/>
            </a:pPr>
            <a:r>
              <a:rPr lang="en-US" sz="2200" b="1" dirty="0">
                <a:solidFill>
                  <a:srgbClr val="FFFFFF"/>
                </a:solidFill>
              </a:rPr>
              <a:t>RESULTS  |  RETRIEVAL QUALITY</a:t>
            </a:r>
            <a:endParaRPr lang="en-US" sz="2200" dirty="0"/>
          </a:p>
        </p:txBody>
      </p:sp>
      <p:sp>
        <p:nvSpPr>
          <p:cNvPr id="4" name="Shape 2"/>
          <p:cNvSpPr/>
          <p:nvPr/>
        </p:nvSpPr>
        <p:spPr>
          <a:xfrm>
            <a:off x="274320" y="1051560"/>
            <a:ext cx="8595360" cy="822960"/>
          </a:xfrm>
          <a:prstGeom prst="roundRect">
            <a:avLst>
              <a:gd name="adj" fmla="val 8889"/>
            </a:avLst>
          </a:prstGeom>
          <a:solidFill>
            <a:srgbClr val="F2F6FA"/>
          </a:solidFill>
          <a:ln/>
        </p:spPr>
      </p:sp>
      <p:sp>
        <p:nvSpPr>
          <p:cNvPr id="5" name="Shape 3"/>
          <p:cNvSpPr/>
          <p:nvPr/>
        </p:nvSpPr>
        <p:spPr>
          <a:xfrm>
            <a:off x="384048" y="1216152"/>
            <a:ext cx="475488" cy="475488"/>
          </a:xfrm>
          <a:prstGeom prst="ellipse">
            <a:avLst/>
          </a:prstGeom>
          <a:solidFill>
            <a:srgbClr val="028090"/>
          </a:solidFill>
          <a:ln/>
        </p:spPr>
      </p:sp>
      <p:sp>
        <p:nvSpPr>
          <p:cNvPr id="6" name="Text 4"/>
          <p:cNvSpPr/>
          <p:nvPr/>
        </p:nvSpPr>
        <p:spPr>
          <a:xfrm>
            <a:off x="384048" y="1216152"/>
            <a:ext cx="475488" cy="475488"/>
          </a:xfrm>
          <a:prstGeom prst="rect">
            <a:avLst/>
          </a:prstGeom>
          <a:noFill/>
          <a:ln/>
        </p:spPr>
        <p:txBody>
          <a:bodyPr wrap="square" lIns="0" tIns="0" rIns="0" bIns="0" rtlCol="0" anchor="ctr"/>
          <a:lstStyle/>
          <a:p>
            <a:pPr marL="0" indent="0" algn="ctr">
              <a:buNone/>
            </a:pPr>
            <a:r>
              <a:rPr lang="en-US" sz="800" b="1" dirty="0">
                <a:solidFill>
                  <a:srgbClr val="FFFFFF"/>
                </a:solidFill>
              </a:rPr>
              <a:t>OK</a:t>
            </a:r>
            <a:endParaRPr lang="en-US" sz="800" dirty="0"/>
          </a:p>
        </p:txBody>
      </p:sp>
      <p:sp>
        <p:nvSpPr>
          <p:cNvPr id="7" name="Text 5"/>
          <p:cNvSpPr/>
          <p:nvPr/>
        </p:nvSpPr>
        <p:spPr>
          <a:xfrm>
            <a:off x="960120" y="1124712"/>
            <a:ext cx="1005840" cy="320040"/>
          </a:xfrm>
          <a:prstGeom prst="rect">
            <a:avLst/>
          </a:prstGeom>
          <a:noFill/>
          <a:ln/>
        </p:spPr>
        <p:txBody>
          <a:bodyPr wrap="square" rtlCol="0" anchor="ctr"/>
          <a:lstStyle/>
          <a:p>
            <a:pPr marL="0" indent="0">
              <a:buNone/>
            </a:pPr>
            <a:r>
              <a:rPr lang="en-US" sz="1000" b="1" dirty="0">
                <a:solidFill>
                  <a:srgbClr val="1F4E79"/>
                </a:solidFill>
              </a:rPr>
              <a:t>Query:</a:t>
            </a:r>
            <a:endParaRPr lang="en-US" sz="1000" dirty="0"/>
          </a:p>
        </p:txBody>
      </p:sp>
      <p:sp>
        <p:nvSpPr>
          <p:cNvPr id="8" name="Text 6"/>
          <p:cNvSpPr/>
          <p:nvPr/>
        </p:nvSpPr>
        <p:spPr>
          <a:xfrm>
            <a:off x="1920240" y="1124712"/>
            <a:ext cx="6766560" cy="320040"/>
          </a:xfrm>
          <a:prstGeom prst="rect">
            <a:avLst/>
          </a:prstGeom>
          <a:noFill/>
          <a:ln/>
        </p:spPr>
        <p:txBody>
          <a:bodyPr wrap="square" rtlCol="0" anchor="ctr"/>
          <a:lstStyle/>
          <a:p>
            <a:pPr marL="0" indent="0">
              <a:buNone/>
            </a:pPr>
            <a:r>
              <a:rPr lang="en-US" sz="1100" dirty="0">
                <a:solidFill>
                  <a:srgbClr val="1A252F"/>
                </a:solidFill>
              </a:rPr>
              <a:t>Classical music concert in Paris</a:t>
            </a:r>
            <a:endParaRPr lang="en-US" sz="1100" dirty="0"/>
          </a:p>
        </p:txBody>
      </p:sp>
      <p:sp>
        <p:nvSpPr>
          <p:cNvPr id="9" name="Text 7"/>
          <p:cNvSpPr/>
          <p:nvPr/>
        </p:nvSpPr>
        <p:spPr>
          <a:xfrm>
            <a:off x="960120" y="1508760"/>
            <a:ext cx="1005840" cy="292608"/>
          </a:xfrm>
          <a:prstGeom prst="rect">
            <a:avLst/>
          </a:prstGeom>
          <a:noFill/>
          <a:ln/>
        </p:spPr>
        <p:txBody>
          <a:bodyPr wrap="square" rtlCol="0" anchor="ctr"/>
          <a:lstStyle/>
          <a:p>
            <a:pPr marL="0" indent="0">
              <a:buNone/>
            </a:pPr>
            <a:r>
              <a:rPr lang="en-US" sz="1000" b="1" dirty="0">
                <a:solidFill>
                  <a:srgbClr val="5D6D7E"/>
                </a:solidFill>
              </a:rPr>
              <a:t>Result:</a:t>
            </a:r>
            <a:endParaRPr lang="en-US" sz="1000" dirty="0"/>
          </a:p>
        </p:txBody>
      </p:sp>
      <p:sp>
        <p:nvSpPr>
          <p:cNvPr id="10" name="Text 8"/>
          <p:cNvSpPr/>
          <p:nvPr/>
        </p:nvSpPr>
        <p:spPr>
          <a:xfrm>
            <a:off x="1920240" y="1508760"/>
            <a:ext cx="6583680" cy="292608"/>
          </a:xfrm>
          <a:prstGeom prst="rect">
            <a:avLst/>
          </a:prstGeom>
          <a:noFill/>
          <a:ln/>
        </p:spPr>
        <p:txBody>
          <a:bodyPr wrap="square" rtlCol="0" anchor="ctr"/>
          <a:lstStyle/>
          <a:p>
            <a:pPr marL="0" indent="0">
              <a:buNone/>
            </a:pPr>
            <a:r>
              <a:rPr lang="en-US" sz="1000" i="1" dirty="0">
                <a:solidFill>
                  <a:srgbClr val="5D6D7E"/>
                </a:solidFill>
              </a:rPr>
              <a:t>Les 4 Saisons de Vivaldi  |  Eglise de La Madeleine  |  dist: 0.43</a:t>
            </a:r>
            <a:endParaRPr lang="en-US" sz="1000" dirty="0"/>
          </a:p>
        </p:txBody>
      </p:sp>
      <p:sp>
        <p:nvSpPr>
          <p:cNvPr id="11" name="Shape 9"/>
          <p:cNvSpPr/>
          <p:nvPr/>
        </p:nvSpPr>
        <p:spPr>
          <a:xfrm>
            <a:off x="274320" y="2011680"/>
            <a:ext cx="8595360" cy="822960"/>
          </a:xfrm>
          <a:prstGeom prst="roundRect">
            <a:avLst>
              <a:gd name="adj" fmla="val 8889"/>
            </a:avLst>
          </a:prstGeom>
          <a:solidFill>
            <a:srgbClr val="F2F6FA"/>
          </a:solidFill>
          <a:ln/>
        </p:spPr>
      </p:sp>
      <p:sp>
        <p:nvSpPr>
          <p:cNvPr id="12" name="Shape 10"/>
          <p:cNvSpPr/>
          <p:nvPr/>
        </p:nvSpPr>
        <p:spPr>
          <a:xfrm>
            <a:off x="384048" y="2176272"/>
            <a:ext cx="475488" cy="475488"/>
          </a:xfrm>
          <a:prstGeom prst="ellipse">
            <a:avLst/>
          </a:prstGeom>
          <a:solidFill>
            <a:srgbClr val="028090"/>
          </a:solidFill>
          <a:ln/>
        </p:spPr>
      </p:sp>
      <p:sp>
        <p:nvSpPr>
          <p:cNvPr id="13" name="Text 11"/>
          <p:cNvSpPr/>
          <p:nvPr/>
        </p:nvSpPr>
        <p:spPr>
          <a:xfrm>
            <a:off x="384048" y="2176272"/>
            <a:ext cx="475488" cy="475488"/>
          </a:xfrm>
          <a:prstGeom prst="rect">
            <a:avLst/>
          </a:prstGeom>
          <a:noFill/>
          <a:ln/>
        </p:spPr>
        <p:txBody>
          <a:bodyPr wrap="square" lIns="0" tIns="0" rIns="0" bIns="0" rtlCol="0" anchor="ctr"/>
          <a:lstStyle/>
          <a:p>
            <a:pPr marL="0" indent="0" algn="ctr">
              <a:buNone/>
            </a:pPr>
            <a:r>
              <a:rPr lang="en-US" sz="800" b="1" dirty="0">
                <a:solidFill>
                  <a:srgbClr val="FFFFFF"/>
                </a:solidFill>
              </a:rPr>
              <a:t>OK</a:t>
            </a:r>
            <a:endParaRPr lang="en-US" sz="800" dirty="0"/>
          </a:p>
        </p:txBody>
      </p:sp>
      <p:sp>
        <p:nvSpPr>
          <p:cNvPr id="14" name="Text 12"/>
          <p:cNvSpPr/>
          <p:nvPr/>
        </p:nvSpPr>
        <p:spPr>
          <a:xfrm>
            <a:off x="960120" y="2084832"/>
            <a:ext cx="1005840" cy="320040"/>
          </a:xfrm>
          <a:prstGeom prst="rect">
            <a:avLst/>
          </a:prstGeom>
          <a:noFill/>
          <a:ln/>
        </p:spPr>
        <p:txBody>
          <a:bodyPr wrap="square" rtlCol="0" anchor="ctr"/>
          <a:lstStyle/>
          <a:p>
            <a:pPr marL="0" indent="0">
              <a:buNone/>
            </a:pPr>
            <a:r>
              <a:rPr lang="en-US" sz="1000" b="1" dirty="0">
                <a:solidFill>
                  <a:srgbClr val="1F4E79"/>
                </a:solidFill>
              </a:rPr>
              <a:t>Query:</a:t>
            </a:r>
            <a:endParaRPr lang="en-US" sz="1000" dirty="0"/>
          </a:p>
        </p:txBody>
      </p:sp>
      <p:sp>
        <p:nvSpPr>
          <p:cNvPr id="15" name="Text 13"/>
          <p:cNvSpPr/>
          <p:nvPr/>
        </p:nvSpPr>
        <p:spPr>
          <a:xfrm>
            <a:off x="1920240" y="2084832"/>
            <a:ext cx="6766560" cy="320040"/>
          </a:xfrm>
          <a:prstGeom prst="rect">
            <a:avLst/>
          </a:prstGeom>
          <a:noFill/>
          <a:ln/>
        </p:spPr>
        <p:txBody>
          <a:bodyPr wrap="square" rtlCol="0" anchor="ctr"/>
          <a:lstStyle/>
          <a:p>
            <a:pPr marL="0" indent="0">
              <a:buNone/>
            </a:pPr>
            <a:r>
              <a:rPr lang="en-US" sz="1100" dirty="0">
                <a:solidFill>
                  <a:srgbClr val="1A252F"/>
                </a:solidFill>
              </a:rPr>
              <a:t>Events at the Eglise de La Madeleine</a:t>
            </a:r>
            <a:endParaRPr lang="en-US" sz="1100" dirty="0"/>
          </a:p>
        </p:txBody>
      </p:sp>
      <p:sp>
        <p:nvSpPr>
          <p:cNvPr id="16" name="Text 14"/>
          <p:cNvSpPr/>
          <p:nvPr/>
        </p:nvSpPr>
        <p:spPr>
          <a:xfrm>
            <a:off x="960120" y="2468880"/>
            <a:ext cx="1005840" cy="292608"/>
          </a:xfrm>
          <a:prstGeom prst="rect">
            <a:avLst/>
          </a:prstGeom>
          <a:noFill/>
          <a:ln/>
        </p:spPr>
        <p:txBody>
          <a:bodyPr wrap="square" rtlCol="0" anchor="ctr"/>
          <a:lstStyle/>
          <a:p>
            <a:pPr marL="0" indent="0">
              <a:buNone/>
            </a:pPr>
            <a:r>
              <a:rPr lang="en-US" sz="1000" b="1" dirty="0">
                <a:solidFill>
                  <a:srgbClr val="5D6D7E"/>
                </a:solidFill>
              </a:rPr>
              <a:t>Result:</a:t>
            </a:r>
            <a:endParaRPr lang="en-US" sz="1000" dirty="0"/>
          </a:p>
        </p:txBody>
      </p:sp>
      <p:sp>
        <p:nvSpPr>
          <p:cNvPr id="17" name="Text 15"/>
          <p:cNvSpPr/>
          <p:nvPr/>
        </p:nvSpPr>
        <p:spPr>
          <a:xfrm>
            <a:off x="1920240" y="2468880"/>
            <a:ext cx="6583680" cy="292608"/>
          </a:xfrm>
          <a:prstGeom prst="rect">
            <a:avLst/>
          </a:prstGeom>
          <a:noFill/>
          <a:ln/>
        </p:spPr>
        <p:txBody>
          <a:bodyPr wrap="square" rtlCol="0" anchor="ctr"/>
          <a:lstStyle/>
          <a:p>
            <a:pPr marL="0" indent="0">
              <a:buNone/>
            </a:pPr>
            <a:r>
              <a:rPr lang="en-US" sz="1000" i="1" dirty="0">
                <a:solidFill>
                  <a:srgbClr val="5D6D7E"/>
                </a:solidFill>
              </a:rPr>
              <a:t>Concert Onestage  |  Friday 27 March, 16:00  |  dist: 0.38</a:t>
            </a:r>
            <a:endParaRPr lang="en-US" sz="1000" dirty="0"/>
          </a:p>
        </p:txBody>
      </p:sp>
      <p:sp>
        <p:nvSpPr>
          <p:cNvPr id="18" name="Shape 16"/>
          <p:cNvSpPr/>
          <p:nvPr/>
        </p:nvSpPr>
        <p:spPr>
          <a:xfrm>
            <a:off x="274320" y="2971800"/>
            <a:ext cx="8595360" cy="822960"/>
          </a:xfrm>
          <a:prstGeom prst="roundRect">
            <a:avLst>
              <a:gd name="adj" fmla="val 8889"/>
            </a:avLst>
          </a:prstGeom>
          <a:solidFill>
            <a:srgbClr val="F2F6FA"/>
          </a:solidFill>
          <a:ln/>
        </p:spPr>
      </p:sp>
      <p:sp>
        <p:nvSpPr>
          <p:cNvPr id="19" name="Shape 17"/>
          <p:cNvSpPr/>
          <p:nvPr/>
        </p:nvSpPr>
        <p:spPr>
          <a:xfrm>
            <a:off x="384048" y="3136392"/>
            <a:ext cx="475488" cy="475488"/>
          </a:xfrm>
          <a:prstGeom prst="ellipse">
            <a:avLst/>
          </a:prstGeom>
          <a:solidFill>
            <a:srgbClr val="028090"/>
          </a:solidFill>
          <a:ln/>
        </p:spPr>
      </p:sp>
      <p:sp>
        <p:nvSpPr>
          <p:cNvPr id="20" name="Text 18"/>
          <p:cNvSpPr/>
          <p:nvPr/>
        </p:nvSpPr>
        <p:spPr>
          <a:xfrm>
            <a:off x="384048" y="3136392"/>
            <a:ext cx="475488" cy="475488"/>
          </a:xfrm>
          <a:prstGeom prst="rect">
            <a:avLst/>
          </a:prstGeom>
          <a:noFill/>
          <a:ln/>
        </p:spPr>
        <p:txBody>
          <a:bodyPr wrap="square" lIns="0" tIns="0" rIns="0" bIns="0" rtlCol="0" anchor="ctr"/>
          <a:lstStyle/>
          <a:p>
            <a:pPr marL="0" indent="0" algn="ctr">
              <a:buNone/>
            </a:pPr>
            <a:r>
              <a:rPr lang="en-US" sz="800" b="1" dirty="0">
                <a:solidFill>
                  <a:srgbClr val="FFFFFF"/>
                </a:solidFill>
              </a:rPr>
              <a:t>OK</a:t>
            </a:r>
            <a:endParaRPr lang="en-US" sz="800" dirty="0"/>
          </a:p>
        </p:txBody>
      </p:sp>
      <p:sp>
        <p:nvSpPr>
          <p:cNvPr id="21" name="Text 19"/>
          <p:cNvSpPr/>
          <p:nvPr/>
        </p:nvSpPr>
        <p:spPr>
          <a:xfrm>
            <a:off x="960120" y="3044952"/>
            <a:ext cx="1005840" cy="320040"/>
          </a:xfrm>
          <a:prstGeom prst="rect">
            <a:avLst/>
          </a:prstGeom>
          <a:noFill/>
          <a:ln/>
        </p:spPr>
        <p:txBody>
          <a:bodyPr wrap="square" rtlCol="0" anchor="ctr"/>
          <a:lstStyle/>
          <a:p>
            <a:pPr marL="0" indent="0">
              <a:buNone/>
            </a:pPr>
            <a:r>
              <a:rPr lang="en-US" sz="1000" b="1" dirty="0">
                <a:solidFill>
                  <a:srgbClr val="1F4E79"/>
                </a:solidFill>
              </a:rPr>
              <a:t>Query:</a:t>
            </a:r>
            <a:endParaRPr lang="en-US" sz="1000" dirty="0"/>
          </a:p>
        </p:txBody>
      </p:sp>
      <p:sp>
        <p:nvSpPr>
          <p:cNvPr id="22" name="Text 20"/>
          <p:cNvSpPr/>
          <p:nvPr/>
        </p:nvSpPr>
        <p:spPr>
          <a:xfrm>
            <a:off x="1920240" y="3044952"/>
            <a:ext cx="6766560" cy="320040"/>
          </a:xfrm>
          <a:prstGeom prst="rect">
            <a:avLst/>
          </a:prstGeom>
          <a:noFill/>
          <a:ln/>
        </p:spPr>
        <p:txBody>
          <a:bodyPr wrap="square" rtlCol="0" anchor="ctr"/>
          <a:lstStyle/>
          <a:p>
            <a:pPr marL="0" indent="0">
              <a:buNone/>
            </a:pPr>
            <a:r>
              <a:rPr lang="en-US" sz="1100" dirty="0">
                <a:solidFill>
                  <a:srgbClr val="1A252F"/>
                </a:solidFill>
              </a:rPr>
              <a:t>What to do this weekend in Paris</a:t>
            </a:r>
            <a:endParaRPr lang="en-US" sz="1100" dirty="0"/>
          </a:p>
        </p:txBody>
      </p:sp>
      <p:sp>
        <p:nvSpPr>
          <p:cNvPr id="23" name="Text 21"/>
          <p:cNvSpPr/>
          <p:nvPr/>
        </p:nvSpPr>
        <p:spPr>
          <a:xfrm>
            <a:off x="960120" y="3429000"/>
            <a:ext cx="1005840" cy="292608"/>
          </a:xfrm>
          <a:prstGeom prst="rect">
            <a:avLst/>
          </a:prstGeom>
          <a:noFill/>
          <a:ln/>
        </p:spPr>
        <p:txBody>
          <a:bodyPr wrap="square" rtlCol="0" anchor="ctr"/>
          <a:lstStyle/>
          <a:p>
            <a:pPr marL="0" indent="0">
              <a:buNone/>
            </a:pPr>
            <a:r>
              <a:rPr lang="en-US" sz="1000" b="1" dirty="0">
                <a:solidFill>
                  <a:srgbClr val="5D6D7E"/>
                </a:solidFill>
              </a:rPr>
              <a:t>Result:</a:t>
            </a:r>
            <a:endParaRPr lang="en-US" sz="1000" dirty="0"/>
          </a:p>
        </p:txBody>
      </p:sp>
      <p:sp>
        <p:nvSpPr>
          <p:cNvPr id="24" name="Text 22"/>
          <p:cNvSpPr/>
          <p:nvPr/>
        </p:nvSpPr>
        <p:spPr>
          <a:xfrm>
            <a:off x="1920240" y="3429000"/>
            <a:ext cx="6583680" cy="292608"/>
          </a:xfrm>
          <a:prstGeom prst="rect">
            <a:avLst/>
          </a:prstGeom>
          <a:noFill/>
          <a:ln/>
        </p:spPr>
        <p:txBody>
          <a:bodyPr wrap="square" rtlCol="0" anchor="ctr"/>
          <a:lstStyle/>
          <a:p>
            <a:pPr marL="0" indent="0">
              <a:buNone/>
            </a:pPr>
            <a:r>
              <a:rPr lang="en-US" sz="1000" i="1" dirty="0">
                <a:solidFill>
                  <a:srgbClr val="5D6D7E"/>
                </a:solidFill>
              </a:rPr>
              <a:t>Evening gathering for young professionals  |  Salle de La Madeleine  |  dist: 0.41</a:t>
            </a:r>
            <a:endParaRPr lang="en-US" sz="1000" dirty="0"/>
          </a:p>
        </p:txBody>
      </p:sp>
      <p:sp>
        <p:nvSpPr>
          <p:cNvPr id="25" name="Shape 23"/>
          <p:cNvSpPr/>
          <p:nvPr/>
        </p:nvSpPr>
        <p:spPr>
          <a:xfrm>
            <a:off x="274320" y="3931920"/>
            <a:ext cx="8595360" cy="822960"/>
          </a:xfrm>
          <a:prstGeom prst="roundRect">
            <a:avLst>
              <a:gd name="adj" fmla="val 8889"/>
            </a:avLst>
          </a:prstGeom>
          <a:solidFill>
            <a:srgbClr val="F2F6FA"/>
          </a:solidFill>
          <a:ln/>
        </p:spPr>
      </p:sp>
      <p:sp>
        <p:nvSpPr>
          <p:cNvPr id="26" name="Shape 24"/>
          <p:cNvSpPr/>
          <p:nvPr/>
        </p:nvSpPr>
        <p:spPr>
          <a:xfrm>
            <a:off x="384048" y="4096512"/>
            <a:ext cx="475488" cy="475488"/>
          </a:xfrm>
          <a:prstGeom prst="ellipse">
            <a:avLst/>
          </a:prstGeom>
          <a:solidFill>
            <a:srgbClr val="F39C12"/>
          </a:solidFill>
          <a:ln/>
        </p:spPr>
      </p:sp>
      <p:sp>
        <p:nvSpPr>
          <p:cNvPr id="27" name="Text 25"/>
          <p:cNvSpPr/>
          <p:nvPr/>
        </p:nvSpPr>
        <p:spPr>
          <a:xfrm>
            <a:off x="384048" y="4096512"/>
            <a:ext cx="475488" cy="475488"/>
          </a:xfrm>
          <a:prstGeom prst="rect">
            <a:avLst/>
          </a:prstGeom>
          <a:noFill/>
          <a:ln/>
        </p:spPr>
        <p:txBody>
          <a:bodyPr wrap="square" lIns="0" tIns="0" rIns="0" bIns="0" rtlCol="0" anchor="ctr"/>
          <a:lstStyle/>
          <a:p>
            <a:pPr marL="0" indent="0" algn="ctr">
              <a:buNone/>
            </a:pPr>
            <a:r>
              <a:rPr lang="en-US" sz="800" b="1" dirty="0">
                <a:solidFill>
                  <a:srgbClr val="FFFFFF"/>
                </a:solidFill>
              </a:rPr>
              <a:t>OOS</a:t>
            </a:r>
            <a:endParaRPr lang="en-US" sz="800" dirty="0"/>
          </a:p>
        </p:txBody>
      </p:sp>
      <p:sp>
        <p:nvSpPr>
          <p:cNvPr id="28" name="Text 26"/>
          <p:cNvSpPr/>
          <p:nvPr/>
        </p:nvSpPr>
        <p:spPr>
          <a:xfrm>
            <a:off x="960120" y="4005072"/>
            <a:ext cx="1005840" cy="320040"/>
          </a:xfrm>
          <a:prstGeom prst="rect">
            <a:avLst/>
          </a:prstGeom>
          <a:noFill/>
          <a:ln/>
        </p:spPr>
        <p:txBody>
          <a:bodyPr wrap="square" rtlCol="0" anchor="ctr"/>
          <a:lstStyle/>
          <a:p>
            <a:pPr marL="0" indent="0">
              <a:buNone/>
            </a:pPr>
            <a:r>
              <a:rPr lang="en-US" sz="1000" b="1" dirty="0">
                <a:solidFill>
                  <a:srgbClr val="1F4E79"/>
                </a:solidFill>
              </a:rPr>
              <a:t>Query:</a:t>
            </a:r>
            <a:endParaRPr lang="en-US" sz="1000" dirty="0"/>
          </a:p>
        </p:txBody>
      </p:sp>
      <p:sp>
        <p:nvSpPr>
          <p:cNvPr id="29" name="Text 27"/>
          <p:cNvSpPr/>
          <p:nvPr/>
        </p:nvSpPr>
        <p:spPr>
          <a:xfrm>
            <a:off x="1920240" y="4005072"/>
            <a:ext cx="6766560" cy="320040"/>
          </a:xfrm>
          <a:prstGeom prst="rect">
            <a:avLst/>
          </a:prstGeom>
          <a:noFill/>
          <a:ln/>
        </p:spPr>
        <p:txBody>
          <a:bodyPr wrap="square" rtlCol="0" anchor="ctr"/>
          <a:lstStyle/>
          <a:p>
            <a:pPr marL="0" indent="0">
              <a:buNone/>
            </a:pPr>
            <a:r>
              <a:rPr lang="en-US" sz="1100" dirty="0">
                <a:solidFill>
                  <a:srgbClr val="1A252F"/>
                </a:solidFill>
              </a:rPr>
              <a:t>What is the best restaurant in Paris</a:t>
            </a:r>
            <a:endParaRPr lang="en-US" sz="1100" dirty="0"/>
          </a:p>
        </p:txBody>
      </p:sp>
      <p:sp>
        <p:nvSpPr>
          <p:cNvPr id="30" name="Text 28"/>
          <p:cNvSpPr/>
          <p:nvPr/>
        </p:nvSpPr>
        <p:spPr>
          <a:xfrm>
            <a:off x="960120" y="4389120"/>
            <a:ext cx="1005840" cy="292608"/>
          </a:xfrm>
          <a:prstGeom prst="rect">
            <a:avLst/>
          </a:prstGeom>
          <a:noFill/>
          <a:ln/>
        </p:spPr>
        <p:txBody>
          <a:bodyPr wrap="square" rtlCol="0" anchor="ctr"/>
          <a:lstStyle/>
          <a:p>
            <a:pPr marL="0" indent="0">
              <a:buNone/>
            </a:pPr>
            <a:r>
              <a:rPr lang="en-US" sz="1000" b="1" dirty="0">
                <a:solidFill>
                  <a:srgbClr val="5D6D7E"/>
                </a:solidFill>
              </a:rPr>
              <a:t>Result:</a:t>
            </a:r>
            <a:endParaRPr lang="en-US" sz="1000" dirty="0"/>
          </a:p>
        </p:txBody>
      </p:sp>
      <p:sp>
        <p:nvSpPr>
          <p:cNvPr id="31" name="Text 29"/>
          <p:cNvSpPr/>
          <p:nvPr/>
        </p:nvSpPr>
        <p:spPr>
          <a:xfrm>
            <a:off x="1920240" y="4389120"/>
            <a:ext cx="6583680" cy="292608"/>
          </a:xfrm>
          <a:prstGeom prst="rect">
            <a:avLst/>
          </a:prstGeom>
          <a:noFill/>
          <a:ln/>
        </p:spPr>
        <p:txBody>
          <a:bodyPr wrap="square" rtlCol="0" anchor="ctr"/>
          <a:lstStyle/>
          <a:p>
            <a:pPr marL="0" indent="0">
              <a:buNone/>
            </a:pPr>
            <a:r>
              <a:rPr lang="en-US" sz="1000" i="1" dirty="0">
                <a:solidFill>
                  <a:srgbClr val="5D6D7E"/>
                </a:solidFill>
              </a:rPr>
              <a:t>Correct refusal: Je ne sais pas  |  (dist: 0.61 out of scope)</a:t>
            </a:r>
            <a:endParaRPr lang="en-US" sz="1000" dirty="0"/>
          </a:p>
        </p:txBody>
      </p:sp>
      <p:sp>
        <p:nvSpPr>
          <p:cNvPr id="32" name="Text 30"/>
          <p:cNvSpPr/>
          <p:nvPr/>
        </p:nvSpPr>
        <p:spPr>
          <a:xfrm>
            <a:off x="274320" y="4800600"/>
            <a:ext cx="8595360" cy="274320"/>
          </a:xfrm>
          <a:prstGeom prst="rect">
            <a:avLst/>
          </a:prstGeom>
          <a:noFill/>
          <a:ln/>
        </p:spPr>
        <p:txBody>
          <a:bodyPr wrap="square" rtlCol="0" anchor="ctr"/>
          <a:lstStyle/>
          <a:p>
            <a:pPr marL="0" indent="0" algn="ctr">
              <a:buNone/>
            </a:pPr>
            <a:r>
              <a:rPr lang="en-US" sz="1000" i="1" dirty="0">
                <a:solidFill>
                  <a:srgbClr val="2E75B6"/>
                </a:solidFill>
              </a:rPr>
              <a:t>L2 distance &lt; 0.50 = relevant  |  L2 distance &gt; 0.60 = out of scope detected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1F4E79"/>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marL="0" indent="0" algn="ctr">
              <a:buNone/>
            </a:pPr>
            <a:r>
              <a:rPr lang="en-US" sz="1300" b="1" kern="0" spc="400" dirty="0">
                <a:solidFill>
                  <a:srgbClr val="F39C12"/>
                </a:solidFill>
              </a:rPr>
              <a:t>LIVE DEMONSTRATION</a:t>
            </a:r>
            <a:endParaRPr lang="en-US" sz="1300" dirty="0"/>
          </a:p>
        </p:txBody>
      </p:sp>
      <p:sp>
        <p:nvSpPr>
          <p:cNvPr id="3" name="Shape 1"/>
          <p:cNvSpPr/>
          <p:nvPr/>
        </p:nvSpPr>
        <p:spPr>
          <a:xfrm>
            <a:off x="2286000" y="1188720"/>
            <a:ext cx="6583680" cy="3749040"/>
          </a:xfrm>
          <a:prstGeom prst="roundRect">
            <a:avLst>
              <a:gd name="adj" fmla="val 3659"/>
            </a:avLst>
          </a:prstGeom>
          <a:solidFill>
            <a:srgbClr val="FFFFFF"/>
          </a:solidFill>
          <a:ln/>
          <a:effectLst>
            <a:outerShdw blurRad="101600" dist="38100" dir="2700000" algn="bl" rotWithShape="0">
              <a:srgbClr val="000000">
                <a:alpha val="12000"/>
              </a:srgbClr>
            </a:outerShdw>
          </a:effectLst>
        </p:spPr>
      </p:sp>
      <p:sp>
        <p:nvSpPr>
          <p:cNvPr id="4" name="Shape 2"/>
          <p:cNvSpPr/>
          <p:nvPr/>
        </p:nvSpPr>
        <p:spPr>
          <a:xfrm>
            <a:off x="2286000" y="1188720"/>
            <a:ext cx="6583680" cy="502920"/>
          </a:xfrm>
          <a:prstGeom prst="roundRect">
            <a:avLst>
              <a:gd name="adj" fmla="val 14545"/>
            </a:avLst>
          </a:prstGeom>
          <a:solidFill>
            <a:srgbClr val="2E75B6"/>
          </a:solidFill>
          <a:ln/>
        </p:spPr>
      </p:sp>
      <p:sp>
        <p:nvSpPr>
          <p:cNvPr id="5" name="Text 3"/>
          <p:cNvSpPr/>
          <p:nvPr/>
        </p:nvSpPr>
        <p:spPr>
          <a:xfrm>
            <a:off x="2468880" y="1188720"/>
            <a:ext cx="6400800" cy="502920"/>
          </a:xfrm>
          <a:prstGeom prst="rect">
            <a:avLst/>
          </a:prstGeom>
          <a:noFill/>
          <a:ln/>
        </p:spPr>
        <p:txBody>
          <a:bodyPr wrap="square" rtlCol="0" anchor="ctr"/>
          <a:lstStyle/>
          <a:p>
            <a:pPr marL="0" indent="0">
              <a:buNone/>
            </a:pPr>
            <a:r>
              <a:rPr lang="en-US" sz="1100" b="1" dirty="0">
                <a:solidFill>
                  <a:srgbClr val="FFFFFF"/>
                </a:solidFill>
              </a:rPr>
              <a:t>Puls-Events  |  Cultural Events Assistant Paris</a:t>
            </a:r>
            <a:endParaRPr lang="en-US" sz="1100" dirty="0"/>
          </a:p>
        </p:txBody>
      </p:sp>
      <p:sp>
        <p:nvSpPr>
          <p:cNvPr id="6" name="Shape 4"/>
          <p:cNvSpPr/>
          <p:nvPr/>
        </p:nvSpPr>
        <p:spPr>
          <a:xfrm>
            <a:off x="5029200" y="1920240"/>
            <a:ext cx="3566160" cy="502920"/>
          </a:xfrm>
          <a:prstGeom prst="roundRect">
            <a:avLst>
              <a:gd name="adj" fmla="val 18182"/>
            </a:avLst>
          </a:prstGeom>
          <a:solidFill>
            <a:srgbClr val="2E75B6"/>
          </a:solidFill>
          <a:ln/>
        </p:spPr>
      </p:sp>
      <p:sp>
        <p:nvSpPr>
          <p:cNvPr id="7" name="Text 5"/>
          <p:cNvSpPr/>
          <p:nvPr/>
        </p:nvSpPr>
        <p:spPr>
          <a:xfrm>
            <a:off x="5120640" y="1920240"/>
            <a:ext cx="3383280" cy="502920"/>
          </a:xfrm>
          <a:prstGeom prst="rect">
            <a:avLst/>
          </a:prstGeom>
          <a:noFill/>
          <a:ln/>
        </p:spPr>
        <p:txBody>
          <a:bodyPr wrap="square" rtlCol="0" anchor="ctr"/>
          <a:lstStyle/>
          <a:p>
            <a:pPr marL="0" indent="0">
              <a:buNone/>
            </a:pPr>
            <a:r>
              <a:rPr lang="en-US" sz="1000" dirty="0">
                <a:solidFill>
                  <a:srgbClr val="FFFFFF"/>
                </a:solidFill>
              </a:rPr>
              <a:t>Classical concerts this month?</a:t>
            </a:r>
            <a:endParaRPr lang="en-US" sz="1000" dirty="0"/>
          </a:p>
        </p:txBody>
      </p:sp>
      <p:sp>
        <p:nvSpPr>
          <p:cNvPr id="8" name="Shape 6"/>
          <p:cNvSpPr/>
          <p:nvPr/>
        </p:nvSpPr>
        <p:spPr>
          <a:xfrm>
            <a:off x="2468880" y="2606040"/>
            <a:ext cx="4389120" cy="2103120"/>
          </a:xfrm>
          <a:prstGeom prst="roundRect">
            <a:avLst>
              <a:gd name="adj" fmla="val 4348"/>
            </a:avLst>
          </a:prstGeom>
          <a:solidFill>
            <a:srgbClr val="F2F6FA"/>
          </a:solidFill>
          <a:ln/>
        </p:spPr>
      </p:sp>
      <p:sp>
        <p:nvSpPr>
          <p:cNvPr id="9" name="Text 7"/>
          <p:cNvSpPr/>
          <p:nvPr/>
        </p:nvSpPr>
        <p:spPr>
          <a:xfrm>
            <a:off x="2651760" y="2697480"/>
            <a:ext cx="4023360" cy="1920240"/>
          </a:xfrm>
          <a:prstGeom prst="rect">
            <a:avLst/>
          </a:prstGeom>
          <a:noFill/>
          <a:ln/>
        </p:spPr>
        <p:txBody>
          <a:bodyPr wrap="square" rtlCol="0" anchor="ctr"/>
          <a:lstStyle/>
          <a:p>
            <a:pPr marL="0" indent="0">
              <a:buNone/>
            </a:pPr>
            <a:r>
              <a:rPr lang="en-US" sz="1000" b="1" dirty="0">
                <a:solidFill>
                  <a:srgbClr val="1A252F"/>
                </a:solidFill>
              </a:rPr>
              <a:t>Here are the available concerts:</a:t>
            </a:r>
            <a:endParaRPr lang="en-US" sz="1000" dirty="0"/>
          </a:p>
          <a:p>
            <a:pPr marL="0" indent="0">
              <a:buNone/>
            </a:pPr>
            <a:r>
              <a:rPr lang="en-US" sz="1000" dirty="0">
                <a:solidFill>
                  <a:srgbClr val="1A252F"/>
                </a:solidFill>
              </a:rPr>
              <a:t> </a:t>
            </a:r>
            <a:endParaRPr lang="en-US" sz="1000" dirty="0"/>
          </a:p>
          <a:p>
            <a:pPr marL="0" indent="0">
              <a:buNone/>
            </a:pPr>
            <a:r>
              <a:rPr lang="en-US" sz="1000" b="1" dirty="0">
                <a:solidFill>
                  <a:srgbClr val="1A252F"/>
                </a:solidFill>
              </a:rPr>
              <a:t>1. Les 4 Saisons de Vivaldi</a:t>
            </a:r>
            <a:endParaRPr lang="en-US" sz="1000" dirty="0"/>
          </a:p>
          <a:p>
            <a:pPr marL="0" indent="0">
              <a:buNone/>
            </a:pPr>
            <a:r>
              <a:rPr lang="en-US" sz="1000" dirty="0">
                <a:solidFill>
                  <a:srgbClr val="1A252F"/>
                </a:solidFill>
              </a:rPr>
              <a:t>   Wednesday 11 March, 20:00</a:t>
            </a:r>
            <a:endParaRPr lang="en-US" sz="1000" dirty="0"/>
          </a:p>
          <a:p>
            <a:pPr marL="0" indent="0">
              <a:buNone/>
            </a:pPr>
            <a:r>
              <a:rPr lang="en-US" sz="1000" dirty="0">
                <a:solidFill>
                  <a:srgbClr val="1A252F"/>
                </a:solidFill>
              </a:rPr>
              <a:t>   Eglise de La Madeleine, Paris</a:t>
            </a:r>
            <a:endParaRPr lang="en-US" sz="1000" dirty="0"/>
          </a:p>
          <a:p>
            <a:pPr marL="0" indent="0">
              <a:buNone/>
            </a:pPr>
            <a:r>
              <a:rPr lang="en-US" sz="1000" dirty="0">
                <a:solidFill>
                  <a:srgbClr val="1A252F"/>
                </a:solidFill>
              </a:rPr>
              <a:t> </a:t>
            </a:r>
            <a:endParaRPr lang="en-US" sz="1000" dirty="0"/>
          </a:p>
          <a:p>
            <a:pPr marL="0" indent="0">
              <a:buNone/>
            </a:pPr>
            <a:r>
              <a:rPr lang="en-US" sz="1000" b="1" dirty="0">
                <a:solidFill>
                  <a:srgbClr val="1A252F"/>
                </a:solidFill>
              </a:rPr>
              <a:t>2. Concert Aria Baroque</a:t>
            </a:r>
            <a:endParaRPr lang="en-US" sz="1000" dirty="0"/>
          </a:p>
          <a:p>
            <a:pPr marL="0" indent="0">
              <a:buNone/>
            </a:pPr>
            <a:r>
              <a:rPr lang="en-US" sz="1000" dirty="0">
                <a:solidFill>
                  <a:srgbClr val="1A252F"/>
                </a:solidFill>
              </a:rPr>
              <a:t>   Saturday 14 March, 16:00</a:t>
            </a:r>
            <a:endParaRPr lang="en-US" sz="1000" dirty="0"/>
          </a:p>
          <a:p>
            <a:pPr marL="0" indent="0">
              <a:buNone/>
            </a:pPr>
            <a:r>
              <a:rPr lang="en-US" sz="1000" dirty="0">
                <a:solidFill>
                  <a:srgbClr val="1A252F"/>
                </a:solidFill>
              </a:rPr>
              <a:t>   Eglise Sainte-Elisabeth de Hongrie</a:t>
            </a:r>
            <a:endParaRPr lang="en-US" sz="1000" dirty="0"/>
          </a:p>
        </p:txBody>
      </p:sp>
      <p:sp>
        <p:nvSpPr>
          <p:cNvPr id="10" name="Shape 8"/>
          <p:cNvSpPr/>
          <p:nvPr/>
        </p:nvSpPr>
        <p:spPr>
          <a:xfrm>
            <a:off x="274320" y="1188720"/>
            <a:ext cx="1828800" cy="3749040"/>
          </a:xfrm>
          <a:prstGeom prst="roundRect">
            <a:avLst>
              <a:gd name="adj" fmla="val 5000"/>
            </a:avLst>
          </a:prstGeom>
          <a:solidFill>
            <a:srgbClr val="1A252F"/>
          </a:solidFill>
          <a:ln/>
        </p:spPr>
      </p:sp>
      <p:sp>
        <p:nvSpPr>
          <p:cNvPr id="11" name="Text 9"/>
          <p:cNvSpPr/>
          <p:nvPr/>
        </p:nvSpPr>
        <p:spPr>
          <a:xfrm>
            <a:off x="365760" y="1280160"/>
            <a:ext cx="1645920" cy="365760"/>
          </a:xfrm>
          <a:prstGeom prst="rect">
            <a:avLst/>
          </a:prstGeom>
          <a:noFill/>
          <a:ln/>
        </p:spPr>
        <p:txBody>
          <a:bodyPr wrap="square" rtlCol="0" anchor="ctr"/>
          <a:lstStyle/>
          <a:p>
            <a:pPr marL="0" indent="0" algn="ctr">
              <a:buNone/>
            </a:pPr>
            <a:r>
              <a:rPr lang="en-US" sz="1100" b="1" dirty="0">
                <a:solidFill>
                  <a:srgbClr val="F39C12"/>
                </a:solidFill>
              </a:rPr>
              <a:t>Sources</a:t>
            </a:r>
            <a:endParaRPr lang="en-US" sz="1100" dirty="0"/>
          </a:p>
        </p:txBody>
      </p:sp>
      <p:sp>
        <p:nvSpPr>
          <p:cNvPr id="12" name="Text 10"/>
          <p:cNvSpPr/>
          <p:nvPr/>
        </p:nvSpPr>
        <p:spPr>
          <a:xfrm>
            <a:off x="365760" y="1691640"/>
            <a:ext cx="1645920" cy="3108960"/>
          </a:xfrm>
          <a:prstGeom prst="rect">
            <a:avLst/>
          </a:prstGeom>
          <a:noFill/>
          <a:ln/>
        </p:spPr>
        <p:txBody>
          <a:bodyPr wrap="square" rtlCol="0" anchor="ctr"/>
          <a:lstStyle/>
          <a:p>
            <a:pPr marL="0" indent="0">
              <a:buNone/>
            </a:pPr>
            <a:r>
              <a:rPr lang="en-US" sz="900" dirty="0">
                <a:solidFill>
                  <a:srgbClr val="CADCFC"/>
                </a:solidFill>
              </a:rPr>
              <a:t>1. Les 4 Saisons...</a:t>
            </a:r>
            <a:endParaRPr lang="en-US" sz="900" dirty="0"/>
          </a:p>
          <a:p>
            <a:pPr marL="0" indent="0">
              <a:buNone/>
            </a:pPr>
            <a:r>
              <a:rPr lang="en-US" sz="900" dirty="0">
                <a:solidFill>
                  <a:srgbClr val="CADCFC"/>
                </a:solidFill>
              </a:rPr>
              <a:t>11 March, 20:00</a:t>
            </a:r>
            <a:endParaRPr lang="en-US" sz="900" dirty="0"/>
          </a:p>
          <a:p>
            <a:pPr marL="0" indent="0">
              <a:buNone/>
            </a:pPr>
            <a:r>
              <a:rPr lang="en-US" sz="900" dirty="0">
                <a:solidFill>
                  <a:srgbClr val="CADCFC"/>
                </a:solidFill>
              </a:rPr>
              <a:t>La Madeleine</a:t>
            </a:r>
            <a:endParaRPr lang="en-US" sz="900" dirty="0"/>
          </a:p>
          <a:p>
            <a:pPr marL="0" indent="0">
              <a:buNone/>
            </a:pPr>
            <a:r>
              <a:rPr lang="en-US" sz="900" dirty="0">
                <a:solidFill>
                  <a:srgbClr val="CADCFC"/>
                </a:solidFill>
              </a:rPr>
              <a:t> </a:t>
            </a:r>
            <a:endParaRPr lang="en-US" sz="900" dirty="0"/>
          </a:p>
          <a:p>
            <a:pPr marL="0" indent="0">
              <a:buNone/>
            </a:pPr>
            <a:r>
              <a:rPr lang="en-US" sz="900" dirty="0">
                <a:solidFill>
                  <a:srgbClr val="CADCFC"/>
                </a:solidFill>
              </a:rPr>
              <a:t>2. Concert Aria...</a:t>
            </a:r>
            <a:endParaRPr lang="en-US" sz="900" dirty="0"/>
          </a:p>
          <a:p>
            <a:pPr marL="0" indent="0">
              <a:buNone/>
            </a:pPr>
            <a:r>
              <a:rPr lang="en-US" sz="900" dirty="0">
                <a:solidFill>
                  <a:srgbClr val="CADCFC"/>
                </a:solidFill>
              </a:rPr>
              <a:t>14 March, 16:00</a:t>
            </a:r>
            <a:endParaRPr lang="en-US" sz="900" dirty="0"/>
          </a:p>
          <a:p>
            <a:pPr marL="0" indent="0">
              <a:buNone/>
            </a:pPr>
            <a:r>
              <a:rPr lang="en-US" sz="900" dirty="0">
                <a:solidFill>
                  <a:srgbClr val="CADCFC"/>
                </a:solidFill>
              </a:rPr>
              <a:t>Ste-Elisabeth</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F4E79"/>
          </a:solidFill>
          <a:ln/>
        </p:spPr>
      </p:sp>
      <p:sp>
        <p:nvSpPr>
          <p:cNvPr id="3" name="Text 1"/>
          <p:cNvSpPr/>
          <p:nvPr/>
        </p:nvSpPr>
        <p:spPr>
          <a:xfrm>
            <a:off x="365760" y="0"/>
            <a:ext cx="8412480" cy="914400"/>
          </a:xfrm>
          <a:prstGeom prst="rect">
            <a:avLst/>
          </a:prstGeom>
          <a:noFill/>
          <a:ln/>
        </p:spPr>
        <p:txBody>
          <a:bodyPr wrap="square" rtlCol="0" anchor="ctr"/>
          <a:lstStyle/>
          <a:p>
            <a:pPr marL="0" indent="0">
              <a:buNone/>
            </a:pPr>
            <a:r>
              <a:rPr lang="en-US" sz="2200" b="1" dirty="0">
                <a:solidFill>
                  <a:srgbClr val="FFFFFF"/>
                </a:solidFill>
              </a:rPr>
              <a:t>UNIT TESTS  |  25 / 25 PASSED</a:t>
            </a:r>
            <a:endParaRPr lang="en-US" sz="2200" dirty="0"/>
          </a:p>
        </p:txBody>
      </p:sp>
      <p:sp>
        <p:nvSpPr>
          <p:cNvPr id="4" name="Shape 2"/>
          <p:cNvSpPr/>
          <p:nvPr/>
        </p:nvSpPr>
        <p:spPr>
          <a:xfrm>
            <a:off x="274320" y="1051560"/>
            <a:ext cx="8595360" cy="685800"/>
          </a:xfrm>
          <a:prstGeom prst="roundRect">
            <a:avLst>
              <a:gd name="adj" fmla="val 10667"/>
            </a:avLst>
          </a:prstGeom>
          <a:solidFill>
            <a:srgbClr val="F2F6FA"/>
          </a:solidFill>
          <a:ln/>
        </p:spPr>
      </p:sp>
      <p:sp>
        <p:nvSpPr>
          <p:cNvPr id="5" name="Shape 3"/>
          <p:cNvSpPr/>
          <p:nvPr/>
        </p:nvSpPr>
        <p:spPr>
          <a:xfrm>
            <a:off x="384048" y="1143000"/>
            <a:ext cx="457200" cy="502920"/>
          </a:xfrm>
          <a:prstGeom prst="roundRect">
            <a:avLst>
              <a:gd name="adj" fmla="val 12000"/>
            </a:avLst>
          </a:prstGeom>
          <a:solidFill>
            <a:srgbClr val="1F4E79"/>
          </a:solidFill>
          <a:ln/>
        </p:spPr>
      </p:sp>
      <p:sp>
        <p:nvSpPr>
          <p:cNvPr id="6" name="Text 4"/>
          <p:cNvSpPr/>
          <p:nvPr/>
        </p:nvSpPr>
        <p:spPr>
          <a:xfrm>
            <a:off x="384048" y="1143000"/>
            <a:ext cx="457200" cy="502920"/>
          </a:xfrm>
          <a:prstGeom prst="rect">
            <a:avLst/>
          </a:prstGeom>
          <a:noFill/>
          <a:ln/>
        </p:spPr>
        <p:txBody>
          <a:bodyPr wrap="square" lIns="0" tIns="0" rIns="0" bIns="0" rtlCol="0" anchor="ctr"/>
          <a:lstStyle/>
          <a:p>
            <a:pPr marL="0" indent="0" algn="ctr">
              <a:buNone/>
            </a:pPr>
            <a:r>
              <a:rPr lang="en-US" sz="1400" b="1" dirty="0">
                <a:solidFill>
                  <a:srgbClr val="FFFFFF"/>
                </a:solidFill>
              </a:rPr>
              <a:t>6</a:t>
            </a:r>
            <a:endParaRPr lang="en-US" sz="1400" dirty="0"/>
          </a:p>
        </p:txBody>
      </p:sp>
      <p:sp>
        <p:nvSpPr>
          <p:cNvPr id="7" name="Text 5"/>
          <p:cNvSpPr/>
          <p:nvPr/>
        </p:nvSpPr>
        <p:spPr>
          <a:xfrm>
            <a:off x="932688" y="1124712"/>
            <a:ext cx="2743200" cy="320040"/>
          </a:xfrm>
          <a:prstGeom prst="rect">
            <a:avLst/>
          </a:prstGeom>
          <a:noFill/>
          <a:ln/>
        </p:spPr>
        <p:txBody>
          <a:bodyPr wrap="square" rtlCol="0" anchor="ctr"/>
          <a:lstStyle/>
          <a:p>
            <a:pPr marL="0" indent="0">
              <a:buNone/>
            </a:pPr>
            <a:r>
              <a:rPr lang="en-US" sz="1200" b="1" dirty="0">
                <a:solidFill>
                  <a:srgbClr val="1F4E79"/>
                </a:solidFill>
              </a:rPr>
              <a:t>TestRawData</a:t>
            </a:r>
            <a:endParaRPr lang="en-US" sz="1200" dirty="0"/>
          </a:p>
        </p:txBody>
      </p:sp>
      <p:sp>
        <p:nvSpPr>
          <p:cNvPr id="8" name="Text 6"/>
          <p:cNvSpPr/>
          <p:nvPr/>
        </p:nvSpPr>
        <p:spPr>
          <a:xfrm>
            <a:off x="932688" y="1435608"/>
            <a:ext cx="7315200" cy="256032"/>
          </a:xfrm>
          <a:prstGeom prst="rect">
            <a:avLst/>
          </a:prstGeom>
          <a:noFill/>
          <a:ln/>
        </p:spPr>
        <p:txBody>
          <a:bodyPr wrap="square" rtlCol="0" anchor="ctr"/>
          <a:lstStyle/>
          <a:p>
            <a:pPr marL="0" indent="0">
              <a:buNone/>
            </a:pPr>
            <a:r>
              <a:rPr lang="en-US" sz="1000" dirty="0">
                <a:solidFill>
                  <a:srgbClr val="5D6D7E"/>
                </a:solidFill>
              </a:rPr>
              <a:t>File present, not empty, titles and descriptions non-null, dates present</a:t>
            </a:r>
            <a:endParaRPr lang="en-US" sz="1000" dirty="0"/>
          </a:p>
        </p:txBody>
      </p:sp>
      <p:sp>
        <p:nvSpPr>
          <p:cNvPr id="9" name="Text 7"/>
          <p:cNvSpPr/>
          <p:nvPr/>
        </p:nvSpPr>
        <p:spPr>
          <a:xfrm>
            <a:off x="8046720" y="1216152"/>
            <a:ext cx="777240" cy="320040"/>
          </a:xfrm>
          <a:prstGeom prst="rect">
            <a:avLst/>
          </a:prstGeom>
          <a:solidFill>
            <a:srgbClr val="028090"/>
          </a:solidFill>
          <a:ln/>
        </p:spPr>
        <p:txBody>
          <a:bodyPr wrap="square" lIns="38100" tIns="38100" rIns="38100" bIns="38100" rtlCol="0" anchor="ctr"/>
          <a:lstStyle/>
          <a:p>
            <a:pPr marL="0" indent="0" algn="ctr">
              <a:buNone/>
            </a:pPr>
            <a:r>
              <a:rPr lang="en-US" sz="1000" b="1" dirty="0">
                <a:solidFill>
                  <a:srgbClr val="FFFFFF"/>
                </a:solidFill>
              </a:rPr>
              <a:t>PASSED</a:t>
            </a:r>
            <a:endParaRPr lang="en-US" sz="1000" dirty="0"/>
          </a:p>
        </p:txBody>
      </p:sp>
      <p:sp>
        <p:nvSpPr>
          <p:cNvPr id="10" name="Shape 8"/>
          <p:cNvSpPr/>
          <p:nvPr/>
        </p:nvSpPr>
        <p:spPr>
          <a:xfrm>
            <a:off x="274320" y="1837944"/>
            <a:ext cx="8595360" cy="685800"/>
          </a:xfrm>
          <a:prstGeom prst="roundRect">
            <a:avLst>
              <a:gd name="adj" fmla="val 10667"/>
            </a:avLst>
          </a:prstGeom>
          <a:solidFill>
            <a:srgbClr val="F2F6FA"/>
          </a:solidFill>
          <a:ln/>
        </p:spPr>
      </p:sp>
      <p:sp>
        <p:nvSpPr>
          <p:cNvPr id="11" name="Shape 9"/>
          <p:cNvSpPr/>
          <p:nvPr/>
        </p:nvSpPr>
        <p:spPr>
          <a:xfrm>
            <a:off x="384048" y="1929384"/>
            <a:ext cx="457200" cy="502920"/>
          </a:xfrm>
          <a:prstGeom prst="roundRect">
            <a:avLst>
              <a:gd name="adj" fmla="val 12000"/>
            </a:avLst>
          </a:prstGeom>
          <a:solidFill>
            <a:srgbClr val="2E75B6"/>
          </a:solidFill>
          <a:ln/>
        </p:spPr>
      </p:sp>
      <p:sp>
        <p:nvSpPr>
          <p:cNvPr id="12" name="Text 10"/>
          <p:cNvSpPr/>
          <p:nvPr/>
        </p:nvSpPr>
        <p:spPr>
          <a:xfrm>
            <a:off x="384048" y="1929384"/>
            <a:ext cx="457200" cy="502920"/>
          </a:xfrm>
          <a:prstGeom prst="rect">
            <a:avLst/>
          </a:prstGeom>
          <a:noFill/>
          <a:ln/>
        </p:spPr>
        <p:txBody>
          <a:bodyPr wrap="square" lIns="0" tIns="0" rIns="0" bIns="0" rtlCol="0" anchor="ctr"/>
          <a:lstStyle/>
          <a:p>
            <a:pPr marL="0" indent="0" algn="ctr">
              <a:buNone/>
            </a:pPr>
            <a:r>
              <a:rPr lang="en-US" sz="1400" b="1" dirty="0">
                <a:solidFill>
                  <a:srgbClr val="FFFFFF"/>
                </a:solidFill>
              </a:rPr>
              <a:t>3</a:t>
            </a:r>
            <a:endParaRPr lang="en-US" sz="1400" dirty="0"/>
          </a:p>
        </p:txBody>
      </p:sp>
      <p:sp>
        <p:nvSpPr>
          <p:cNvPr id="13" name="Text 11"/>
          <p:cNvSpPr/>
          <p:nvPr/>
        </p:nvSpPr>
        <p:spPr>
          <a:xfrm>
            <a:off x="932688" y="1911096"/>
            <a:ext cx="2743200" cy="320040"/>
          </a:xfrm>
          <a:prstGeom prst="rect">
            <a:avLst/>
          </a:prstGeom>
          <a:noFill/>
          <a:ln/>
        </p:spPr>
        <p:txBody>
          <a:bodyPr wrap="square" rtlCol="0" anchor="ctr"/>
          <a:lstStyle/>
          <a:p>
            <a:pPr marL="0" indent="0">
              <a:buNone/>
            </a:pPr>
            <a:r>
              <a:rPr lang="en-US" sz="1200" b="1" dirty="0">
                <a:solidFill>
                  <a:srgbClr val="1F4E79"/>
                </a:solidFill>
              </a:rPr>
              <a:t>TestDateFilter</a:t>
            </a:r>
            <a:endParaRPr lang="en-US" sz="1200" dirty="0"/>
          </a:p>
        </p:txBody>
      </p:sp>
      <p:sp>
        <p:nvSpPr>
          <p:cNvPr id="14" name="Text 12"/>
          <p:cNvSpPr/>
          <p:nvPr/>
        </p:nvSpPr>
        <p:spPr>
          <a:xfrm>
            <a:off x="932688" y="2221992"/>
            <a:ext cx="7315200" cy="256032"/>
          </a:xfrm>
          <a:prstGeom prst="rect">
            <a:avLst/>
          </a:prstGeom>
          <a:noFill/>
          <a:ln/>
        </p:spPr>
        <p:txBody>
          <a:bodyPr wrap="square" rtlCol="0" anchor="ctr"/>
          <a:lstStyle/>
          <a:p>
            <a:pPr marL="0" indent="0">
              <a:buNone/>
            </a:pPr>
            <a:r>
              <a:rPr lang="en-US" sz="1000" dirty="0">
                <a:solidFill>
                  <a:srgbClr val="5D6D7E"/>
                </a:solidFill>
              </a:rPr>
              <a:t>All events within 12 months, none more than 2 years in future, date range &gt; 30 days</a:t>
            </a:r>
            <a:endParaRPr lang="en-US" sz="1000" dirty="0"/>
          </a:p>
        </p:txBody>
      </p:sp>
      <p:sp>
        <p:nvSpPr>
          <p:cNvPr id="15" name="Text 13"/>
          <p:cNvSpPr/>
          <p:nvPr/>
        </p:nvSpPr>
        <p:spPr>
          <a:xfrm>
            <a:off x="8046720" y="2002536"/>
            <a:ext cx="777240" cy="320040"/>
          </a:xfrm>
          <a:prstGeom prst="rect">
            <a:avLst/>
          </a:prstGeom>
          <a:solidFill>
            <a:srgbClr val="028090"/>
          </a:solidFill>
          <a:ln/>
        </p:spPr>
        <p:txBody>
          <a:bodyPr wrap="square" lIns="38100" tIns="38100" rIns="38100" bIns="38100" rtlCol="0" anchor="ctr"/>
          <a:lstStyle/>
          <a:p>
            <a:pPr marL="0" indent="0" algn="ctr">
              <a:buNone/>
            </a:pPr>
            <a:r>
              <a:rPr lang="en-US" sz="1000" b="1" dirty="0">
                <a:solidFill>
                  <a:srgbClr val="FFFFFF"/>
                </a:solidFill>
              </a:rPr>
              <a:t>PASSED</a:t>
            </a:r>
            <a:endParaRPr lang="en-US" sz="1000" dirty="0"/>
          </a:p>
        </p:txBody>
      </p:sp>
      <p:sp>
        <p:nvSpPr>
          <p:cNvPr id="16" name="Shape 14"/>
          <p:cNvSpPr/>
          <p:nvPr/>
        </p:nvSpPr>
        <p:spPr>
          <a:xfrm>
            <a:off x="274320" y="2624328"/>
            <a:ext cx="8595360" cy="685800"/>
          </a:xfrm>
          <a:prstGeom prst="roundRect">
            <a:avLst>
              <a:gd name="adj" fmla="val 10667"/>
            </a:avLst>
          </a:prstGeom>
          <a:solidFill>
            <a:srgbClr val="F2F6FA"/>
          </a:solidFill>
          <a:ln/>
        </p:spPr>
      </p:sp>
      <p:sp>
        <p:nvSpPr>
          <p:cNvPr id="17" name="Shape 15"/>
          <p:cNvSpPr/>
          <p:nvPr/>
        </p:nvSpPr>
        <p:spPr>
          <a:xfrm>
            <a:off x="384048" y="2715768"/>
            <a:ext cx="457200" cy="502920"/>
          </a:xfrm>
          <a:prstGeom prst="roundRect">
            <a:avLst>
              <a:gd name="adj" fmla="val 12000"/>
            </a:avLst>
          </a:prstGeom>
          <a:solidFill>
            <a:srgbClr val="028090"/>
          </a:solidFill>
          <a:ln/>
        </p:spPr>
      </p:sp>
      <p:sp>
        <p:nvSpPr>
          <p:cNvPr id="18" name="Text 16"/>
          <p:cNvSpPr/>
          <p:nvPr/>
        </p:nvSpPr>
        <p:spPr>
          <a:xfrm>
            <a:off x="384048" y="2715768"/>
            <a:ext cx="457200" cy="502920"/>
          </a:xfrm>
          <a:prstGeom prst="rect">
            <a:avLst/>
          </a:prstGeom>
          <a:noFill/>
          <a:ln/>
        </p:spPr>
        <p:txBody>
          <a:bodyPr wrap="square" lIns="0" tIns="0" rIns="0" bIns="0" rtlCol="0" anchor="ctr"/>
          <a:lstStyle/>
          <a:p>
            <a:pPr marL="0" indent="0" algn="ctr">
              <a:buNone/>
            </a:pPr>
            <a:r>
              <a:rPr lang="en-US" sz="1400" b="1" dirty="0">
                <a:solidFill>
                  <a:srgbClr val="FFFFFF"/>
                </a:solidFill>
              </a:rPr>
              <a:t>3</a:t>
            </a:r>
            <a:endParaRPr lang="en-US" sz="1400" dirty="0"/>
          </a:p>
        </p:txBody>
      </p:sp>
      <p:sp>
        <p:nvSpPr>
          <p:cNvPr id="19" name="Text 17"/>
          <p:cNvSpPr/>
          <p:nvPr/>
        </p:nvSpPr>
        <p:spPr>
          <a:xfrm>
            <a:off x="932688" y="2697480"/>
            <a:ext cx="2743200" cy="320040"/>
          </a:xfrm>
          <a:prstGeom prst="rect">
            <a:avLst/>
          </a:prstGeom>
          <a:noFill/>
          <a:ln/>
        </p:spPr>
        <p:txBody>
          <a:bodyPr wrap="square" rtlCol="0" anchor="ctr"/>
          <a:lstStyle/>
          <a:p>
            <a:pPr marL="0" indent="0">
              <a:buNone/>
            </a:pPr>
            <a:r>
              <a:rPr lang="en-US" sz="1200" b="1" dirty="0">
                <a:solidFill>
                  <a:srgbClr val="1F4E79"/>
                </a:solidFill>
              </a:rPr>
              <a:t>TestLocationFilter</a:t>
            </a:r>
            <a:endParaRPr lang="en-US" sz="1200" dirty="0"/>
          </a:p>
        </p:txBody>
      </p:sp>
      <p:sp>
        <p:nvSpPr>
          <p:cNvPr id="20" name="Text 18"/>
          <p:cNvSpPr/>
          <p:nvPr/>
        </p:nvSpPr>
        <p:spPr>
          <a:xfrm>
            <a:off x="932688" y="3008376"/>
            <a:ext cx="7315200" cy="256032"/>
          </a:xfrm>
          <a:prstGeom prst="rect">
            <a:avLst/>
          </a:prstGeom>
          <a:noFill/>
          <a:ln/>
        </p:spPr>
        <p:txBody>
          <a:bodyPr wrap="square" rtlCol="0" anchor="ctr"/>
          <a:lstStyle/>
          <a:p>
            <a:pPr marL="0" indent="0">
              <a:buNone/>
            </a:pPr>
            <a:r>
              <a:rPr lang="en-US" sz="1000" dirty="0">
                <a:solidFill>
                  <a:srgbClr val="5D6D7E"/>
                </a:solidFill>
              </a:rPr>
              <a:t>Over 90% of events in Paris, city field non-null, no residual postal codes</a:t>
            </a:r>
            <a:endParaRPr lang="en-US" sz="1000" dirty="0"/>
          </a:p>
        </p:txBody>
      </p:sp>
      <p:sp>
        <p:nvSpPr>
          <p:cNvPr id="21" name="Text 19"/>
          <p:cNvSpPr/>
          <p:nvPr/>
        </p:nvSpPr>
        <p:spPr>
          <a:xfrm>
            <a:off x="8046720" y="2788920"/>
            <a:ext cx="777240" cy="320040"/>
          </a:xfrm>
          <a:prstGeom prst="rect">
            <a:avLst/>
          </a:prstGeom>
          <a:solidFill>
            <a:srgbClr val="028090"/>
          </a:solidFill>
          <a:ln/>
        </p:spPr>
        <p:txBody>
          <a:bodyPr wrap="square" lIns="38100" tIns="38100" rIns="38100" bIns="38100" rtlCol="0" anchor="ctr"/>
          <a:lstStyle/>
          <a:p>
            <a:pPr marL="0" indent="0" algn="ctr">
              <a:buNone/>
            </a:pPr>
            <a:r>
              <a:rPr lang="en-US" sz="1000" b="1" dirty="0">
                <a:solidFill>
                  <a:srgbClr val="FFFFFF"/>
                </a:solidFill>
              </a:rPr>
              <a:t>PASSED</a:t>
            </a:r>
            <a:endParaRPr lang="en-US" sz="1000" dirty="0"/>
          </a:p>
        </p:txBody>
      </p:sp>
      <p:sp>
        <p:nvSpPr>
          <p:cNvPr id="22" name="Shape 20"/>
          <p:cNvSpPr/>
          <p:nvPr/>
        </p:nvSpPr>
        <p:spPr>
          <a:xfrm>
            <a:off x="274320" y="3410712"/>
            <a:ext cx="8595360" cy="685800"/>
          </a:xfrm>
          <a:prstGeom prst="roundRect">
            <a:avLst>
              <a:gd name="adj" fmla="val 10667"/>
            </a:avLst>
          </a:prstGeom>
          <a:solidFill>
            <a:srgbClr val="F2F6FA"/>
          </a:solidFill>
          <a:ln/>
        </p:spPr>
      </p:sp>
      <p:sp>
        <p:nvSpPr>
          <p:cNvPr id="23" name="Shape 21"/>
          <p:cNvSpPr/>
          <p:nvPr/>
        </p:nvSpPr>
        <p:spPr>
          <a:xfrm>
            <a:off x="384048" y="3502152"/>
            <a:ext cx="457200" cy="502920"/>
          </a:xfrm>
          <a:prstGeom prst="roundRect">
            <a:avLst>
              <a:gd name="adj" fmla="val 12000"/>
            </a:avLst>
          </a:prstGeom>
          <a:solidFill>
            <a:srgbClr val="1F4E79"/>
          </a:solidFill>
          <a:ln/>
        </p:spPr>
      </p:sp>
      <p:sp>
        <p:nvSpPr>
          <p:cNvPr id="24" name="Text 22"/>
          <p:cNvSpPr/>
          <p:nvPr/>
        </p:nvSpPr>
        <p:spPr>
          <a:xfrm>
            <a:off x="384048" y="3502152"/>
            <a:ext cx="457200" cy="502920"/>
          </a:xfrm>
          <a:prstGeom prst="rect">
            <a:avLst/>
          </a:prstGeom>
          <a:noFill/>
          <a:ln/>
        </p:spPr>
        <p:txBody>
          <a:bodyPr wrap="square" lIns="0" tIns="0" rIns="0" bIns="0" rtlCol="0" anchor="ctr"/>
          <a:lstStyle/>
          <a:p>
            <a:pPr marL="0" indent="0" algn="ctr">
              <a:buNone/>
            </a:pPr>
            <a:r>
              <a:rPr lang="en-US" sz="1400" b="1" dirty="0">
                <a:solidFill>
                  <a:srgbClr val="FFFFFF"/>
                </a:solidFill>
              </a:rPr>
              <a:t>10</a:t>
            </a:r>
            <a:endParaRPr lang="en-US" sz="1400" dirty="0"/>
          </a:p>
        </p:txBody>
      </p:sp>
      <p:sp>
        <p:nvSpPr>
          <p:cNvPr id="25" name="Text 23"/>
          <p:cNvSpPr/>
          <p:nvPr/>
        </p:nvSpPr>
        <p:spPr>
          <a:xfrm>
            <a:off x="932688" y="3483864"/>
            <a:ext cx="2743200" cy="320040"/>
          </a:xfrm>
          <a:prstGeom prst="rect">
            <a:avLst/>
          </a:prstGeom>
          <a:noFill/>
          <a:ln/>
        </p:spPr>
        <p:txBody>
          <a:bodyPr wrap="square" rtlCol="0" anchor="ctr"/>
          <a:lstStyle/>
          <a:p>
            <a:pPr marL="0" indent="0">
              <a:buNone/>
            </a:pPr>
            <a:r>
              <a:rPr lang="en-US" sz="1200" b="1" dirty="0">
                <a:solidFill>
                  <a:srgbClr val="1F4E79"/>
                </a:solidFill>
              </a:rPr>
              <a:t>TestVectorDatabase</a:t>
            </a:r>
            <a:endParaRPr lang="en-US" sz="1200" dirty="0"/>
          </a:p>
        </p:txBody>
      </p:sp>
      <p:sp>
        <p:nvSpPr>
          <p:cNvPr id="26" name="Text 24"/>
          <p:cNvSpPr/>
          <p:nvPr/>
        </p:nvSpPr>
        <p:spPr>
          <a:xfrm>
            <a:off x="932688" y="3794760"/>
            <a:ext cx="7315200" cy="256032"/>
          </a:xfrm>
          <a:prstGeom prst="rect">
            <a:avLst/>
          </a:prstGeom>
          <a:noFill/>
          <a:ln/>
        </p:spPr>
        <p:txBody>
          <a:bodyPr wrap="square" rtlCol="0" anchor="ctr"/>
          <a:lstStyle/>
          <a:p>
            <a:pPr marL="0" indent="0">
              <a:buNone/>
            </a:pPr>
            <a:r>
              <a:rPr lang="en-US" sz="1000" dirty="0">
                <a:solidFill>
                  <a:srgbClr val="5D6D7E"/>
                </a:solidFill>
              </a:rPr>
              <a:t>Dimension 1,024, non-empty index, index/metadata sync, float32 dtype, valid search</a:t>
            </a:r>
            <a:endParaRPr lang="en-US" sz="1000" dirty="0"/>
          </a:p>
        </p:txBody>
      </p:sp>
      <p:sp>
        <p:nvSpPr>
          <p:cNvPr id="27" name="Text 25"/>
          <p:cNvSpPr/>
          <p:nvPr/>
        </p:nvSpPr>
        <p:spPr>
          <a:xfrm>
            <a:off x="8046720" y="3575304"/>
            <a:ext cx="777240" cy="320040"/>
          </a:xfrm>
          <a:prstGeom prst="rect">
            <a:avLst/>
          </a:prstGeom>
          <a:solidFill>
            <a:srgbClr val="028090"/>
          </a:solidFill>
          <a:ln/>
        </p:spPr>
        <p:txBody>
          <a:bodyPr wrap="square" lIns="38100" tIns="38100" rIns="38100" bIns="38100" rtlCol="0" anchor="ctr"/>
          <a:lstStyle/>
          <a:p>
            <a:pPr marL="0" indent="0" algn="ctr">
              <a:buNone/>
            </a:pPr>
            <a:r>
              <a:rPr lang="en-US" sz="1000" b="1" dirty="0">
                <a:solidFill>
                  <a:srgbClr val="FFFFFF"/>
                </a:solidFill>
              </a:rPr>
              <a:t>PASSED</a:t>
            </a:r>
            <a:endParaRPr lang="en-US" sz="1000" dirty="0"/>
          </a:p>
        </p:txBody>
      </p:sp>
      <p:sp>
        <p:nvSpPr>
          <p:cNvPr id="28" name="Shape 26"/>
          <p:cNvSpPr/>
          <p:nvPr/>
        </p:nvSpPr>
        <p:spPr>
          <a:xfrm>
            <a:off x="274320" y="4197096"/>
            <a:ext cx="8595360" cy="685800"/>
          </a:xfrm>
          <a:prstGeom prst="roundRect">
            <a:avLst>
              <a:gd name="adj" fmla="val 10667"/>
            </a:avLst>
          </a:prstGeom>
          <a:solidFill>
            <a:srgbClr val="F2F6FA"/>
          </a:solidFill>
          <a:ln/>
        </p:spPr>
      </p:sp>
      <p:sp>
        <p:nvSpPr>
          <p:cNvPr id="29" name="Shape 27"/>
          <p:cNvSpPr/>
          <p:nvPr/>
        </p:nvSpPr>
        <p:spPr>
          <a:xfrm>
            <a:off x="384048" y="4288536"/>
            <a:ext cx="457200" cy="502920"/>
          </a:xfrm>
          <a:prstGeom prst="roundRect">
            <a:avLst>
              <a:gd name="adj" fmla="val 12000"/>
            </a:avLst>
          </a:prstGeom>
          <a:solidFill>
            <a:srgbClr val="2E75B6"/>
          </a:solidFill>
          <a:ln/>
        </p:spPr>
      </p:sp>
      <p:sp>
        <p:nvSpPr>
          <p:cNvPr id="30" name="Text 28"/>
          <p:cNvSpPr/>
          <p:nvPr/>
        </p:nvSpPr>
        <p:spPr>
          <a:xfrm>
            <a:off x="384048" y="4288536"/>
            <a:ext cx="457200" cy="502920"/>
          </a:xfrm>
          <a:prstGeom prst="rect">
            <a:avLst/>
          </a:prstGeom>
          <a:noFill/>
          <a:ln/>
        </p:spPr>
        <p:txBody>
          <a:bodyPr wrap="square" lIns="0" tIns="0" rIns="0" bIns="0" rtlCol="0" anchor="ctr"/>
          <a:lstStyle/>
          <a:p>
            <a:pPr marL="0" indent="0" algn="ctr">
              <a:buNone/>
            </a:pPr>
            <a:r>
              <a:rPr lang="en-US" sz="1400" b="1" dirty="0">
                <a:solidFill>
                  <a:srgbClr val="FFFFFF"/>
                </a:solidFill>
              </a:rPr>
              <a:t>3</a:t>
            </a:r>
            <a:endParaRPr lang="en-US" sz="1400" dirty="0"/>
          </a:p>
        </p:txBody>
      </p:sp>
      <p:sp>
        <p:nvSpPr>
          <p:cNvPr id="31" name="Text 29"/>
          <p:cNvSpPr/>
          <p:nvPr/>
        </p:nvSpPr>
        <p:spPr>
          <a:xfrm>
            <a:off x="932688" y="4270248"/>
            <a:ext cx="2743200" cy="320040"/>
          </a:xfrm>
          <a:prstGeom prst="rect">
            <a:avLst/>
          </a:prstGeom>
          <a:noFill/>
          <a:ln/>
        </p:spPr>
        <p:txBody>
          <a:bodyPr wrap="square" rtlCol="0" anchor="ctr"/>
          <a:lstStyle/>
          <a:p>
            <a:pPr marL="0" indent="0">
              <a:buNone/>
            </a:pPr>
            <a:r>
              <a:rPr lang="en-US" sz="1200" b="1" dirty="0">
                <a:solidFill>
                  <a:srgbClr val="1F4E79"/>
                </a:solidFill>
              </a:rPr>
              <a:t>TestChunkQuality</a:t>
            </a:r>
            <a:endParaRPr lang="en-US" sz="1200" dirty="0"/>
          </a:p>
        </p:txBody>
      </p:sp>
      <p:sp>
        <p:nvSpPr>
          <p:cNvPr id="32" name="Text 30"/>
          <p:cNvSpPr/>
          <p:nvPr/>
        </p:nvSpPr>
        <p:spPr>
          <a:xfrm>
            <a:off x="932688" y="4581144"/>
            <a:ext cx="7315200" cy="256032"/>
          </a:xfrm>
          <a:prstGeom prst="rect">
            <a:avLst/>
          </a:prstGeom>
          <a:noFill/>
          <a:ln/>
        </p:spPr>
        <p:txBody>
          <a:bodyPr wrap="square" rtlCol="0" anchor="ctr"/>
          <a:lstStyle/>
          <a:p>
            <a:pPr marL="0" indent="0">
              <a:buNone/>
            </a:pPr>
            <a:r>
              <a:rPr lang="en-US" sz="1000" dirty="0">
                <a:solidFill>
                  <a:srgbClr val="5D6D7E"/>
                </a:solidFill>
              </a:rPr>
              <a:t>Non-empty chunk text, event marker present, URL non-empty</a:t>
            </a:r>
            <a:endParaRPr lang="en-US" sz="1000" dirty="0"/>
          </a:p>
        </p:txBody>
      </p:sp>
      <p:sp>
        <p:nvSpPr>
          <p:cNvPr id="33" name="Text 31"/>
          <p:cNvSpPr/>
          <p:nvPr/>
        </p:nvSpPr>
        <p:spPr>
          <a:xfrm>
            <a:off x="8046720" y="4361688"/>
            <a:ext cx="777240" cy="320040"/>
          </a:xfrm>
          <a:prstGeom prst="rect">
            <a:avLst/>
          </a:prstGeom>
          <a:solidFill>
            <a:srgbClr val="028090"/>
          </a:solidFill>
          <a:ln/>
        </p:spPr>
        <p:txBody>
          <a:bodyPr wrap="square" lIns="38100" tIns="38100" rIns="38100" bIns="38100" rtlCol="0" anchor="ctr"/>
          <a:lstStyle/>
          <a:p>
            <a:pPr marL="0" indent="0" algn="ctr">
              <a:buNone/>
            </a:pPr>
            <a:r>
              <a:rPr lang="en-US" sz="1000" b="1" dirty="0">
                <a:solidFill>
                  <a:srgbClr val="FFFFFF"/>
                </a:solidFill>
              </a:rPr>
              <a:t>PASSED</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F4E79"/>
          </a:solidFill>
          <a:ln/>
        </p:spPr>
      </p:sp>
      <p:sp>
        <p:nvSpPr>
          <p:cNvPr id="3" name="Text 1"/>
          <p:cNvSpPr/>
          <p:nvPr/>
        </p:nvSpPr>
        <p:spPr>
          <a:xfrm>
            <a:off x="365760" y="0"/>
            <a:ext cx="8412480" cy="914400"/>
          </a:xfrm>
          <a:prstGeom prst="rect">
            <a:avLst/>
          </a:prstGeom>
          <a:noFill/>
          <a:ln/>
        </p:spPr>
        <p:txBody>
          <a:bodyPr wrap="square" rtlCol="0" anchor="ctr"/>
          <a:lstStyle/>
          <a:p>
            <a:pPr marL="0" indent="0">
              <a:buNone/>
            </a:pPr>
            <a:r>
              <a:rPr lang="en-US" sz="2200" b="1" dirty="0">
                <a:solidFill>
                  <a:srgbClr val="FFFFFF"/>
                </a:solidFill>
              </a:rPr>
              <a:t>EVALUATION  |  ANNOTATED TEST DATASET</a:t>
            </a:r>
            <a:endParaRPr lang="en-US" sz="2200" dirty="0"/>
          </a:p>
        </p:txBody>
      </p:sp>
      <p:sp>
        <p:nvSpPr>
          <p:cNvPr id="4" name="Shape 2"/>
          <p:cNvSpPr/>
          <p:nvPr/>
        </p:nvSpPr>
        <p:spPr>
          <a:xfrm>
            <a:off x="274320" y="1051560"/>
            <a:ext cx="2697480" cy="914400"/>
          </a:xfrm>
          <a:prstGeom prst="roundRect">
            <a:avLst>
              <a:gd name="adj" fmla="val 10000"/>
            </a:avLst>
          </a:prstGeom>
          <a:solidFill>
            <a:srgbClr val="F2F6FA"/>
          </a:solidFill>
          <a:ln/>
          <a:effectLst>
            <a:outerShdw blurRad="101600" dist="38100" dir="2700000" algn="bl" rotWithShape="0">
              <a:srgbClr val="000000">
                <a:alpha val="12000"/>
              </a:srgbClr>
            </a:outerShdw>
          </a:effectLst>
        </p:spPr>
      </p:sp>
      <p:sp>
        <p:nvSpPr>
          <p:cNvPr id="5" name="Shape 3"/>
          <p:cNvSpPr/>
          <p:nvPr/>
        </p:nvSpPr>
        <p:spPr>
          <a:xfrm>
            <a:off x="384048" y="1216152"/>
            <a:ext cx="548640" cy="548640"/>
          </a:xfrm>
          <a:prstGeom prst="ellipse">
            <a:avLst/>
          </a:prstGeom>
          <a:solidFill>
            <a:srgbClr val="1F4E79"/>
          </a:solidFill>
          <a:ln/>
        </p:spPr>
      </p:sp>
      <p:sp>
        <p:nvSpPr>
          <p:cNvPr id="6" name="Text 4"/>
          <p:cNvSpPr/>
          <p:nvPr/>
        </p:nvSpPr>
        <p:spPr>
          <a:xfrm>
            <a:off x="384048" y="1216152"/>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rPr>
              <a:t>6</a:t>
            </a:r>
            <a:endParaRPr lang="en-US" sz="1800" dirty="0"/>
          </a:p>
        </p:txBody>
      </p:sp>
      <p:sp>
        <p:nvSpPr>
          <p:cNvPr id="7" name="Text 5"/>
          <p:cNvSpPr/>
          <p:nvPr/>
        </p:nvSpPr>
        <p:spPr>
          <a:xfrm>
            <a:off x="1024128" y="1280160"/>
            <a:ext cx="1828800" cy="457200"/>
          </a:xfrm>
          <a:prstGeom prst="rect">
            <a:avLst/>
          </a:prstGeom>
          <a:noFill/>
          <a:ln/>
        </p:spPr>
        <p:txBody>
          <a:bodyPr wrap="square" rtlCol="0" anchor="ctr"/>
          <a:lstStyle/>
          <a:p>
            <a:pPr marL="0" indent="0">
              <a:buNone/>
            </a:pPr>
            <a:r>
              <a:rPr lang="en-US" sz="1100" dirty="0">
                <a:solidFill>
                  <a:srgbClr val="1F4E79"/>
                </a:solidFill>
              </a:rPr>
              <a:t>Specific events</a:t>
            </a:r>
            <a:endParaRPr lang="en-US" sz="1100" dirty="0"/>
          </a:p>
        </p:txBody>
      </p:sp>
      <p:sp>
        <p:nvSpPr>
          <p:cNvPr id="8" name="Shape 6"/>
          <p:cNvSpPr/>
          <p:nvPr/>
        </p:nvSpPr>
        <p:spPr>
          <a:xfrm>
            <a:off x="3154680" y="1051560"/>
            <a:ext cx="2697480" cy="914400"/>
          </a:xfrm>
          <a:prstGeom prst="roundRect">
            <a:avLst>
              <a:gd name="adj" fmla="val 10000"/>
            </a:avLst>
          </a:prstGeom>
          <a:solidFill>
            <a:srgbClr val="F2F6FA"/>
          </a:solidFill>
          <a:ln/>
          <a:effectLst>
            <a:outerShdw blurRad="101600" dist="38100" dir="2700000" algn="bl" rotWithShape="0">
              <a:srgbClr val="000000">
                <a:alpha val="12000"/>
              </a:srgbClr>
            </a:outerShdw>
          </a:effectLst>
        </p:spPr>
      </p:sp>
      <p:sp>
        <p:nvSpPr>
          <p:cNvPr id="9" name="Shape 7"/>
          <p:cNvSpPr/>
          <p:nvPr/>
        </p:nvSpPr>
        <p:spPr>
          <a:xfrm>
            <a:off x="3264408" y="1216152"/>
            <a:ext cx="548640" cy="548640"/>
          </a:xfrm>
          <a:prstGeom prst="ellipse">
            <a:avLst/>
          </a:prstGeom>
          <a:solidFill>
            <a:srgbClr val="2E75B6"/>
          </a:solidFill>
          <a:ln/>
        </p:spPr>
      </p:sp>
      <p:sp>
        <p:nvSpPr>
          <p:cNvPr id="10" name="Text 8"/>
          <p:cNvSpPr/>
          <p:nvPr/>
        </p:nvSpPr>
        <p:spPr>
          <a:xfrm>
            <a:off x="3264408" y="1216152"/>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rPr>
              <a:t>5</a:t>
            </a:r>
            <a:endParaRPr lang="en-US" sz="1800" dirty="0"/>
          </a:p>
        </p:txBody>
      </p:sp>
      <p:sp>
        <p:nvSpPr>
          <p:cNvPr id="11" name="Text 9"/>
          <p:cNvSpPr/>
          <p:nvPr/>
        </p:nvSpPr>
        <p:spPr>
          <a:xfrm>
            <a:off x="3904488" y="1280160"/>
            <a:ext cx="1828800" cy="457200"/>
          </a:xfrm>
          <a:prstGeom prst="rect">
            <a:avLst/>
          </a:prstGeom>
          <a:noFill/>
          <a:ln/>
        </p:spPr>
        <p:txBody>
          <a:bodyPr wrap="square" rtlCol="0" anchor="ctr"/>
          <a:lstStyle/>
          <a:p>
            <a:pPr marL="0" indent="0">
              <a:buNone/>
            </a:pPr>
            <a:r>
              <a:rPr lang="en-US" sz="1100" dirty="0">
                <a:solidFill>
                  <a:srgbClr val="1F4E79"/>
                </a:solidFill>
              </a:rPr>
              <a:t>Date-based queries</a:t>
            </a:r>
            <a:endParaRPr lang="en-US" sz="1100" dirty="0"/>
          </a:p>
        </p:txBody>
      </p:sp>
      <p:sp>
        <p:nvSpPr>
          <p:cNvPr id="12" name="Shape 10"/>
          <p:cNvSpPr/>
          <p:nvPr/>
        </p:nvSpPr>
        <p:spPr>
          <a:xfrm>
            <a:off x="6035040" y="1051560"/>
            <a:ext cx="2697480" cy="914400"/>
          </a:xfrm>
          <a:prstGeom prst="roundRect">
            <a:avLst>
              <a:gd name="adj" fmla="val 10000"/>
            </a:avLst>
          </a:prstGeom>
          <a:solidFill>
            <a:srgbClr val="F2F6FA"/>
          </a:solidFill>
          <a:ln/>
          <a:effectLst>
            <a:outerShdw blurRad="101600" dist="38100" dir="2700000" algn="bl" rotWithShape="0">
              <a:srgbClr val="000000">
                <a:alpha val="12000"/>
              </a:srgbClr>
            </a:outerShdw>
          </a:effectLst>
        </p:spPr>
      </p:sp>
      <p:sp>
        <p:nvSpPr>
          <p:cNvPr id="13" name="Shape 11"/>
          <p:cNvSpPr/>
          <p:nvPr/>
        </p:nvSpPr>
        <p:spPr>
          <a:xfrm>
            <a:off x="6144768" y="1216152"/>
            <a:ext cx="548640" cy="548640"/>
          </a:xfrm>
          <a:prstGeom prst="ellipse">
            <a:avLst/>
          </a:prstGeom>
          <a:solidFill>
            <a:srgbClr val="028090"/>
          </a:solidFill>
          <a:ln/>
        </p:spPr>
      </p:sp>
      <p:sp>
        <p:nvSpPr>
          <p:cNvPr id="14" name="Text 12"/>
          <p:cNvSpPr/>
          <p:nvPr/>
        </p:nvSpPr>
        <p:spPr>
          <a:xfrm>
            <a:off x="6144768" y="1216152"/>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rPr>
              <a:t>5</a:t>
            </a:r>
            <a:endParaRPr lang="en-US" sz="1800" dirty="0"/>
          </a:p>
        </p:txBody>
      </p:sp>
      <p:sp>
        <p:nvSpPr>
          <p:cNvPr id="15" name="Text 13"/>
          <p:cNvSpPr/>
          <p:nvPr/>
        </p:nvSpPr>
        <p:spPr>
          <a:xfrm>
            <a:off x="6784848" y="1280160"/>
            <a:ext cx="1828800" cy="457200"/>
          </a:xfrm>
          <a:prstGeom prst="rect">
            <a:avLst/>
          </a:prstGeom>
          <a:noFill/>
          <a:ln/>
        </p:spPr>
        <p:txBody>
          <a:bodyPr wrap="square" rtlCol="0" anchor="ctr"/>
          <a:lstStyle/>
          <a:p>
            <a:pPr marL="0" indent="0">
              <a:buNone/>
            </a:pPr>
            <a:r>
              <a:rPr lang="en-US" sz="1100" dirty="0">
                <a:solidFill>
                  <a:srgbClr val="1F4E79"/>
                </a:solidFill>
              </a:rPr>
              <a:t>Category queries</a:t>
            </a:r>
            <a:endParaRPr lang="en-US" sz="1100" dirty="0"/>
          </a:p>
        </p:txBody>
      </p:sp>
      <p:sp>
        <p:nvSpPr>
          <p:cNvPr id="16" name="Shape 14"/>
          <p:cNvSpPr/>
          <p:nvPr/>
        </p:nvSpPr>
        <p:spPr>
          <a:xfrm>
            <a:off x="274320" y="2103120"/>
            <a:ext cx="2697480" cy="914400"/>
          </a:xfrm>
          <a:prstGeom prst="roundRect">
            <a:avLst>
              <a:gd name="adj" fmla="val 10000"/>
            </a:avLst>
          </a:prstGeom>
          <a:solidFill>
            <a:srgbClr val="F2F6FA"/>
          </a:solidFill>
          <a:ln/>
          <a:effectLst>
            <a:outerShdw blurRad="101600" dist="38100" dir="2700000" algn="bl" rotWithShape="0">
              <a:srgbClr val="000000">
                <a:alpha val="12000"/>
              </a:srgbClr>
            </a:outerShdw>
          </a:effectLst>
        </p:spPr>
      </p:sp>
      <p:sp>
        <p:nvSpPr>
          <p:cNvPr id="17" name="Shape 15"/>
          <p:cNvSpPr/>
          <p:nvPr/>
        </p:nvSpPr>
        <p:spPr>
          <a:xfrm>
            <a:off x="384048" y="2267712"/>
            <a:ext cx="548640" cy="548640"/>
          </a:xfrm>
          <a:prstGeom prst="ellipse">
            <a:avLst/>
          </a:prstGeom>
          <a:solidFill>
            <a:srgbClr val="1F4E79"/>
          </a:solidFill>
          <a:ln/>
        </p:spPr>
      </p:sp>
      <p:sp>
        <p:nvSpPr>
          <p:cNvPr id="18" name="Text 16"/>
          <p:cNvSpPr/>
          <p:nvPr/>
        </p:nvSpPr>
        <p:spPr>
          <a:xfrm>
            <a:off x="384048" y="2267712"/>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rPr>
              <a:t>4</a:t>
            </a:r>
            <a:endParaRPr lang="en-US" sz="1800" dirty="0"/>
          </a:p>
        </p:txBody>
      </p:sp>
      <p:sp>
        <p:nvSpPr>
          <p:cNvPr id="19" name="Text 17"/>
          <p:cNvSpPr/>
          <p:nvPr/>
        </p:nvSpPr>
        <p:spPr>
          <a:xfrm>
            <a:off x="1024128" y="2331720"/>
            <a:ext cx="1828800" cy="457200"/>
          </a:xfrm>
          <a:prstGeom prst="rect">
            <a:avLst/>
          </a:prstGeom>
          <a:noFill/>
          <a:ln/>
        </p:spPr>
        <p:txBody>
          <a:bodyPr wrap="square" rtlCol="0" anchor="ctr"/>
          <a:lstStyle/>
          <a:p>
            <a:pPr marL="0" indent="0">
              <a:buNone/>
            </a:pPr>
            <a:r>
              <a:rPr lang="en-US" sz="1100" dirty="0">
                <a:solidFill>
                  <a:srgbClr val="1F4E79"/>
                </a:solidFill>
              </a:rPr>
              <a:t>Venue-based queries</a:t>
            </a:r>
            <a:endParaRPr lang="en-US" sz="1100" dirty="0"/>
          </a:p>
        </p:txBody>
      </p:sp>
      <p:sp>
        <p:nvSpPr>
          <p:cNvPr id="20" name="Shape 18"/>
          <p:cNvSpPr/>
          <p:nvPr/>
        </p:nvSpPr>
        <p:spPr>
          <a:xfrm>
            <a:off x="3154680" y="2103120"/>
            <a:ext cx="2697480" cy="914400"/>
          </a:xfrm>
          <a:prstGeom prst="roundRect">
            <a:avLst>
              <a:gd name="adj" fmla="val 10000"/>
            </a:avLst>
          </a:prstGeom>
          <a:solidFill>
            <a:srgbClr val="F2F6FA"/>
          </a:solidFill>
          <a:ln/>
          <a:effectLst>
            <a:outerShdw blurRad="101600" dist="38100" dir="2700000" algn="bl" rotWithShape="0">
              <a:srgbClr val="000000">
                <a:alpha val="12000"/>
              </a:srgbClr>
            </a:outerShdw>
          </a:effectLst>
        </p:spPr>
      </p:sp>
      <p:sp>
        <p:nvSpPr>
          <p:cNvPr id="21" name="Shape 19"/>
          <p:cNvSpPr/>
          <p:nvPr/>
        </p:nvSpPr>
        <p:spPr>
          <a:xfrm>
            <a:off x="3264408" y="2267712"/>
            <a:ext cx="548640" cy="548640"/>
          </a:xfrm>
          <a:prstGeom prst="ellipse">
            <a:avLst/>
          </a:prstGeom>
          <a:solidFill>
            <a:srgbClr val="2E75B6"/>
          </a:solidFill>
          <a:ln/>
        </p:spPr>
      </p:sp>
      <p:sp>
        <p:nvSpPr>
          <p:cNvPr id="22" name="Text 20"/>
          <p:cNvSpPr/>
          <p:nvPr/>
        </p:nvSpPr>
        <p:spPr>
          <a:xfrm>
            <a:off x="3264408" y="2267712"/>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rPr>
              <a:t>5</a:t>
            </a:r>
            <a:endParaRPr lang="en-US" sz="1800" dirty="0"/>
          </a:p>
        </p:txBody>
      </p:sp>
      <p:sp>
        <p:nvSpPr>
          <p:cNvPr id="23" name="Text 21"/>
          <p:cNvSpPr/>
          <p:nvPr/>
        </p:nvSpPr>
        <p:spPr>
          <a:xfrm>
            <a:off x="3904488" y="2331720"/>
            <a:ext cx="1828800" cy="457200"/>
          </a:xfrm>
          <a:prstGeom prst="rect">
            <a:avLst/>
          </a:prstGeom>
          <a:noFill/>
          <a:ln/>
        </p:spPr>
        <p:txBody>
          <a:bodyPr wrap="square" rtlCol="0" anchor="ctr"/>
          <a:lstStyle/>
          <a:p>
            <a:pPr marL="0" indent="0">
              <a:buNone/>
            </a:pPr>
            <a:r>
              <a:rPr lang="en-US" sz="1100" dirty="0">
                <a:solidFill>
                  <a:srgbClr val="1F4E79"/>
                </a:solidFill>
              </a:rPr>
              <a:t>Out of scope</a:t>
            </a:r>
            <a:endParaRPr lang="en-US" sz="1100" dirty="0"/>
          </a:p>
        </p:txBody>
      </p:sp>
      <p:sp>
        <p:nvSpPr>
          <p:cNvPr id="24" name="Shape 22"/>
          <p:cNvSpPr/>
          <p:nvPr/>
        </p:nvSpPr>
        <p:spPr>
          <a:xfrm>
            <a:off x="6035040" y="2103120"/>
            <a:ext cx="2697480" cy="914400"/>
          </a:xfrm>
          <a:prstGeom prst="roundRect">
            <a:avLst>
              <a:gd name="adj" fmla="val 10000"/>
            </a:avLst>
          </a:prstGeom>
          <a:solidFill>
            <a:srgbClr val="F2F6FA"/>
          </a:solidFill>
          <a:ln/>
          <a:effectLst>
            <a:outerShdw blurRad="101600" dist="38100" dir="2700000" algn="bl" rotWithShape="0">
              <a:srgbClr val="000000">
                <a:alpha val="12000"/>
              </a:srgbClr>
            </a:outerShdw>
          </a:effectLst>
        </p:spPr>
      </p:sp>
      <p:sp>
        <p:nvSpPr>
          <p:cNvPr id="25" name="Shape 23"/>
          <p:cNvSpPr/>
          <p:nvPr/>
        </p:nvSpPr>
        <p:spPr>
          <a:xfrm>
            <a:off x="6144768" y="2267712"/>
            <a:ext cx="548640" cy="548640"/>
          </a:xfrm>
          <a:prstGeom prst="ellipse">
            <a:avLst/>
          </a:prstGeom>
          <a:solidFill>
            <a:srgbClr val="028090"/>
          </a:solidFill>
          <a:ln/>
        </p:spPr>
      </p:sp>
      <p:sp>
        <p:nvSpPr>
          <p:cNvPr id="26" name="Text 24"/>
          <p:cNvSpPr/>
          <p:nvPr/>
        </p:nvSpPr>
        <p:spPr>
          <a:xfrm>
            <a:off x="6144768" y="2267712"/>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rPr>
              <a:t>5</a:t>
            </a:r>
            <a:endParaRPr lang="en-US" sz="1800" dirty="0"/>
          </a:p>
        </p:txBody>
      </p:sp>
      <p:sp>
        <p:nvSpPr>
          <p:cNvPr id="27" name="Text 25"/>
          <p:cNvSpPr/>
          <p:nvPr/>
        </p:nvSpPr>
        <p:spPr>
          <a:xfrm>
            <a:off x="6784848" y="2331720"/>
            <a:ext cx="1828800" cy="457200"/>
          </a:xfrm>
          <a:prstGeom prst="rect">
            <a:avLst/>
          </a:prstGeom>
          <a:noFill/>
          <a:ln/>
        </p:spPr>
        <p:txBody>
          <a:bodyPr wrap="square" rtlCol="0" anchor="ctr"/>
          <a:lstStyle/>
          <a:p>
            <a:pPr marL="0" indent="0">
              <a:buNone/>
            </a:pPr>
            <a:r>
              <a:rPr lang="en-US" sz="1100" dirty="0">
                <a:solidFill>
                  <a:srgbClr val="1F4E79"/>
                </a:solidFill>
              </a:rPr>
              <a:t>No match</a:t>
            </a:r>
            <a:endParaRPr lang="en-US" sz="1100" dirty="0"/>
          </a:p>
        </p:txBody>
      </p:sp>
      <p:sp>
        <p:nvSpPr>
          <p:cNvPr id="28" name="Shape 26"/>
          <p:cNvSpPr/>
          <p:nvPr/>
        </p:nvSpPr>
        <p:spPr>
          <a:xfrm>
            <a:off x="274320" y="3246120"/>
            <a:ext cx="8595360" cy="1691640"/>
          </a:xfrm>
          <a:prstGeom prst="roundRect">
            <a:avLst>
              <a:gd name="adj" fmla="val 5405"/>
            </a:avLst>
          </a:prstGeom>
          <a:solidFill>
            <a:srgbClr val="F2F6FA"/>
          </a:solidFill>
          <a:ln/>
          <a:effectLst>
            <a:outerShdw blurRad="101600" dist="38100" dir="2700000" algn="bl" rotWithShape="0">
              <a:srgbClr val="000000">
                <a:alpha val="12000"/>
              </a:srgbClr>
            </a:outerShdw>
          </a:effectLst>
        </p:spPr>
      </p:sp>
      <p:sp>
        <p:nvSpPr>
          <p:cNvPr id="29" name="Text 27"/>
          <p:cNvSpPr/>
          <p:nvPr/>
        </p:nvSpPr>
        <p:spPr>
          <a:xfrm>
            <a:off x="457200" y="3337560"/>
            <a:ext cx="8229600" cy="320040"/>
          </a:xfrm>
          <a:prstGeom prst="rect">
            <a:avLst/>
          </a:prstGeom>
          <a:noFill/>
          <a:ln/>
        </p:spPr>
        <p:txBody>
          <a:bodyPr wrap="square" rtlCol="0" anchor="ctr"/>
          <a:lstStyle/>
          <a:p>
            <a:pPr marL="0" indent="0">
              <a:buNone/>
            </a:pPr>
            <a:r>
              <a:rPr lang="en-US" sz="1200" b="1" kern="0" spc="200" dirty="0">
                <a:solidFill>
                  <a:srgbClr val="1F4E79"/>
                </a:solidFill>
              </a:rPr>
              <a:t>RAGAS METRICS</a:t>
            </a:r>
            <a:endParaRPr lang="en-US" sz="1200" dirty="0"/>
          </a:p>
        </p:txBody>
      </p:sp>
      <p:sp>
        <p:nvSpPr>
          <p:cNvPr id="30" name="Shape 28"/>
          <p:cNvSpPr/>
          <p:nvPr/>
        </p:nvSpPr>
        <p:spPr>
          <a:xfrm>
            <a:off x="457200" y="3703320"/>
            <a:ext cx="1965960" cy="1097280"/>
          </a:xfrm>
          <a:prstGeom prst="roundRect">
            <a:avLst>
              <a:gd name="adj" fmla="val 6667"/>
            </a:avLst>
          </a:prstGeom>
          <a:solidFill>
            <a:srgbClr val="FFFFFF"/>
          </a:solidFill>
          <a:ln/>
        </p:spPr>
      </p:sp>
      <p:sp>
        <p:nvSpPr>
          <p:cNvPr id="31" name="Text 29"/>
          <p:cNvSpPr/>
          <p:nvPr/>
        </p:nvSpPr>
        <p:spPr>
          <a:xfrm>
            <a:off x="457200" y="3749040"/>
            <a:ext cx="1965960" cy="320040"/>
          </a:xfrm>
          <a:prstGeom prst="rect">
            <a:avLst/>
          </a:prstGeom>
          <a:noFill/>
          <a:ln/>
        </p:spPr>
        <p:txBody>
          <a:bodyPr wrap="square" rtlCol="0" anchor="ctr"/>
          <a:lstStyle/>
          <a:p>
            <a:pPr marL="0" indent="0" algn="ctr">
              <a:buNone/>
            </a:pPr>
            <a:r>
              <a:rPr lang="en-US" sz="1000" b="1" dirty="0">
                <a:solidFill>
                  <a:srgbClr val="2E75B6"/>
                </a:solidFill>
              </a:rPr>
              <a:t>faithfulness</a:t>
            </a:r>
            <a:endParaRPr lang="en-US" sz="1000" dirty="0"/>
          </a:p>
        </p:txBody>
      </p:sp>
      <p:sp>
        <p:nvSpPr>
          <p:cNvPr id="32" name="Text 30"/>
          <p:cNvSpPr/>
          <p:nvPr/>
        </p:nvSpPr>
        <p:spPr>
          <a:xfrm>
            <a:off x="457200" y="4096512"/>
            <a:ext cx="1965960" cy="411480"/>
          </a:xfrm>
          <a:prstGeom prst="rect">
            <a:avLst/>
          </a:prstGeom>
          <a:noFill/>
          <a:ln/>
        </p:spPr>
        <p:txBody>
          <a:bodyPr wrap="square" rtlCol="0" anchor="ctr"/>
          <a:lstStyle/>
          <a:p>
            <a:pPr marL="0" indent="0" algn="ctr">
              <a:buNone/>
            </a:pPr>
            <a:r>
              <a:rPr lang="en-US" sz="900" dirty="0">
                <a:solidFill>
                  <a:srgbClr val="5D6D7E"/>
                </a:solidFill>
              </a:rPr>
              <a:t>Response grounded in context?</a:t>
            </a:r>
            <a:endParaRPr lang="en-US" sz="900" dirty="0"/>
          </a:p>
        </p:txBody>
      </p:sp>
      <p:sp>
        <p:nvSpPr>
          <p:cNvPr id="33" name="Text 31"/>
          <p:cNvSpPr/>
          <p:nvPr/>
        </p:nvSpPr>
        <p:spPr>
          <a:xfrm>
            <a:off x="457200" y="4544568"/>
            <a:ext cx="1965960" cy="228600"/>
          </a:xfrm>
          <a:prstGeom prst="rect">
            <a:avLst/>
          </a:prstGeom>
          <a:noFill/>
          <a:ln/>
        </p:spPr>
        <p:txBody>
          <a:bodyPr wrap="square" rtlCol="0" anchor="ctr"/>
          <a:lstStyle/>
          <a:p>
            <a:pPr marL="0" indent="0" algn="ctr">
              <a:buNone/>
            </a:pPr>
            <a:r>
              <a:rPr lang="en-US" sz="1000" b="1" dirty="0">
                <a:solidFill>
                  <a:srgbClr val="028090"/>
                </a:solidFill>
              </a:rPr>
              <a:t>&gt; 0.80</a:t>
            </a:r>
            <a:endParaRPr lang="en-US" sz="1000" dirty="0"/>
          </a:p>
        </p:txBody>
      </p:sp>
      <p:sp>
        <p:nvSpPr>
          <p:cNvPr id="34" name="Shape 32"/>
          <p:cNvSpPr/>
          <p:nvPr/>
        </p:nvSpPr>
        <p:spPr>
          <a:xfrm>
            <a:off x="2578608" y="3703320"/>
            <a:ext cx="1965960" cy="1097280"/>
          </a:xfrm>
          <a:prstGeom prst="roundRect">
            <a:avLst>
              <a:gd name="adj" fmla="val 6667"/>
            </a:avLst>
          </a:prstGeom>
          <a:solidFill>
            <a:srgbClr val="FFFFFF"/>
          </a:solidFill>
          <a:ln/>
        </p:spPr>
      </p:sp>
      <p:sp>
        <p:nvSpPr>
          <p:cNvPr id="35" name="Text 33"/>
          <p:cNvSpPr/>
          <p:nvPr/>
        </p:nvSpPr>
        <p:spPr>
          <a:xfrm>
            <a:off x="2578608" y="3749040"/>
            <a:ext cx="1965960" cy="320040"/>
          </a:xfrm>
          <a:prstGeom prst="rect">
            <a:avLst/>
          </a:prstGeom>
          <a:noFill/>
          <a:ln/>
        </p:spPr>
        <p:txBody>
          <a:bodyPr wrap="square" rtlCol="0" anchor="ctr"/>
          <a:lstStyle/>
          <a:p>
            <a:pPr marL="0" indent="0" algn="ctr">
              <a:buNone/>
            </a:pPr>
            <a:r>
              <a:rPr lang="en-US" sz="1000" b="1" dirty="0">
                <a:solidFill>
                  <a:srgbClr val="2E75B6"/>
                </a:solidFill>
              </a:rPr>
              <a:t>answer_relevancy</a:t>
            </a:r>
            <a:endParaRPr lang="en-US" sz="1000" dirty="0"/>
          </a:p>
        </p:txBody>
      </p:sp>
      <p:sp>
        <p:nvSpPr>
          <p:cNvPr id="36" name="Text 34"/>
          <p:cNvSpPr/>
          <p:nvPr/>
        </p:nvSpPr>
        <p:spPr>
          <a:xfrm>
            <a:off x="2578608" y="4096512"/>
            <a:ext cx="1965960" cy="411480"/>
          </a:xfrm>
          <a:prstGeom prst="rect">
            <a:avLst/>
          </a:prstGeom>
          <a:noFill/>
          <a:ln/>
        </p:spPr>
        <p:txBody>
          <a:bodyPr wrap="square" rtlCol="0" anchor="ctr"/>
          <a:lstStyle/>
          <a:p>
            <a:pPr marL="0" indent="0" algn="ctr">
              <a:buNone/>
            </a:pPr>
            <a:r>
              <a:rPr lang="en-US" sz="900" dirty="0">
                <a:solidFill>
                  <a:srgbClr val="5D6D7E"/>
                </a:solidFill>
              </a:rPr>
              <a:t>Response relevant to the question?</a:t>
            </a:r>
            <a:endParaRPr lang="en-US" sz="900" dirty="0"/>
          </a:p>
        </p:txBody>
      </p:sp>
      <p:sp>
        <p:nvSpPr>
          <p:cNvPr id="37" name="Text 35"/>
          <p:cNvSpPr/>
          <p:nvPr/>
        </p:nvSpPr>
        <p:spPr>
          <a:xfrm>
            <a:off x="2578608" y="4544568"/>
            <a:ext cx="1965960" cy="228600"/>
          </a:xfrm>
          <a:prstGeom prst="rect">
            <a:avLst/>
          </a:prstGeom>
          <a:noFill/>
          <a:ln/>
        </p:spPr>
        <p:txBody>
          <a:bodyPr wrap="square" rtlCol="0" anchor="ctr"/>
          <a:lstStyle/>
          <a:p>
            <a:pPr marL="0" indent="0" algn="ctr">
              <a:buNone/>
            </a:pPr>
            <a:r>
              <a:rPr lang="en-US" sz="1000" b="1" dirty="0">
                <a:solidFill>
                  <a:srgbClr val="028090"/>
                </a:solidFill>
              </a:rPr>
              <a:t>&gt; 0.75</a:t>
            </a:r>
            <a:endParaRPr lang="en-US" sz="1000" dirty="0"/>
          </a:p>
        </p:txBody>
      </p:sp>
      <p:sp>
        <p:nvSpPr>
          <p:cNvPr id="38" name="Shape 36"/>
          <p:cNvSpPr/>
          <p:nvPr/>
        </p:nvSpPr>
        <p:spPr>
          <a:xfrm>
            <a:off x="4700016" y="3703320"/>
            <a:ext cx="1965960" cy="1097280"/>
          </a:xfrm>
          <a:prstGeom prst="roundRect">
            <a:avLst>
              <a:gd name="adj" fmla="val 6667"/>
            </a:avLst>
          </a:prstGeom>
          <a:solidFill>
            <a:srgbClr val="FFFFFF"/>
          </a:solidFill>
          <a:ln/>
        </p:spPr>
      </p:sp>
      <p:sp>
        <p:nvSpPr>
          <p:cNvPr id="39" name="Text 37"/>
          <p:cNvSpPr/>
          <p:nvPr/>
        </p:nvSpPr>
        <p:spPr>
          <a:xfrm>
            <a:off x="4700016" y="3749040"/>
            <a:ext cx="1965960" cy="320040"/>
          </a:xfrm>
          <a:prstGeom prst="rect">
            <a:avLst/>
          </a:prstGeom>
          <a:noFill/>
          <a:ln/>
        </p:spPr>
        <p:txBody>
          <a:bodyPr wrap="square" rtlCol="0" anchor="ctr"/>
          <a:lstStyle/>
          <a:p>
            <a:pPr marL="0" indent="0" algn="ctr">
              <a:buNone/>
            </a:pPr>
            <a:r>
              <a:rPr lang="en-US" sz="1000" b="1" dirty="0">
                <a:solidFill>
                  <a:srgbClr val="2E75B6"/>
                </a:solidFill>
              </a:rPr>
              <a:t>context_precision</a:t>
            </a:r>
            <a:endParaRPr lang="en-US" sz="1000" dirty="0"/>
          </a:p>
        </p:txBody>
      </p:sp>
      <p:sp>
        <p:nvSpPr>
          <p:cNvPr id="40" name="Text 38"/>
          <p:cNvSpPr/>
          <p:nvPr/>
        </p:nvSpPr>
        <p:spPr>
          <a:xfrm>
            <a:off x="4700016" y="4096512"/>
            <a:ext cx="1965960" cy="411480"/>
          </a:xfrm>
          <a:prstGeom prst="rect">
            <a:avLst/>
          </a:prstGeom>
          <a:noFill/>
          <a:ln/>
        </p:spPr>
        <p:txBody>
          <a:bodyPr wrap="square" rtlCol="0" anchor="ctr"/>
          <a:lstStyle/>
          <a:p>
            <a:pPr marL="0" indent="0" algn="ctr">
              <a:buNone/>
            </a:pPr>
            <a:r>
              <a:rPr lang="en-US" sz="900" dirty="0">
                <a:solidFill>
                  <a:srgbClr val="5D6D7E"/>
                </a:solidFill>
              </a:rPr>
              <a:t>Retrieved chunks noise-free?</a:t>
            </a:r>
            <a:endParaRPr lang="en-US" sz="900" dirty="0"/>
          </a:p>
        </p:txBody>
      </p:sp>
      <p:sp>
        <p:nvSpPr>
          <p:cNvPr id="41" name="Text 39"/>
          <p:cNvSpPr/>
          <p:nvPr/>
        </p:nvSpPr>
        <p:spPr>
          <a:xfrm>
            <a:off x="4700016" y="4544568"/>
            <a:ext cx="1965960" cy="228600"/>
          </a:xfrm>
          <a:prstGeom prst="rect">
            <a:avLst/>
          </a:prstGeom>
          <a:noFill/>
          <a:ln/>
        </p:spPr>
        <p:txBody>
          <a:bodyPr wrap="square" rtlCol="0" anchor="ctr"/>
          <a:lstStyle/>
          <a:p>
            <a:pPr marL="0" indent="0" algn="ctr">
              <a:buNone/>
            </a:pPr>
            <a:r>
              <a:rPr lang="en-US" sz="1000" b="1" dirty="0">
                <a:solidFill>
                  <a:srgbClr val="028090"/>
                </a:solidFill>
              </a:rPr>
              <a:t>&gt; 0.70</a:t>
            </a:r>
            <a:endParaRPr lang="en-US" sz="1000" dirty="0"/>
          </a:p>
        </p:txBody>
      </p:sp>
      <p:sp>
        <p:nvSpPr>
          <p:cNvPr id="42" name="Shape 40"/>
          <p:cNvSpPr/>
          <p:nvPr/>
        </p:nvSpPr>
        <p:spPr>
          <a:xfrm>
            <a:off x="6821424" y="3703320"/>
            <a:ext cx="1965960" cy="1097280"/>
          </a:xfrm>
          <a:prstGeom prst="roundRect">
            <a:avLst>
              <a:gd name="adj" fmla="val 6667"/>
            </a:avLst>
          </a:prstGeom>
          <a:solidFill>
            <a:srgbClr val="FFFFFF"/>
          </a:solidFill>
          <a:ln/>
        </p:spPr>
      </p:sp>
      <p:sp>
        <p:nvSpPr>
          <p:cNvPr id="43" name="Text 41"/>
          <p:cNvSpPr/>
          <p:nvPr/>
        </p:nvSpPr>
        <p:spPr>
          <a:xfrm>
            <a:off x="6821424" y="3749040"/>
            <a:ext cx="1965960" cy="320040"/>
          </a:xfrm>
          <a:prstGeom prst="rect">
            <a:avLst/>
          </a:prstGeom>
          <a:noFill/>
          <a:ln/>
        </p:spPr>
        <p:txBody>
          <a:bodyPr wrap="square" rtlCol="0" anchor="ctr"/>
          <a:lstStyle/>
          <a:p>
            <a:pPr marL="0" indent="0" algn="ctr">
              <a:buNone/>
            </a:pPr>
            <a:r>
              <a:rPr lang="en-US" sz="1000" b="1" dirty="0">
                <a:solidFill>
                  <a:srgbClr val="2E75B6"/>
                </a:solidFill>
              </a:rPr>
              <a:t>context_recall</a:t>
            </a:r>
            <a:endParaRPr lang="en-US" sz="1000" dirty="0"/>
          </a:p>
        </p:txBody>
      </p:sp>
      <p:sp>
        <p:nvSpPr>
          <p:cNvPr id="44" name="Text 42"/>
          <p:cNvSpPr/>
          <p:nvPr/>
        </p:nvSpPr>
        <p:spPr>
          <a:xfrm>
            <a:off x="6821424" y="4096512"/>
            <a:ext cx="1965960" cy="411480"/>
          </a:xfrm>
          <a:prstGeom prst="rect">
            <a:avLst/>
          </a:prstGeom>
          <a:noFill/>
          <a:ln/>
        </p:spPr>
        <p:txBody>
          <a:bodyPr wrap="square" rtlCol="0" anchor="ctr"/>
          <a:lstStyle/>
          <a:p>
            <a:pPr marL="0" indent="0" algn="ctr">
              <a:buNone/>
            </a:pPr>
            <a:r>
              <a:rPr lang="en-US" sz="900" dirty="0">
                <a:solidFill>
                  <a:srgbClr val="5D6D7E"/>
                </a:solidFill>
              </a:rPr>
              <a:t>All necessary info retrieved?</a:t>
            </a:r>
            <a:endParaRPr lang="en-US" sz="900" dirty="0"/>
          </a:p>
        </p:txBody>
      </p:sp>
      <p:sp>
        <p:nvSpPr>
          <p:cNvPr id="45" name="Text 43"/>
          <p:cNvSpPr/>
          <p:nvPr/>
        </p:nvSpPr>
        <p:spPr>
          <a:xfrm>
            <a:off x="6821424" y="4544568"/>
            <a:ext cx="1965960" cy="228600"/>
          </a:xfrm>
          <a:prstGeom prst="rect">
            <a:avLst/>
          </a:prstGeom>
          <a:noFill/>
          <a:ln/>
        </p:spPr>
        <p:txBody>
          <a:bodyPr wrap="square" rtlCol="0" anchor="ctr"/>
          <a:lstStyle/>
          <a:p>
            <a:pPr marL="0" indent="0" algn="ctr">
              <a:buNone/>
            </a:pPr>
            <a:r>
              <a:rPr lang="en-US" sz="1000" b="1" dirty="0">
                <a:solidFill>
                  <a:srgbClr val="028090"/>
                </a:solidFill>
              </a:rPr>
              <a:t>&gt; 0.70</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F4E79"/>
          </a:solidFill>
          <a:ln/>
        </p:spPr>
      </p:sp>
      <p:sp>
        <p:nvSpPr>
          <p:cNvPr id="3" name="Text 1"/>
          <p:cNvSpPr/>
          <p:nvPr/>
        </p:nvSpPr>
        <p:spPr>
          <a:xfrm>
            <a:off x="365760" y="0"/>
            <a:ext cx="8412480" cy="914400"/>
          </a:xfrm>
          <a:prstGeom prst="rect">
            <a:avLst/>
          </a:prstGeom>
          <a:noFill/>
          <a:ln/>
        </p:spPr>
        <p:txBody>
          <a:bodyPr wrap="square" rtlCol="0" anchor="ctr"/>
          <a:lstStyle/>
          <a:p>
            <a:pPr marL="0" indent="0">
              <a:buNone/>
            </a:pPr>
            <a:r>
              <a:rPr lang="en-US" sz="2000" b="1" dirty="0">
                <a:solidFill>
                  <a:srgbClr val="FFFFFF"/>
                </a:solidFill>
              </a:rPr>
              <a:t>POC LIMITATIONS  &amp;  PRODUCTION RECOMMENDATIONS</a:t>
            </a:r>
            <a:endParaRPr lang="en-US" sz="2000" dirty="0"/>
          </a:p>
        </p:txBody>
      </p:sp>
      <p:sp>
        <p:nvSpPr>
          <p:cNvPr id="4" name="Shape 2"/>
          <p:cNvSpPr/>
          <p:nvPr/>
        </p:nvSpPr>
        <p:spPr>
          <a:xfrm>
            <a:off x="274320" y="1005840"/>
            <a:ext cx="4023360" cy="3931920"/>
          </a:xfrm>
          <a:prstGeom prst="roundRect">
            <a:avLst>
              <a:gd name="adj" fmla="val 2791"/>
            </a:avLst>
          </a:prstGeom>
          <a:solidFill>
            <a:srgbClr val="F2F6FA"/>
          </a:solidFill>
          <a:ln/>
          <a:effectLst>
            <a:outerShdw blurRad="101600" dist="38100" dir="2700000" algn="bl" rotWithShape="0">
              <a:srgbClr val="000000">
                <a:alpha val="12000"/>
              </a:srgbClr>
            </a:outerShdw>
          </a:effectLst>
        </p:spPr>
      </p:sp>
      <p:sp>
        <p:nvSpPr>
          <p:cNvPr id="5" name="Text 3"/>
          <p:cNvSpPr/>
          <p:nvPr/>
        </p:nvSpPr>
        <p:spPr>
          <a:xfrm>
            <a:off x="457200" y="1097280"/>
            <a:ext cx="3657600" cy="411480"/>
          </a:xfrm>
          <a:prstGeom prst="rect">
            <a:avLst/>
          </a:prstGeom>
          <a:noFill/>
          <a:ln/>
        </p:spPr>
        <p:txBody>
          <a:bodyPr wrap="square" rtlCol="0" anchor="ctr"/>
          <a:lstStyle/>
          <a:p>
            <a:pPr marL="0" indent="0">
              <a:buNone/>
            </a:pPr>
            <a:r>
              <a:rPr lang="en-US" sz="1400" b="1" dirty="0">
                <a:solidFill>
                  <a:srgbClr val="1F4E79"/>
                </a:solidFill>
              </a:rPr>
              <a:t>Current limitations</a:t>
            </a:r>
            <a:endParaRPr lang="en-US" sz="1400" dirty="0"/>
          </a:p>
        </p:txBody>
      </p:sp>
      <p:sp>
        <p:nvSpPr>
          <p:cNvPr id="6" name="Text 4"/>
          <p:cNvSpPr/>
          <p:nvPr/>
        </p:nvSpPr>
        <p:spPr>
          <a:xfrm>
            <a:off x="457200" y="1554480"/>
            <a:ext cx="3657600" cy="3200400"/>
          </a:xfrm>
          <a:prstGeom prst="rect">
            <a:avLst/>
          </a:prstGeom>
          <a:noFill/>
          <a:ln/>
        </p:spPr>
        <p:txBody>
          <a:bodyPr wrap="square" rtlCol="0" anchor="ctr"/>
          <a:lstStyle/>
          <a:p>
            <a:pPr marL="342900" indent="-342900">
              <a:buSzPct val="100000"/>
              <a:buChar char="•"/>
            </a:pPr>
            <a:r>
              <a:rPr lang="en-US" sz="1100" dirty="0">
                <a:solidFill>
                  <a:srgbClr val="5D6D7E"/>
                </a:solidFill>
              </a:rPr>
              <a:t>Single agenda source only</a:t>
            </a:r>
            <a:endParaRPr lang="en-US" sz="1100" dirty="0"/>
          </a:p>
          <a:p>
            <a:pPr marL="342900" indent="-342900">
              <a:buSzPct val="100000"/>
              <a:buChar char="•"/>
            </a:pPr>
            <a:r>
              <a:rPr lang="en-US" sz="1100" dirty="0">
                <a:solidFill>
                  <a:srgbClr val="5D6D7E"/>
                </a:solidFill>
              </a:rPr>
              <a:t>Manual pipeline, no scheduled refresh</a:t>
            </a:r>
            <a:endParaRPr lang="en-US" sz="1100" dirty="0"/>
          </a:p>
          <a:p>
            <a:pPr marL="342900" indent="-342900">
              <a:buSzPct val="100000"/>
              <a:buChar char="•"/>
            </a:pPr>
            <a:r>
              <a:rPr lang="en-US" sz="1100" dirty="0">
                <a:solidFill>
                  <a:srgbClr val="5D6D7E"/>
                </a:solidFill>
              </a:rPr>
              <a:t>Embedding 1,740 events takes ~17 min (free tier)</a:t>
            </a:r>
            <a:endParaRPr lang="en-US" sz="1100" dirty="0"/>
          </a:p>
          <a:p>
            <a:pPr marL="342900" indent="-342900">
              <a:buSzPct val="100000"/>
              <a:buChar char="•"/>
            </a:pPr>
            <a:r>
              <a:rPr lang="en-US" sz="1100" dirty="0">
                <a:solidFill>
                  <a:srgbClr val="5D6D7E"/>
                </a:solidFill>
              </a:rPr>
              <a:t>FAISS IndexFlatL2: not scalable beyond 100k vectors</a:t>
            </a:r>
            <a:endParaRPr lang="en-US" sz="1100" dirty="0"/>
          </a:p>
          <a:p>
            <a:pPr marL="342900" indent="-342900">
              <a:buSzPct val="100000"/>
              <a:buChar char="•"/>
            </a:pPr>
            <a:r>
              <a:rPr lang="en-US" sz="1100" dirty="0">
                <a:solidFill>
                  <a:srgbClr val="5D6D7E"/>
                </a:solidFill>
              </a:rPr>
              <a:t>No conversation history in RAG context</a:t>
            </a:r>
            <a:endParaRPr lang="en-US" sz="1100" dirty="0"/>
          </a:p>
          <a:p>
            <a:pPr marL="342900" indent="-342900">
              <a:buSzPct val="100000"/>
              <a:buChar char="•"/>
            </a:pPr>
            <a:r>
              <a:rPr lang="en-US" sz="1100" dirty="0">
                <a:solidFill>
                  <a:srgbClr val="5D6D7E"/>
                </a:solidFill>
              </a:rPr>
              <a:t>Static knowledge base between rebuilds</a:t>
            </a:r>
            <a:endParaRPr lang="en-US" sz="1100" dirty="0"/>
          </a:p>
        </p:txBody>
      </p:sp>
      <p:sp>
        <p:nvSpPr>
          <p:cNvPr id="7" name="Shape 5"/>
          <p:cNvSpPr/>
          <p:nvPr/>
        </p:nvSpPr>
        <p:spPr>
          <a:xfrm>
            <a:off x="4846320" y="1005840"/>
            <a:ext cx="4023360" cy="3931920"/>
          </a:xfrm>
          <a:prstGeom prst="roundRect">
            <a:avLst>
              <a:gd name="adj" fmla="val 2791"/>
            </a:avLst>
          </a:prstGeom>
          <a:solidFill>
            <a:srgbClr val="F2F6FA"/>
          </a:solidFill>
          <a:ln/>
          <a:effectLst>
            <a:outerShdw blurRad="101600" dist="38100" dir="2700000" algn="bl" rotWithShape="0">
              <a:srgbClr val="000000">
                <a:alpha val="12000"/>
              </a:srgbClr>
            </a:outerShdw>
          </a:effectLst>
        </p:spPr>
      </p:sp>
      <p:sp>
        <p:nvSpPr>
          <p:cNvPr id="8" name="Text 6"/>
          <p:cNvSpPr/>
          <p:nvPr/>
        </p:nvSpPr>
        <p:spPr>
          <a:xfrm>
            <a:off x="5029200" y="1097280"/>
            <a:ext cx="3657600" cy="411480"/>
          </a:xfrm>
          <a:prstGeom prst="rect">
            <a:avLst/>
          </a:prstGeom>
          <a:noFill/>
          <a:ln/>
        </p:spPr>
        <p:txBody>
          <a:bodyPr wrap="square" rtlCol="0" anchor="ctr"/>
          <a:lstStyle/>
          <a:p>
            <a:pPr marL="0" indent="0">
              <a:buNone/>
            </a:pPr>
            <a:r>
              <a:rPr lang="en-US" sz="1400" b="1" dirty="0">
                <a:solidFill>
                  <a:srgbClr val="028090"/>
                </a:solidFill>
              </a:rPr>
              <a:t>For production</a:t>
            </a:r>
            <a:endParaRPr lang="en-US" sz="1400" dirty="0"/>
          </a:p>
        </p:txBody>
      </p:sp>
      <p:sp>
        <p:nvSpPr>
          <p:cNvPr id="9" name="Text 7"/>
          <p:cNvSpPr/>
          <p:nvPr/>
        </p:nvSpPr>
        <p:spPr>
          <a:xfrm>
            <a:off x="5029200" y="1554480"/>
            <a:ext cx="3657600" cy="3200400"/>
          </a:xfrm>
          <a:prstGeom prst="rect">
            <a:avLst/>
          </a:prstGeom>
          <a:noFill/>
          <a:ln/>
        </p:spPr>
        <p:txBody>
          <a:bodyPr wrap="square" rtlCol="0" anchor="ctr"/>
          <a:lstStyle/>
          <a:p>
            <a:pPr marL="342900" indent="-342900">
              <a:buSzPct val="100000"/>
              <a:buChar char="•"/>
            </a:pPr>
            <a:r>
              <a:rPr lang="en-US" sz="1100" dirty="0">
                <a:solidFill>
                  <a:srgbClr val="5D6D7E"/>
                </a:solidFill>
              </a:rPr>
              <a:t>Scheduled pipeline (Airflow/Kestra): daily refresh</a:t>
            </a:r>
            <a:endParaRPr lang="en-US" sz="1100" dirty="0"/>
          </a:p>
          <a:p>
            <a:pPr marL="342900" indent="-342900">
              <a:buSzPct val="100000"/>
              <a:buChar char="•"/>
            </a:pPr>
            <a:r>
              <a:rPr lang="en-US" sz="1100" dirty="0">
                <a:solidFill>
                  <a:srgbClr val="5D6D7E"/>
                </a:solidFill>
              </a:rPr>
              <a:t>Managed vector DB (Pinecone, Qdrant): persistence and filtering</a:t>
            </a:r>
            <a:endParaRPr lang="en-US" sz="1100" dirty="0"/>
          </a:p>
          <a:p>
            <a:pPr marL="342900" indent="-342900">
              <a:buSzPct val="100000"/>
              <a:buChar char="•"/>
            </a:pPr>
            <a:r>
              <a:rPr lang="en-US" sz="1100" dirty="0">
                <a:solidFill>
                  <a:srgbClr val="5D6D7E"/>
                </a:solidFill>
              </a:rPr>
              <a:t>Paid Mistral tier: eliminate rate limiting</a:t>
            </a:r>
            <a:endParaRPr lang="en-US" sz="1100" dirty="0"/>
          </a:p>
          <a:p>
            <a:pPr marL="342900" indent="-342900">
              <a:buSzPct val="100000"/>
              <a:buChar char="•"/>
            </a:pPr>
            <a:r>
              <a:rPr lang="en-US" sz="1100" dirty="0">
                <a:solidFill>
                  <a:srgbClr val="5D6D7E"/>
                </a:solidFill>
              </a:rPr>
              <a:t>Multi-agenda aggregation: museums, theatres, city councils</a:t>
            </a:r>
            <a:endParaRPr lang="en-US" sz="1100" dirty="0"/>
          </a:p>
          <a:p>
            <a:pPr marL="342900" indent="-342900">
              <a:buSzPct val="100000"/>
              <a:buChar char="•"/>
            </a:pPr>
            <a:r>
              <a:rPr lang="en-US" sz="1100" dirty="0">
                <a:solidFill>
                  <a:srgbClr val="5D6D7E"/>
                </a:solidFill>
              </a:rPr>
              <a:t>Incremental indexing: re-embed new events only</a:t>
            </a:r>
            <a:endParaRPr lang="en-US" sz="1100" dirty="0"/>
          </a:p>
          <a:p>
            <a:pPr marL="342900" indent="-342900">
              <a:buSzPct val="100000"/>
              <a:buChar char="•"/>
            </a:pPr>
            <a:r>
              <a:rPr lang="en-US" sz="1100" dirty="0">
                <a:solidFill>
                  <a:srgbClr val="5D6D7E"/>
                </a:solidFill>
              </a:rPr>
              <a:t>Monitoring: decline rate, index age, user feedback</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F4E79"/>
          </a:solidFill>
          <a:ln/>
        </p:spPr>
      </p:sp>
      <p:sp>
        <p:nvSpPr>
          <p:cNvPr id="3" name="Text 1"/>
          <p:cNvSpPr/>
          <p:nvPr/>
        </p:nvSpPr>
        <p:spPr>
          <a:xfrm>
            <a:off x="365760" y="0"/>
            <a:ext cx="8412480" cy="914400"/>
          </a:xfrm>
          <a:prstGeom prst="rect">
            <a:avLst/>
          </a:prstGeom>
          <a:noFill/>
          <a:ln/>
        </p:spPr>
        <p:txBody>
          <a:bodyPr wrap="square" rtlCol="0" anchor="ctr"/>
          <a:lstStyle/>
          <a:p>
            <a:pPr marL="0" indent="0">
              <a:buNone/>
            </a:pPr>
            <a:r>
              <a:rPr lang="en-US" sz="2200" b="1" dirty="0">
                <a:solidFill>
                  <a:srgbClr val="FFFFFF"/>
                </a:solidFill>
              </a:rPr>
              <a:t>ANTICIPATED QUESTIONS FROM JEREMY</a:t>
            </a:r>
            <a:endParaRPr lang="en-US" sz="2200" dirty="0"/>
          </a:p>
        </p:txBody>
      </p:sp>
      <p:sp>
        <p:nvSpPr>
          <p:cNvPr id="4" name="Shape 2"/>
          <p:cNvSpPr/>
          <p:nvPr/>
        </p:nvSpPr>
        <p:spPr>
          <a:xfrm>
            <a:off x="274320" y="1051560"/>
            <a:ext cx="4206240" cy="1115568"/>
          </a:xfrm>
          <a:prstGeom prst="roundRect">
            <a:avLst>
              <a:gd name="adj" fmla="val 8197"/>
            </a:avLst>
          </a:prstGeom>
          <a:solidFill>
            <a:srgbClr val="F2F6FA"/>
          </a:solidFill>
          <a:ln/>
          <a:effectLst>
            <a:outerShdw blurRad="101600" dist="38100" dir="2700000" algn="bl" rotWithShape="0">
              <a:srgbClr val="000000">
                <a:alpha val="12000"/>
              </a:srgbClr>
            </a:outerShdw>
          </a:effectLst>
        </p:spPr>
      </p:sp>
      <p:sp>
        <p:nvSpPr>
          <p:cNvPr id="5" name="Shape 3"/>
          <p:cNvSpPr/>
          <p:nvPr/>
        </p:nvSpPr>
        <p:spPr>
          <a:xfrm>
            <a:off x="365760" y="1124712"/>
            <a:ext cx="502920" cy="502920"/>
          </a:xfrm>
          <a:prstGeom prst="ellipse">
            <a:avLst/>
          </a:prstGeom>
          <a:solidFill>
            <a:srgbClr val="2E75B6"/>
          </a:solidFill>
          <a:ln/>
        </p:spPr>
      </p:sp>
      <p:pic>
        <p:nvPicPr>
          <p:cNvPr id="6" name="Image 0" descr="preencoded.png"/>
          <p:cNvPicPr>
            <a:picLocks noChangeAspect="1"/>
          </p:cNvPicPr>
          <p:nvPr/>
        </p:nvPicPr>
        <p:blipFill>
          <a:blip r:embed="rId3"/>
          <a:stretch>
            <a:fillRect/>
          </a:stretch>
        </p:blipFill>
        <p:spPr>
          <a:xfrm>
            <a:off x="420624" y="1179576"/>
            <a:ext cx="384048" cy="384048"/>
          </a:xfrm>
          <a:prstGeom prst="rect">
            <a:avLst/>
          </a:prstGeom>
        </p:spPr>
      </p:pic>
      <p:sp>
        <p:nvSpPr>
          <p:cNvPr id="7" name="Text 4"/>
          <p:cNvSpPr/>
          <p:nvPr/>
        </p:nvSpPr>
        <p:spPr>
          <a:xfrm>
            <a:off x="960120" y="1124712"/>
            <a:ext cx="3429000" cy="384048"/>
          </a:xfrm>
          <a:prstGeom prst="rect">
            <a:avLst/>
          </a:prstGeom>
          <a:noFill/>
          <a:ln/>
        </p:spPr>
        <p:txBody>
          <a:bodyPr wrap="square" rtlCol="0" anchor="ctr"/>
          <a:lstStyle/>
          <a:p>
            <a:pPr marL="0" indent="0">
              <a:buNone/>
            </a:pPr>
            <a:r>
              <a:rPr lang="en-US" sz="1100" b="1" dirty="0">
                <a:solidFill>
                  <a:srgbClr val="1F4E79"/>
                </a:solidFill>
              </a:rPr>
              <a:t>How does FAISS optimise searches?</a:t>
            </a:r>
            <a:endParaRPr lang="en-US" sz="1100" dirty="0"/>
          </a:p>
        </p:txBody>
      </p:sp>
      <p:sp>
        <p:nvSpPr>
          <p:cNvPr id="8" name="Text 5"/>
          <p:cNvSpPr/>
          <p:nvPr/>
        </p:nvSpPr>
        <p:spPr>
          <a:xfrm>
            <a:off x="960120" y="1527048"/>
            <a:ext cx="3429000" cy="594360"/>
          </a:xfrm>
          <a:prstGeom prst="rect">
            <a:avLst/>
          </a:prstGeom>
          <a:noFill/>
          <a:ln/>
        </p:spPr>
        <p:txBody>
          <a:bodyPr wrap="square" rtlCol="0" anchor="ctr"/>
          <a:lstStyle/>
          <a:p>
            <a:pPr marL="0" indent="0">
              <a:buNone/>
            </a:pPr>
            <a:r>
              <a:rPr lang="en-US" sz="1000" dirty="0">
                <a:solidFill>
                  <a:srgbClr val="5D6D7E"/>
                </a:solidFill>
              </a:rPr>
              <a:t>IndexFlatL2: exact L2 search under 1 ms on 1,740 vectors. Production: IVFFlat (cluster partitioning) or HNSW (graph-based logarithmic search).</a:t>
            </a:r>
            <a:endParaRPr lang="en-US" sz="1000" dirty="0"/>
          </a:p>
        </p:txBody>
      </p:sp>
      <p:sp>
        <p:nvSpPr>
          <p:cNvPr id="9" name="Shape 6"/>
          <p:cNvSpPr/>
          <p:nvPr/>
        </p:nvSpPr>
        <p:spPr>
          <a:xfrm>
            <a:off x="4754880" y="1051560"/>
            <a:ext cx="4206240" cy="1115568"/>
          </a:xfrm>
          <a:prstGeom prst="roundRect">
            <a:avLst>
              <a:gd name="adj" fmla="val 8197"/>
            </a:avLst>
          </a:prstGeom>
          <a:solidFill>
            <a:srgbClr val="F2F6FA"/>
          </a:solidFill>
          <a:ln/>
          <a:effectLst>
            <a:outerShdw blurRad="101600" dist="38100" dir="2700000" algn="bl" rotWithShape="0">
              <a:srgbClr val="000000">
                <a:alpha val="12000"/>
              </a:srgbClr>
            </a:outerShdw>
          </a:effectLst>
        </p:spPr>
      </p:sp>
      <p:sp>
        <p:nvSpPr>
          <p:cNvPr id="10" name="Shape 7"/>
          <p:cNvSpPr/>
          <p:nvPr/>
        </p:nvSpPr>
        <p:spPr>
          <a:xfrm>
            <a:off x="4846320" y="1124712"/>
            <a:ext cx="502920" cy="502920"/>
          </a:xfrm>
          <a:prstGeom prst="ellipse">
            <a:avLst/>
          </a:prstGeom>
          <a:solidFill>
            <a:srgbClr val="2E75B6"/>
          </a:solidFill>
          <a:ln/>
        </p:spPr>
      </p:sp>
      <p:pic>
        <p:nvPicPr>
          <p:cNvPr id="11" name="Image 1" descr="preencoded.png"/>
          <p:cNvPicPr>
            <a:picLocks noChangeAspect="1"/>
          </p:cNvPicPr>
          <p:nvPr/>
        </p:nvPicPr>
        <p:blipFill>
          <a:blip r:embed="rId3"/>
          <a:stretch>
            <a:fillRect/>
          </a:stretch>
        </p:blipFill>
        <p:spPr>
          <a:xfrm>
            <a:off x="4901184" y="1179576"/>
            <a:ext cx="384048" cy="384048"/>
          </a:xfrm>
          <a:prstGeom prst="rect">
            <a:avLst/>
          </a:prstGeom>
        </p:spPr>
      </p:pic>
      <p:sp>
        <p:nvSpPr>
          <p:cNvPr id="12" name="Text 8"/>
          <p:cNvSpPr/>
          <p:nvPr/>
        </p:nvSpPr>
        <p:spPr>
          <a:xfrm>
            <a:off x="5440680" y="1124712"/>
            <a:ext cx="3429000" cy="384048"/>
          </a:xfrm>
          <a:prstGeom prst="rect">
            <a:avLst/>
          </a:prstGeom>
          <a:noFill/>
          <a:ln/>
        </p:spPr>
        <p:txBody>
          <a:bodyPr wrap="square" rtlCol="0" anchor="ctr"/>
          <a:lstStyle/>
          <a:p>
            <a:pPr marL="0" indent="0">
              <a:buNone/>
            </a:pPr>
            <a:r>
              <a:rPr lang="en-US" sz="1100" b="1" dirty="0">
                <a:solidFill>
                  <a:srgbClr val="1F4E79"/>
                </a:solidFill>
              </a:rPr>
              <a:t>Limitations of FAISS at scale?</a:t>
            </a:r>
            <a:endParaRPr lang="en-US" sz="1100" dirty="0"/>
          </a:p>
        </p:txBody>
      </p:sp>
      <p:sp>
        <p:nvSpPr>
          <p:cNvPr id="13" name="Text 9"/>
          <p:cNvSpPr/>
          <p:nvPr/>
        </p:nvSpPr>
        <p:spPr>
          <a:xfrm>
            <a:off x="5440680" y="1527048"/>
            <a:ext cx="3429000" cy="594360"/>
          </a:xfrm>
          <a:prstGeom prst="rect">
            <a:avLst/>
          </a:prstGeom>
          <a:noFill/>
          <a:ln/>
        </p:spPr>
        <p:txBody>
          <a:bodyPr wrap="square" rtlCol="0" anchor="ctr"/>
          <a:lstStyle/>
          <a:p>
            <a:pPr marL="0" indent="0">
              <a:buNone/>
            </a:pPr>
            <a:r>
              <a:rPr lang="en-US" sz="1000" dirty="0">
                <a:solidFill>
                  <a:srgbClr val="5D6D7E"/>
                </a:solidFill>
              </a:rPr>
              <a:t>O(n) search time, full index must fit in RAM, no metadata pre-filtering. Replaced by Pinecone or Qdrant in production.</a:t>
            </a:r>
            <a:endParaRPr lang="en-US" sz="1000" dirty="0"/>
          </a:p>
        </p:txBody>
      </p:sp>
      <p:sp>
        <p:nvSpPr>
          <p:cNvPr id="14" name="Shape 10"/>
          <p:cNvSpPr/>
          <p:nvPr/>
        </p:nvSpPr>
        <p:spPr>
          <a:xfrm>
            <a:off x="274320" y="2313432"/>
            <a:ext cx="4206240" cy="1115568"/>
          </a:xfrm>
          <a:prstGeom prst="roundRect">
            <a:avLst>
              <a:gd name="adj" fmla="val 8197"/>
            </a:avLst>
          </a:prstGeom>
          <a:solidFill>
            <a:srgbClr val="F2F6FA"/>
          </a:solidFill>
          <a:ln/>
          <a:effectLst>
            <a:outerShdw blurRad="101600" dist="38100" dir="2700000" algn="bl" rotWithShape="0">
              <a:srgbClr val="000000">
                <a:alpha val="12000"/>
              </a:srgbClr>
            </a:outerShdw>
          </a:effectLst>
        </p:spPr>
      </p:sp>
      <p:sp>
        <p:nvSpPr>
          <p:cNvPr id="15" name="Shape 11"/>
          <p:cNvSpPr/>
          <p:nvPr/>
        </p:nvSpPr>
        <p:spPr>
          <a:xfrm>
            <a:off x="365760" y="2386584"/>
            <a:ext cx="502920" cy="502920"/>
          </a:xfrm>
          <a:prstGeom prst="ellipse">
            <a:avLst/>
          </a:prstGeom>
          <a:solidFill>
            <a:srgbClr val="2E75B6"/>
          </a:solidFill>
          <a:ln/>
        </p:spPr>
      </p:sp>
      <p:pic>
        <p:nvPicPr>
          <p:cNvPr id="16" name="Image 2" descr="preencoded.png"/>
          <p:cNvPicPr>
            <a:picLocks noChangeAspect="1"/>
          </p:cNvPicPr>
          <p:nvPr/>
        </p:nvPicPr>
        <p:blipFill>
          <a:blip r:embed="rId3"/>
          <a:stretch>
            <a:fillRect/>
          </a:stretch>
        </p:blipFill>
        <p:spPr>
          <a:xfrm>
            <a:off x="420624" y="2441448"/>
            <a:ext cx="384048" cy="384048"/>
          </a:xfrm>
          <a:prstGeom prst="rect">
            <a:avLst/>
          </a:prstGeom>
        </p:spPr>
      </p:pic>
      <p:sp>
        <p:nvSpPr>
          <p:cNvPr id="17" name="Text 12"/>
          <p:cNvSpPr/>
          <p:nvPr/>
        </p:nvSpPr>
        <p:spPr>
          <a:xfrm>
            <a:off x="960120" y="2386584"/>
            <a:ext cx="3429000" cy="384048"/>
          </a:xfrm>
          <a:prstGeom prst="rect">
            <a:avLst/>
          </a:prstGeom>
          <a:noFill/>
          <a:ln/>
        </p:spPr>
        <p:txBody>
          <a:bodyPr wrap="square" rtlCol="0" anchor="ctr"/>
          <a:lstStyle/>
          <a:p>
            <a:pPr marL="0" indent="0">
              <a:buNone/>
            </a:pPr>
            <a:r>
              <a:rPr lang="en-US" sz="1100" b="1" dirty="0">
                <a:solidFill>
                  <a:srgbClr val="1F4E79"/>
                </a:solidFill>
              </a:rPr>
              <a:t>Why LangChain for NLP pipelines?</a:t>
            </a:r>
            <a:endParaRPr lang="en-US" sz="1100" dirty="0"/>
          </a:p>
        </p:txBody>
      </p:sp>
      <p:sp>
        <p:nvSpPr>
          <p:cNvPr id="18" name="Text 13"/>
          <p:cNvSpPr/>
          <p:nvPr/>
        </p:nvSpPr>
        <p:spPr>
          <a:xfrm>
            <a:off x="960120" y="2788920"/>
            <a:ext cx="3429000" cy="594360"/>
          </a:xfrm>
          <a:prstGeom prst="rect">
            <a:avLst/>
          </a:prstGeom>
          <a:noFill/>
          <a:ln/>
        </p:spPr>
        <p:txBody>
          <a:bodyPr wrap="square" rtlCol="0" anchor="ctr"/>
          <a:lstStyle/>
          <a:p>
            <a:pPr marL="0" indent="0">
              <a:buNone/>
            </a:pPr>
            <a:r>
              <a:rPr lang="en-US" sz="1000" dirty="0">
                <a:solidFill>
                  <a:srgbClr val="5D6D7E"/>
                </a:solidFill>
              </a:rPr>
              <a:t>Standardised interfaces for LLMs and vector stores. Built-in RAG patterns (RetrievalQA). Easy provider switching. Large connector ecosystem.</a:t>
            </a:r>
            <a:endParaRPr lang="en-US" sz="1000" dirty="0"/>
          </a:p>
        </p:txBody>
      </p:sp>
      <p:sp>
        <p:nvSpPr>
          <p:cNvPr id="19" name="Shape 14"/>
          <p:cNvSpPr/>
          <p:nvPr/>
        </p:nvSpPr>
        <p:spPr>
          <a:xfrm>
            <a:off x="4754880" y="2313432"/>
            <a:ext cx="4206240" cy="1115568"/>
          </a:xfrm>
          <a:prstGeom prst="roundRect">
            <a:avLst>
              <a:gd name="adj" fmla="val 8197"/>
            </a:avLst>
          </a:prstGeom>
          <a:solidFill>
            <a:srgbClr val="F2F6FA"/>
          </a:solidFill>
          <a:ln/>
          <a:effectLst>
            <a:outerShdw blurRad="101600" dist="38100" dir="2700000" algn="bl" rotWithShape="0">
              <a:srgbClr val="000000">
                <a:alpha val="12000"/>
              </a:srgbClr>
            </a:outerShdw>
          </a:effectLst>
        </p:spPr>
      </p:sp>
      <p:sp>
        <p:nvSpPr>
          <p:cNvPr id="20" name="Shape 15"/>
          <p:cNvSpPr/>
          <p:nvPr/>
        </p:nvSpPr>
        <p:spPr>
          <a:xfrm>
            <a:off x="4846320" y="2386584"/>
            <a:ext cx="502920" cy="502920"/>
          </a:xfrm>
          <a:prstGeom prst="ellipse">
            <a:avLst/>
          </a:prstGeom>
          <a:solidFill>
            <a:srgbClr val="2E75B6"/>
          </a:solidFill>
          <a:ln/>
        </p:spPr>
      </p:sp>
      <p:pic>
        <p:nvPicPr>
          <p:cNvPr id="21" name="Image 3" descr="preencoded.png"/>
          <p:cNvPicPr>
            <a:picLocks noChangeAspect="1"/>
          </p:cNvPicPr>
          <p:nvPr/>
        </p:nvPicPr>
        <p:blipFill>
          <a:blip r:embed="rId3"/>
          <a:stretch>
            <a:fillRect/>
          </a:stretch>
        </p:blipFill>
        <p:spPr>
          <a:xfrm>
            <a:off x="4901184" y="2441448"/>
            <a:ext cx="384048" cy="384048"/>
          </a:xfrm>
          <a:prstGeom prst="rect">
            <a:avLst/>
          </a:prstGeom>
        </p:spPr>
      </p:pic>
      <p:sp>
        <p:nvSpPr>
          <p:cNvPr id="22" name="Text 16"/>
          <p:cNvSpPr/>
          <p:nvPr/>
        </p:nvSpPr>
        <p:spPr>
          <a:xfrm>
            <a:off x="5440680" y="2386584"/>
            <a:ext cx="3429000" cy="384048"/>
          </a:xfrm>
          <a:prstGeom prst="rect">
            <a:avLst/>
          </a:prstGeom>
          <a:noFill/>
          <a:ln/>
        </p:spPr>
        <p:txBody>
          <a:bodyPr wrap="square" rtlCol="0" anchor="ctr"/>
          <a:lstStyle/>
          <a:p>
            <a:pPr marL="0" indent="0">
              <a:buNone/>
            </a:pPr>
            <a:r>
              <a:rPr lang="en-US" sz="1100" b="1" dirty="0">
                <a:solidFill>
                  <a:srgbClr val="1F4E79"/>
                </a:solidFill>
              </a:rPr>
              <a:t>How to ensure data quality in automation?</a:t>
            </a:r>
            <a:endParaRPr lang="en-US" sz="1100" dirty="0"/>
          </a:p>
        </p:txBody>
      </p:sp>
      <p:sp>
        <p:nvSpPr>
          <p:cNvPr id="23" name="Text 17"/>
          <p:cNvSpPr/>
          <p:nvPr/>
        </p:nvSpPr>
        <p:spPr>
          <a:xfrm>
            <a:off x="5440680" y="2788920"/>
            <a:ext cx="3429000" cy="594360"/>
          </a:xfrm>
          <a:prstGeom prst="rect">
            <a:avLst/>
          </a:prstGeom>
          <a:noFill/>
          <a:ln/>
        </p:spPr>
        <p:txBody>
          <a:bodyPr wrap="square" rtlCol="0" anchor="ctr"/>
          <a:lstStyle/>
          <a:p>
            <a:pPr marL="0" indent="0">
              <a:buNone/>
            </a:pPr>
            <a:r>
              <a:rPr lang="en-US" sz="1000" dirty="0">
                <a:solidFill>
                  <a:srgbClr val="5D6D7E"/>
                </a:solidFill>
              </a:rPr>
              <a:t>Assertions in fetch_events.py fail loudly before saving. 24 pytest tests block deployment if any fail. Notebook exploration validates rules before production.</a:t>
            </a:r>
            <a:endParaRPr lang="en-US" sz="1000" dirty="0"/>
          </a:p>
        </p:txBody>
      </p:sp>
      <p:sp>
        <p:nvSpPr>
          <p:cNvPr id="24" name="Shape 18"/>
          <p:cNvSpPr/>
          <p:nvPr/>
        </p:nvSpPr>
        <p:spPr>
          <a:xfrm>
            <a:off x="274320" y="3575304"/>
            <a:ext cx="4206240" cy="1115568"/>
          </a:xfrm>
          <a:prstGeom prst="roundRect">
            <a:avLst>
              <a:gd name="adj" fmla="val 8197"/>
            </a:avLst>
          </a:prstGeom>
          <a:solidFill>
            <a:srgbClr val="F2F6FA"/>
          </a:solidFill>
          <a:ln/>
          <a:effectLst>
            <a:outerShdw blurRad="101600" dist="38100" dir="2700000" algn="bl" rotWithShape="0">
              <a:srgbClr val="000000">
                <a:alpha val="12000"/>
              </a:srgbClr>
            </a:outerShdw>
          </a:effectLst>
        </p:spPr>
      </p:sp>
      <p:sp>
        <p:nvSpPr>
          <p:cNvPr id="25" name="Shape 19"/>
          <p:cNvSpPr/>
          <p:nvPr/>
        </p:nvSpPr>
        <p:spPr>
          <a:xfrm>
            <a:off x="365760" y="3648456"/>
            <a:ext cx="502920" cy="502920"/>
          </a:xfrm>
          <a:prstGeom prst="ellipse">
            <a:avLst/>
          </a:prstGeom>
          <a:solidFill>
            <a:srgbClr val="2E75B6"/>
          </a:solidFill>
          <a:ln/>
        </p:spPr>
      </p:sp>
      <p:pic>
        <p:nvPicPr>
          <p:cNvPr id="26" name="Image 4" descr="preencoded.png"/>
          <p:cNvPicPr>
            <a:picLocks noChangeAspect="1"/>
          </p:cNvPicPr>
          <p:nvPr/>
        </p:nvPicPr>
        <p:blipFill>
          <a:blip r:embed="rId3"/>
          <a:stretch>
            <a:fillRect/>
          </a:stretch>
        </p:blipFill>
        <p:spPr>
          <a:xfrm>
            <a:off x="420624" y="3703320"/>
            <a:ext cx="384048" cy="384048"/>
          </a:xfrm>
          <a:prstGeom prst="rect">
            <a:avLst/>
          </a:prstGeom>
        </p:spPr>
      </p:pic>
      <p:sp>
        <p:nvSpPr>
          <p:cNvPr id="27" name="Text 20"/>
          <p:cNvSpPr/>
          <p:nvPr/>
        </p:nvSpPr>
        <p:spPr>
          <a:xfrm>
            <a:off x="960120" y="3648456"/>
            <a:ext cx="3429000" cy="384048"/>
          </a:xfrm>
          <a:prstGeom prst="rect">
            <a:avLst/>
          </a:prstGeom>
          <a:noFill/>
          <a:ln/>
        </p:spPr>
        <p:txBody>
          <a:bodyPr wrap="square" rtlCol="0" anchor="ctr"/>
          <a:lstStyle/>
          <a:p>
            <a:pPr marL="0" indent="0">
              <a:buNone/>
            </a:pPr>
            <a:r>
              <a:rPr lang="en-US" sz="1100" b="1" dirty="0">
                <a:solidFill>
                  <a:srgbClr val="1F4E79"/>
                </a:solidFill>
              </a:rPr>
              <a:t>How to detect performance deviations?</a:t>
            </a:r>
            <a:endParaRPr lang="en-US" sz="1100" dirty="0"/>
          </a:p>
        </p:txBody>
      </p:sp>
      <p:sp>
        <p:nvSpPr>
          <p:cNvPr id="28" name="Text 21"/>
          <p:cNvSpPr/>
          <p:nvPr/>
        </p:nvSpPr>
        <p:spPr>
          <a:xfrm>
            <a:off x="960120" y="4050792"/>
            <a:ext cx="3429000" cy="594360"/>
          </a:xfrm>
          <a:prstGeom prst="rect">
            <a:avLst/>
          </a:prstGeom>
          <a:noFill/>
          <a:ln/>
        </p:spPr>
        <p:txBody>
          <a:bodyPr wrap="square" rtlCol="0" anchor="ctr"/>
          <a:lstStyle/>
          <a:p>
            <a:pPr marL="0" indent="0">
              <a:buNone/>
            </a:pPr>
            <a:r>
              <a:rPr lang="en-US" sz="1000" dirty="0">
                <a:solidFill>
                  <a:srgbClr val="5D6D7E"/>
                </a:solidFill>
              </a:rPr>
              <a:t>Track decline rate ('Je ne sais pas' responses). Monitor average L2 distances. Collect user thumbs up/down feedback. Alert on index age &gt; 48h.</a:t>
            </a:r>
            <a:endParaRPr lang="en-US" sz="1000" dirty="0"/>
          </a:p>
        </p:txBody>
      </p:sp>
      <p:sp>
        <p:nvSpPr>
          <p:cNvPr id="29" name="Shape 22"/>
          <p:cNvSpPr/>
          <p:nvPr/>
        </p:nvSpPr>
        <p:spPr>
          <a:xfrm>
            <a:off x="4754880" y="3575304"/>
            <a:ext cx="4206240" cy="1115568"/>
          </a:xfrm>
          <a:prstGeom prst="roundRect">
            <a:avLst>
              <a:gd name="adj" fmla="val 8197"/>
            </a:avLst>
          </a:prstGeom>
          <a:solidFill>
            <a:srgbClr val="F2F6FA"/>
          </a:solidFill>
          <a:ln/>
          <a:effectLst>
            <a:outerShdw blurRad="101600" dist="38100" dir="2700000" algn="bl" rotWithShape="0">
              <a:srgbClr val="000000">
                <a:alpha val="12000"/>
              </a:srgbClr>
            </a:outerShdw>
          </a:effectLst>
        </p:spPr>
      </p:sp>
      <p:sp>
        <p:nvSpPr>
          <p:cNvPr id="30" name="Shape 23"/>
          <p:cNvSpPr/>
          <p:nvPr/>
        </p:nvSpPr>
        <p:spPr>
          <a:xfrm>
            <a:off x="4846320" y="3648456"/>
            <a:ext cx="502920" cy="502920"/>
          </a:xfrm>
          <a:prstGeom prst="ellipse">
            <a:avLst/>
          </a:prstGeom>
          <a:solidFill>
            <a:srgbClr val="2E75B6"/>
          </a:solidFill>
          <a:ln/>
        </p:spPr>
      </p:sp>
      <p:pic>
        <p:nvPicPr>
          <p:cNvPr id="31" name="Image 5" descr="preencoded.png"/>
          <p:cNvPicPr>
            <a:picLocks noChangeAspect="1"/>
          </p:cNvPicPr>
          <p:nvPr/>
        </p:nvPicPr>
        <p:blipFill>
          <a:blip r:embed="rId3"/>
          <a:stretch>
            <a:fillRect/>
          </a:stretch>
        </p:blipFill>
        <p:spPr>
          <a:xfrm>
            <a:off x="4901184" y="3703320"/>
            <a:ext cx="384048" cy="384048"/>
          </a:xfrm>
          <a:prstGeom prst="rect">
            <a:avLst/>
          </a:prstGeom>
        </p:spPr>
      </p:pic>
      <p:sp>
        <p:nvSpPr>
          <p:cNvPr id="32" name="Text 24"/>
          <p:cNvSpPr/>
          <p:nvPr/>
        </p:nvSpPr>
        <p:spPr>
          <a:xfrm>
            <a:off x="5440680" y="3648456"/>
            <a:ext cx="3429000" cy="384048"/>
          </a:xfrm>
          <a:prstGeom prst="rect">
            <a:avLst/>
          </a:prstGeom>
          <a:noFill/>
          <a:ln/>
        </p:spPr>
        <p:txBody>
          <a:bodyPr wrap="square" rtlCol="0" anchor="ctr"/>
          <a:lstStyle/>
          <a:p>
            <a:pPr marL="0" indent="0">
              <a:buNone/>
            </a:pPr>
            <a:r>
              <a:rPr lang="en-US" sz="1100" b="1" dirty="0">
                <a:solidFill>
                  <a:srgbClr val="1F4E79"/>
                </a:solidFill>
              </a:rPr>
              <a:t>Most important production monitoring KPIs?</a:t>
            </a:r>
            <a:endParaRPr lang="en-US" sz="1100" dirty="0"/>
          </a:p>
        </p:txBody>
      </p:sp>
      <p:sp>
        <p:nvSpPr>
          <p:cNvPr id="33" name="Text 25"/>
          <p:cNvSpPr/>
          <p:nvPr/>
        </p:nvSpPr>
        <p:spPr>
          <a:xfrm>
            <a:off x="5440680" y="4050792"/>
            <a:ext cx="3429000" cy="594360"/>
          </a:xfrm>
          <a:prstGeom prst="rect">
            <a:avLst/>
          </a:prstGeom>
          <a:noFill/>
          <a:ln/>
        </p:spPr>
        <p:txBody>
          <a:bodyPr wrap="square" rtlCol="0" anchor="ctr"/>
          <a:lstStyle/>
          <a:p>
            <a:pPr marL="0" indent="0">
              <a:buNone/>
            </a:pPr>
            <a:r>
              <a:rPr lang="en-US" sz="1000" dirty="0">
                <a:solidFill>
                  <a:srgbClr val="5D6D7E"/>
                </a:solidFill>
              </a:rPr>
              <a:t>Faithfulness (hallucination rate), answer relevancy, decline rate, response latency, index freshness, API error rate.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1F4E79"/>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marL="0" indent="0" algn="ctr">
              <a:buNone/>
            </a:pPr>
            <a:r>
              <a:rPr lang="en-US" sz="1300" b="1" kern="0" spc="400" dirty="0">
                <a:solidFill>
                  <a:srgbClr val="F39C12"/>
                </a:solidFill>
              </a:rPr>
              <a:t>SUMMARY  &amp;  NEXT STEPS</a:t>
            </a:r>
            <a:endParaRPr lang="en-US" sz="1300" dirty="0"/>
          </a:p>
        </p:txBody>
      </p:sp>
      <p:sp>
        <p:nvSpPr>
          <p:cNvPr id="3" name="Shape 1"/>
          <p:cNvSpPr/>
          <p:nvPr/>
        </p:nvSpPr>
        <p:spPr>
          <a:xfrm>
            <a:off x="365760" y="1097280"/>
            <a:ext cx="411480" cy="411480"/>
          </a:xfrm>
          <a:prstGeom prst="ellipse">
            <a:avLst/>
          </a:prstGeom>
          <a:solidFill>
            <a:srgbClr val="028090"/>
          </a:solidFill>
          <a:ln/>
        </p:spPr>
      </p:sp>
      <p:sp>
        <p:nvSpPr>
          <p:cNvPr id="4" name="Text 2"/>
          <p:cNvSpPr/>
          <p:nvPr/>
        </p:nvSpPr>
        <p:spPr>
          <a:xfrm>
            <a:off x="365760" y="109728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rPr>
              <a:t>✓</a:t>
            </a:r>
            <a:endParaRPr lang="en-US" sz="1400" dirty="0"/>
          </a:p>
        </p:txBody>
      </p:sp>
      <p:sp>
        <p:nvSpPr>
          <p:cNvPr id="5" name="Text 3"/>
          <p:cNvSpPr/>
          <p:nvPr/>
        </p:nvSpPr>
        <p:spPr>
          <a:xfrm>
            <a:off x="914400" y="1051560"/>
            <a:ext cx="7955280" cy="502920"/>
          </a:xfrm>
          <a:prstGeom prst="rect">
            <a:avLst/>
          </a:prstGeom>
          <a:noFill/>
          <a:ln/>
        </p:spPr>
        <p:txBody>
          <a:bodyPr wrap="square" rtlCol="0" anchor="ctr"/>
          <a:lstStyle/>
          <a:p>
            <a:pPr marL="0" indent="0">
              <a:buNone/>
            </a:pPr>
            <a:r>
              <a:rPr lang="en-US" sz="1300" dirty="0">
                <a:solidFill>
                  <a:srgbClr val="FFFFFF"/>
                </a:solidFill>
              </a:rPr>
              <a:t>RAG architecture validated for cultural event recommendations</a:t>
            </a:r>
            <a:endParaRPr lang="en-US" sz="1300" dirty="0"/>
          </a:p>
        </p:txBody>
      </p:sp>
      <p:sp>
        <p:nvSpPr>
          <p:cNvPr id="6" name="Shape 4"/>
          <p:cNvSpPr/>
          <p:nvPr/>
        </p:nvSpPr>
        <p:spPr>
          <a:xfrm>
            <a:off x="365760" y="1719072"/>
            <a:ext cx="411480" cy="411480"/>
          </a:xfrm>
          <a:prstGeom prst="ellipse">
            <a:avLst/>
          </a:prstGeom>
          <a:solidFill>
            <a:srgbClr val="028090"/>
          </a:solidFill>
          <a:ln/>
        </p:spPr>
      </p:sp>
      <p:sp>
        <p:nvSpPr>
          <p:cNvPr id="7" name="Text 5"/>
          <p:cNvSpPr/>
          <p:nvPr/>
        </p:nvSpPr>
        <p:spPr>
          <a:xfrm>
            <a:off x="365760" y="1719072"/>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rPr>
              <a:t>✓</a:t>
            </a:r>
            <a:endParaRPr lang="en-US" sz="1400" dirty="0"/>
          </a:p>
        </p:txBody>
      </p:sp>
      <p:sp>
        <p:nvSpPr>
          <p:cNvPr id="8" name="Text 6"/>
          <p:cNvSpPr/>
          <p:nvPr/>
        </p:nvSpPr>
        <p:spPr>
          <a:xfrm>
            <a:off x="914400" y="1673352"/>
            <a:ext cx="7955280" cy="502920"/>
          </a:xfrm>
          <a:prstGeom prst="rect">
            <a:avLst/>
          </a:prstGeom>
          <a:noFill/>
          <a:ln/>
        </p:spPr>
        <p:txBody>
          <a:bodyPr wrap="square" rtlCol="0" anchor="ctr"/>
          <a:lstStyle/>
          <a:p>
            <a:pPr marL="0" indent="0">
              <a:buNone/>
            </a:pPr>
            <a:r>
              <a:rPr lang="en-US" sz="1300" dirty="0">
                <a:solidFill>
                  <a:srgbClr val="FFFFFF"/>
                </a:solidFill>
              </a:rPr>
              <a:t>1,740 Paris events indexed and semantically searchable</a:t>
            </a:r>
            <a:endParaRPr lang="en-US" sz="1300" dirty="0"/>
          </a:p>
        </p:txBody>
      </p:sp>
      <p:sp>
        <p:nvSpPr>
          <p:cNvPr id="9" name="Shape 7"/>
          <p:cNvSpPr/>
          <p:nvPr/>
        </p:nvSpPr>
        <p:spPr>
          <a:xfrm>
            <a:off x="365760" y="2340864"/>
            <a:ext cx="411480" cy="411480"/>
          </a:xfrm>
          <a:prstGeom prst="ellipse">
            <a:avLst/>
          </a:prstGeom>
          <a:solidFill>
            <a:srgbClr val="028090"/>
          </a:solidFill>
          <a:ln/>
        </p:spPr>
      </p:sp>
      <p:sp>
        <p:nvSpPr>
          <p:cNvPr id="10" name="Text 8"/>
          <p:cNvSpPr/>
          <p:nvPr/>
        </p:nvSpPr>
        <p:spPr>
          <a:xfrm>
            <a:off x="365760" y="2340864"/>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rPr>
              <a:t>✓</a:t>
            </a:r>
            <a:endParaRPr lang="en-US" sz="1400" dirty="0"/>
          </a:p>
        </p:txBody>
      </p:sp>
      <p:sp>
        <p:nvSpPr>
          <p:cNvPr id="11" name="Text 9"/>
          <p:cNvSpPr/>
          <p:nvPr/>
        </p:nvSpPr>
        <p:spPr>
          <a:xfrm>
            <a:off x="914400" y="2295144"/>
            <a:ext cx="7955280" cy="502920"/>
          </a:xfrm>
          <a:prstGeom prst="rect">
            <a:avLst/>
          </a:prstGeom>
          <a:noFill/>
          <a:ln/>
        </p:spPr>
        <p:txBody>
          <a:bodyPr wrap="square" rtlCol="0" anchor="ctr"/>
          <a:lstStyle/>
          <a:p>
            <a:pPr marL="0" indent="0">
              <a:buNone/>
            </a:pPr>
            <a:r>
              <a:rPr lang="en-US" sz="1300" dirty="0">
                <a:solidFill>
                  <a:srgbClr val="FFFFFF"/>
                </a:solidFill>
              </a:rPr>
              <a:t>Zero hallucination confirmed across all tested query types</a:t>
            </a:r>
            <a:endParaRPr lang="en-US" sz="1300" dirty="0"/>
          </a:p>
        </p:txBody>
      </p:sp>
      <p:sp>
        <p:nvSpPr>
          <p:cNvPr id="12" name="Shape 10"/>
          <p:cNvSpPr/>
          <p:nvPr/>
        </p:nvSpPr>
        <p:spPr>
          <a:xfrm>
            <a:off x="365760" y="2962656"/>
            <a:ext cx="411480" cy="411480"/>
          </a:xfrm>
          <a:prstGeom prst="ellipse">
            <a:avLst/>
          </a:prstGeom>
          <a:solidFill>
            <a:srgbClr val="028090"/>
          </a:solidFill>
          <a:ln/>
        </p:spPr>
      </p:sp>
      <p:sp>
        <p:nvSpPr>
          <p:cNvPr id="13" name="Text 11"/>
          <p:cNvSpPr/>
          <p:nvPr/>
        </p:nvSpPr>
        <p:spPr>
          <a:xfrm>
            <a:off x="365760" y="2962656"/>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rPr>
              <a:t>✓</a:t>
            </a:r>
            <a:endParaRPr lang="en-US" sz="1400" dirty="0"/>
          </a:p>
        </p:txBody>
      </p:sp>
      <p:sp>
        <p:nvSpPr>
          <p:cNvPr id="14" name="Text 12"/>
          <p:cNvSpPr/>
          <p:nvPr/>
        </p:nvSpPr>
        <p:spPr>
          <a:xfrm>
            <a:off x="914400" y="2916936"/>
            <a:ext cx="7955280" cy="502920"/>
          </a:xfrm>
          <a:prstGeom prst="rect">
            <a:avLst/>
          </a:prstGeom>
          <a:noFill/>
          <a:ln/>
        </p:spPr>
        <p:txBody>
          <a:bodyPr wrap="square" rtlCol="0" anchor="ctr"/>
          <a:lstStyle/>
          <a:p>
            <a:pPr marL="0" indent="0">
              <a:buNone/>
            </a:pPr>
            <a:r>
              <a:rPr lang="en-US" sz="1300" dirty="0">
                <a:solidFill>
                  <a:srgbClr val="FFFFFF"/>
                </a:solidFill>
              </a:rPr>
              <a:t>24 / 24 unit tests passed — pipeline reproducible in one command</a:t>
            </a:r>
            <a:endParaRPr lang="en-US" sz="1300" dirty="0"/>
          </a:p>
        </p:txBody>
      </p:sp>
      <p:sp>
        <p:nvSpPr>
          <p:cNvPr id="15" name="Shape 13"/>
          <p:cNvSpPr/>
          <p:nvPr/>
        </p:nvSpPr>
        <p:spPr>
          <a:xfrm>
            <a:off x="365760" y="3584448"/>
            <a:ext cx="411480" cy="411480"/>
          </a:xfrm>
          <a:prstGeom prst="ellipse">
            <a:avLst/>
          </a:prstGeom>
          <a:solidFill>
            <a:srgbClr val="028090"/>
          </a:solidFill>
          <a:ln/>
        </p:spPr>
      </p:sp>
      <p:sp>
        <p:nvSpPr>
          <p:cNvPr id="16" name="Text 14"/>
          <p:cNvSpPr/>
          <p:nvPr/>
        </p:nvSpPr>
        <p:spPr>
          <a:xfrm>
            <a:off x="365760" y="3584448"/>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rPr>
              <a:t>✓</a:t>
            </a:r>
            <a:endParaRPr lang="en-US" sz="1400" dirty="0"/>
          </a:p>
        </p:txBody>
      </p:sp>
      <p:sp>
        <p:nvSpPr>
          <p:cNvPr id="17" name="Text 15"/>
          <p:cNvSpPr/>
          <p:nvPr/>
        </p:nvSpPr>
        <p:spPr>
          <a:xfrm>
            <a:off x="914400" y="3538728"/>
            <a:ext cx="7955280" cy="502920"/>
          </a:xfrm>
          <a:prstGeom prst="rect">
            <a:avLst/>
          </a:prstGeom>
          <a:noFill/>
          <a:ln/>
        </p:spPr>
        <p:txBody>
          <a:bodyPr wrap="square" rtlCol="0" anchor="ctr"/>
          <a:lstStyle/>
          <a:p>
            <a:pPr marL="0" indent="0">
              <a:buNone/>
            </a:pPr>
            <a:r>
              <a:rPr lang="en-US" sz="1300" dirty="0">
                <a:solidFill>
                  <a:srgbClr val="FFFFFF"/>
                </a:solidFill>
              </a:rPr>
              <a:t>30-question annotated test dataset — RAGAS evaluation executed</a:t>
            </a:r>
            <a:endParaRPr lang="en-US" sz="1300" dirty="0"/>
          </a:p>
        </p:txBody>
      </p:sp>
      <p:sp>
        <p:nvSpPr>
          <p:cNvPr id="18" name="Shape 16"/>
          <p:cNvSpPr/>
          <p:nvPr/>
        </p:nvSpPr>
        <p:spPr>
          <a:xfrm>
            <a:off x="1371600" y="4297680"/>
            <a:ext cx="6400800" cy="640080"/>
          </a:xfrm>
          <a:prstGeom prst="roundRect">
            <a:avLst>
              <a:gd name="adj" fmla="val 17143"/>
            </a:avLst>
          </a:prstGeom>
          <a:solidFill>
            <a:srgbClr val="028090"/>
          </a:solidFill>
          <a:ln/>
        </p:spPr>
      </p:sp>
      <p:sp>
        <p:nvSpPr>
          <p:cNvPr id="19" name="Text 17"/>
          <p:cNvSpPr/>
          <p:nvPr/>
        </p:nvSpPr>
        <p:spPr>
          <a:xfrm>
            <a:off x="1371600" y="4297680"/>
            <a:ext cx="6400800" cy="640080"/>
          </a:xfrm>
          <a:prstGeom prst="rect">
            <a:avLst/>
          </a:prstGeom>
          <a:noFill/>
          <a:ln/>
        </p:spPr>
        <p:txBody>
          <a:bodyPr wrap="square" rtlCol="0" anchor="ctr"/>
          <a:lstStyle/>
          <a:p>
            <a:pPr marL="0" indent="0" algn="ctr">
              <a:buNone/>
            </a:pPr>
            <a:r>
              <a:rPr lang="en-US" sz="1300" b="1" dirty="0">
                <a:solidFill>
                  <a:srgbClr val="FFFFFF"/>
                </a:solidFill>
              </a:rPr>
              <a:t>Recommendation: proceed to production deployment planning</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F4E79"/>
          </a:solidFill>
          <a:ln/>
        </p:spPr>
      </p:sp>
      <p:sp>
        <p:nvSpPr>
          <p:cNvPr id="3" name="Text 1"/>
          <p:cNvSpPr/>
          <p:nvPr/>
        </p:nvSpPr>
        <p:spPr>
          <a:xfrm>
            <a:off x="365760" y="0"/>
            <a:ext cx="8412480" cy="914400"/>
          </a:xfrm>
          <a:prstGeom prst="rect">
            <a:avLst/>
          </a:prstGeom>
          <a:noFill/>
          <a:ln/>
        </p:spPr>
        <p:txBody>
          <a:bodyPr wrap="square" rtlCol="0" anchor="ctr"/>
          <a:lstStyle/>
          <a:p>
            <a:pPr marL="0" indent="0">
              <a:buNone/>
            </a:pPr>
            <a:r>
              <a:rPr lang="en-US" sz="2200" b="1" dirty="0">
                <a:solidFill>
                  <a:srgbClr val="FFFFFF"/>
                </a:solidFill>
              </a:rPr>
              <a:t>TECHNICAL CHOICES</a:t>
            </a:r>
            <a:endParaRPr lang="en-US" sz="2200" dirty="0"/>
          </a:p>
        </p:txBody>
      </p:sp>
      <p:sp>
        <p:nvSpPr>
          <p:cNvPr id="4" name="Shape 2"/>
          <p:cNvSpPr/>
          <p:nvPr/>
        </p:nvSpPr>
        <p:spPr>
          <a:xfrm>
            <a:off x="274320" y="1051560"/>
            <a:ext cx="2697480" cy="1783080"/>
          </a:xfrm>
          <a:prstGeom prst="roundRect">
            <a:avLst>
              <a:gd name="adj" fmla="val 5128"/>
            </a:avLst>
          </a:prstGeom>
          <a:solidFill>
            <a:srgbClr val="F2F6FA"/>
          </a:solidFill>
          <a:ln/>
          <a:effectLst>
            <a:outerShdw blurRad="101600" dist="38100" dir="2700000" algn="bl" rotWithShape="0">
              <a:srgbClr val="000000">
                <a:alpha val="12000"/>
              </a:srgbClr>
            </a:outerShdw>
          </a:effectLst>
        </p:spPr>
      </p:sp>
      <p:sp>
        <p:nvSpPr>
          <p:cNvPr id="5" name="Shape 3"/>
          <p:cNvSpPr/>
          <p:nvPr/>
        </p:nvSpPr>
        <p:spPr>
          <a:xfrm>
            <a:off x="384048" y="1143000"/>
            <a:ext cx="502920" cy="502920"/>
          </a:xfrm>
          <a:prstGeom prst="ellipse">
            <a:avLst/>
          </a:prstGeom>
          <a:solidFill>
            <a:srgbClr val="1F4E79"/>
          </a:solidFill>
          <a:ln/>
        </p:spPr>
      </p:sp>
      <p:pic>
        <p:nvPicPr>
          <p:cNvPr id="6" name="Image 0" descr="preencoded.png"/>
          <p:cNvPicPr>
            <a:picLocks noChangeAspect="1"/>
          </p:cNvPicPr>
          <p:nvPr/>
        </p:nvPicPr>
        <p:blipFill>
          <a:blip r:embed="rId3"/>
          <a:stretch>
            <a:fillRect/>
          </a:stretch>
        </p:blipFill>
        <p:spPr>
          <a:xfrm>
            <a:off x="429768" y="1188720"/>
            <a:ext cx="384048" cy="384048"/>
          </a:xfrm>
          <a:prstGeom prst="rect">
            <a:avLst/>
          </a:prstGeom>
        </p:spPr>
      </p:pic>
      <p:sp>
        <p:nvSpPr>
          <p:cNvPr id="7" name="Text 4"/>
          <p:cNvSpPr/>
          <p:nvPr/>
        </p:nvSpPr>
        <p:spPr>
          <a:xfrm>
            <a:off x="960120" y="1143000"/>
            <a:ext cx="1920240" cy="320040"/>
          </a:xfrm>
          <a:prstGeom prst="rect">
            <a:avLst/>
          </a:prstGeom>
          <a:noFill/>
          <a:ln/>
        </p:spPr>
        <p:txBody>
          <a:bodyPr wrap="square" rtlCol="0" anchor="ctr"/>
          <a:lstStyle/>
          <a:p>
            <a:pPr marL="0" indent="0">
              <a:buNone/>
            </a:pPr>
            <a:r>
              <a:rPr lang="en-US" sz="1200" b="1" dirty="0">
                <a:solidFill>
                  <a:srgbClr val="1F4E79"/>
                </a:solidFill>
              </a:rPr>
              <a:t>mistral-embed</a:t>
            </a:r>
            <a:endParaRPr lang="en-US" sz="1200" dirty="0"/>
          </a:p>
        </p:txBody>
      </p:sp>
      <p:sp>
        <p:nvSpPr>
          <p:cNvPr id="8" name="Text 5"/>
          <p:cNvSpPr/>
          <p:nvPr/>
        </p:nvSpPr>
        <p:spPr>
          <a:xfrm>
            <a:off x="960120" y="1463040"/>
            <a:ext cx="1920240" cy="274320"/>
          </a:xfrm>
          <a:prstGeom prst="rect">
            <a:avLst/>
          </a:prstGeom>
          <a:noFill/>
          <a:ln/>
        </p:spPr>
        <p:txBody>
          <a:bodyPr wrap="square" rtlCol="0" anchor="ctr"/>
          <a:lstStyle/>
          <a:p>
            <a:pPr marL="0" indent="0">
              <a:buNone/>
            </a:pPr>
            <a:r>
              <a:rPr lang="en-US" sz="1000" i="1" dirty="0">
                <a:solidFill>
                  <a:srgbClr val="5D6D7E"/>
                </a:solidFill>
              </a:rPr>
              <a:t>Embedding model</a:t>
            </a:r>
            <a:endParaRPr lang="en-US" sz="1000" dirty="0"/>
          </a:p>
        </p:txBody>
      </p:sp>
      <p:sp>
        <p:nvSpPr>
          <p:cNvPr id="9" name="Text 6"/>
          <p:cNvSpPr/>
          <p:nvPr/>
        </p:nvSpPr>
        <p:spPr>
          <a:xfrm>
            <a:off x="384048" y="1828800"/>
            <a:ext cx="2487168" cy="914400"/>
          </a:xfrm>
          <a:prstGeom prst="rect">
            <a:avLst/>
          </a:prstGeom>
          <a:noFill/>
          <a:ln/>
        </p:spPr>
        <p:txBody>
          <a:bodyPr wrap="square" rtlCol="0" anchor="ctr"/>
          <a:lstStyle/>
          <a:p>
            <a:pPr marL="0" indent="0">
              <a:buNone/>
            </a:pPr>
            <a:r>
              <a:rPr lang="en-US" sz="1000" dirty="0">
                <a:solidFill>
                  <a:srgbClr val="5D6D7E"/>
                </a:solidFill>
              </a:rPr>
              <a:t>1,024 dimensions. Optimised French support. Same provider as LLM for tokenisation consistency.</a:t>
            </a:r>
            <a:endParaRPr lang="en-US" sz="1000" dirty="0"/>
          </a:p>
        </p:txBody>
      </p:sp>
      <p:sp>
        <p:nvSpPr>
          <p:cNvPr id="10" name="Shape 7"/>
          <p:cNvSpPr/>
          <p:nvPr/>
        </p:nvSpPr>
        <p:spPr>
          <a:xfrm>
            <a:off x="3154680" y="1051560"/>
            <a:ext cx="2697480" cy="1783080"/>
          </a:xfrm>
          <a:prstGeom prst="roundRect">
            <a:avLst>
              <a:gd name="adj" fmla="val 5128"/>
            </a:avLst>
          </a:prstGeom>
          <a:solidFill>
            <a:srgbClr val="F2F6FA"/>
          </a:solidFill>
          <a:ln/>
          <a:effectLst>
            <a:outerShdw blurRad="101600" dist="38100" dir="2700000" algn="bl" rotWithShape="0">
              <a:srgbClr val="000000">
                <a:alpha val="12000"/>
              </a:srgbClr>
            </a:outerShdw>
          </a:effectLst>
        </p:spPr>
      </p:sp>
      <p:sp>
        <p:nvSpPr>
          <p:cNvPr id="11" name="Shape 8"/>
          <p:cNvSpPr/>
          <p:nvPr/>
        </p:nvSpPr>
        <p:spPr>
          <a:xfrm>
            <a:off x="3264408" y="1143000"/>
            <a:ext cx="502920" cy="502920"/>
          </a:xfrm>
          <a:prstGeom prst="ellipse">
            <a:avLst/>
          </a:prstGeom>
          <a:solidFill>
            <a:srgbClr val="2E75B6"/>
          </a:solidFill>
          <a:ln/>
        </p:spPr>
      </p:sp>
      <p:pic>
        <p:nvPicPr>
          <p:cNvPr id="12" name="Image 1" descr="preencoded.png"/>
          <p:cNvPicPr>
            <a:picLocks noChangeAspect="1"/>
          </p:cNvPicPr>
          <p:nvPr/>
        </p:nvPicPr>
        <p:blipFill>
          <a:blip r:embed="rId4"/>
          <a:stretch>
            <a:fillRect/>
          </a:stretch>
        </p:blipFill>
        <p:spPr>
          <a:xfrm>
            <a:off x="3310128" y="1188720"/>
            <a:ext cx="384048" cy="384048"/>
          </a:xfrm>
          <a:prstGeom prst="rect">
            <a:avLst/>
          </a:prstGeom>
        </p:spPr>
      </p:pic>
      <p:sp>
        <p:nvSpPr>
          <p:cNvPr id="13" name="Text 9"/>
          <p:cNvSpPr/>
          <p:nvPr/>
        </p:nvSpPr>
        <p:spPr>
          <a:xfrm>
            <a:off x="3840480" y="1143000"/>
            <a:ext cx="1920240" cy="320040"/>
          </a:xfrm>
          <a:prstGeom prst="rect">
            <a:avLst/>
          </a:prstGeom>
          <a:noFill/>
          <a:ln/>
        </p:spPr>
        <p:txBody>
          <a:bodyPr wrap="square" rtlCol="0" anchor="ctr"/>
          <a:lstStyle/>
          <a:p>
            <a:pPr marL="0" indent="0">
              <a:buNone/>
            </a:pPr>
            <a:r>
              <a:rPr lang="en-US" sz="1200" b="1" dirty="0">
                <a:solidFill>
                  <a:srgbClr val="1F4E79"/>
                </a:solidFill>
              </a:rPr>
              <a:t>FAISS IndexFlatL2</a:t>
            </a:r>
            <a:endParaRPr lang="en-US" sz="1200" dirty="0"/>
          </a:p>
        </p:txBody>
      </p:sp>
      <p:sp>
        <p:nvSpPr>
          <p:cNvPr id="14" name="Text 10"/>
          <p:cNvSpPr/>
          <p:nvPr/>
        </p:nvSpPr>
        <p:spPr>
          <a:xfrm>
            <a:off x="3840480" y="1463040"/>
            <a:ext cx="1920240" cy="274320"/>
          </a:xfrm>
          <a:prstGeom prst="rect">
            <a:avLst/>
          </a:prstGeom>
          <a:noFill/>
          <a:ln/>
        </p:spPr>
        <p:txBody>
          <a:bodyPr wrap="square" rtlCol="0" anchor="ctr"/>
          <a:lstStyle/>
          <a:p>
            <a:pPr marL="0" indent="0">
              <a:buNone/>
            </a:pPr>
            <a:r>
              <a:rPr lang="en-US" sz="1000" i="1" dirty="0">
                <a:solidFill>
                  <a:srgbClr val="5D6D7E"/>
                </a:solidFill>
              </a:rPr>
              <a:t>Vector database</a:t>
            </a:r>
            <a:endParaRPr lang="en-US" sz="1000" dirty="0"/>
          </a:p>
        </p:txBody>
      </p:sp>
      <p:sp>
        <p:nvSpPr>
          <p:cNvPr id="15" name="Text 11"/>
          <p:cNvSpPr/>
          <p:nvPr/>
        </p:nvSpPr>
        <p:spPr>
          <a:xfrm>
            <a:off x="3264408" y="1828800"/>
            <a:ext cx="2487168" cy="914400"/>
          </a:xfrm>
          <a:prstGeom prst="rect">
            <a:avLst/>
          </a:prstGeom>
          <a:noFill/>
          <a:ln/>
        </p:spPr>
        <p:txBody>
          <a:bodyPr wrap="square" rtlCol="0" anchor="ctr"/>
          <a:lstStyle/>
          <a:p>
            <a:pPr marL="0" indent="0">
              <a:buNone/>
            </a:pPr>
            <a:r>
              <a:rPr lang="en-US" sz="1000" dirty="0">
                <a:solidFill>
                  <a:srgbClr val="5D6D7E"/>
                </a:solidFill>
              </a:rPr>
              <a:t>Exact search in under 1 ms on 1,740 vectors. Zero configuration for POC. Scalable with IVFFlat in production.</a:t>
            </a:r>
            <a:endParaRPr lang="en-US" sz="1000" dirty="0"/>
          </a:p>
        </p:txBody>
      </p:sp>
      <p:sp>
        <p:nvSpPr>
          <p:cNvPr id="16" name="Shape 12"/>
          <p:cNvSpPr/>
          <p:nvPr/>
        </p:nvSpPr>
        <p:spPr>
          <a:xfrm>
            <a:off x="6035040" y="1051560"/>
            <a:ext cx="2697480" cy="1783080"/>
          </a:xfrm>
          <a:prstGeom prst="roundRect">
            <a:avLst>
              <a:gd name="adj" fmla="val 5128"/>
            </a:avLst>
          </a:prstGeom>
          <a:solidFill>
            <a:srgbClr val="F2F6FA"/>
          </a:solidFill>
          <a:ln/>
          <a:effectLst>
            <a:outerShdw blurRad="101600" dist="38100" dir="2700000" algn="bl" rotWithShape="0">
              <a:srgbClr val="000000">
                <a:alpha val="12000"/>
              </a:srgbClr>
            </a:outerShdw>
          </a:effectLst>
        </p:spPr>
      </p:sp>
      <p:sp>
        <p:nvSpPr>
          <p:cNvPr id="17" name="Shape 13"/>
          <p:cNvSpPr/>
          <p:nvPr/>
        </p:nvSpPr>
        <p:spPr>
          <a:xfrm>
            <a:off x="6144768" y="1143000"/>
            <a:ext cx="502920" cy="502920"/>
          </a:xfrm>
          <a:prstGeom prst="ellipse">
            <a:avLst/>
          </a:prstGeom>
          <a:solidFill>
            <a:srgbClr val="028090"/>
          </a:solidFill>
          <a:ln/>
        </p:spPr>
      </p:sp>
      <p:pic>
        <p:nvPicPr>
          <p:cNvPr id="18" name="Image 2" descr="preencoded.png"/>
          <p:cNvPicPr>
            <a:picLocks noChangeAspect="1"/>
          </p:cNvPicPr>
          <p:nvPr/>
        </p:nvPicPr>
        <p:blipFill>
          <a:blip r:embed="rId5"/>
          <a:stretch>
            <a:fillRect/>
          </a:stretch>
        </p:blipFill>
        <p:spPr>
          <a:xfrm>
            <a:off x="6190488" y="1188720"/>
            <a:ext cx="384048" cy="384048"/>
          </a:xfrm>
          <a:prstGeom prst="rect">
            <a:avLst/>
          </a:prstGeom>
        </p:spPr>
      </p:pic>
      <p:sp>
        <p:nvSpPr>
          <p:cNvPr id="19" name="Text 14"/>
          <p:cNvSpPr/>
          <p:nvPr/>
        </p:nvSpPr>
        <p:spPr>
          <a:xfrm>
            <a:off x="6720840" y="1143000"/>
            <a:ext cx="1920240" cy="320040"/>
          </a:xfrm>
          <a:prstGeom prst="rect">
            <a:avLst/>
          </a:prstGeom>
          <a:noFill/>
          <a:ln/>
        </p:spPr>
        <p:txBody>
          <a:bodyPr wrap="square" rtlCol="0" anchor="ctr"/>
          <a:lstStyle/>
          <a:p>
            <a:pPr marL="0" indent="0">
              <a:buNone/>
            </a:pPr>
            <a:r>
              <a:rPr lang="en-US" sz="1200" b="1" dirty="0">
                <a:solidFill>
                  <a:srgbClr val="1F4E79"/>
                </a:solidFill>
              </a:rPr>
              <a:t>mistral-small-latest</a:t>
            </a:r>
            <a:endParaRPr lang="en-US" sz="1200" dirty="0"/>
          </a:p>
        </p:txBody>
      </p:sp>
      <p:sp>
        <p:nvSpPr>
          <p:cNvPr id="20" name="Text 15"/>
          <p:cNvSpPr/>
          <p:nvPr/>
        </p:nvSpPr>
        <p:spPr>
          <a:xfrm>
            <a:off x="6720840" y="1463040"/>
            <a:ext cx="1920240" cy="274320"/>
          </a:xfrm>
          <a:prstGeom prst="rect">
            <a:avLst/>
          </a:prstGeom>
          <a:noFill/>
          <a:ln/>
        </p:spPr>
        <p:txBody>
          <a:bodyPr wrap="square" rtlCol="0" anchor="ctr"/>
          <a:lstStyle/>
          <a:p>
            <a:pPr marL="0" indent="0">
              <a:buNone/>
            </a:pPr>
            <a:r>
              <a:rPr lang="en-US" sz="1000" i="1" dirty="0">
                <a:solidFill>
                  <a:srgbClr val="5D6D7E"/>
                </a:solidFill>
              </a:rPr>
              <a:t>Generation model</a:t>
            </a:r>
            <a:endParaRPr lang="en-US" sz="1000" dirty="0"/>
          </a:p>
        </p:txBody>
      </p:sp>
      <p:sp>
        <p:nvSpPr>
          <p:cNvPr id="21" name="Text 16"/>
          <p:cNvSpPr/>
          <p:nvPr/>
        </p:nvSpPr>
        <p:spPr>
          <a:xfrm>
            <a:off x="6144768" y="1828800"/>
            <a:ext cx="2487168" cy="914400"/>
          </a:xfrm>
          <a:prstGeom prst="rect">
            <a:avLst/>
          </a:prstGeom>
          <a:noFill/>
          <a:ln/>
        </p:spPr>
        <p:txBody>
          <a:bodyPr wrap="square" rtlCol="0" anchor="ctr"/>
          <a:lstStyle/>
          <a:p>
            <a:pPr marL="0" indent="0">
              <a:buNone/>
            </a:pPr>
            <a:r>
              <a:rPr lang="en-US" sz="1000" dirty="0">
                <a:solidFill>
                  <a:srgbClr val="5D6D7E"/>
                </a:solidFill>
              </a:rPr>
              <a:t>Temperature 0.1. Free tier. French responses. Strict system prompt: zero hallucination.</a:t>
            </a:r>
            <a:endParaRPr lang="en-US" sz="1000" dirty="0"/>
          </a:p>
        </p:txBody>
      </p:sp>
      <p:sp>
        <p:nvSpPr>
          <p:cNvPr id="22" name="Shape 17"/>
          <p:cNvSpPr/>
          <p:nvPr/>
        </p:nvSpPr>
        <p:spPr>
          <a:xfrm>
            <a:off x="274320" y="2971800"/>
            <a:ext cx="2697480" cy="1783080"/>
          </a:xfrm>
          <a:prstGeom prst="roundRect">
            <a:avLst>
              <a:gd name="adj" fmla="val 5128"/>
            </a:avLst>
          </a:prstGeom>
          <a:solidFill>
            <a:srgbClr val="F2F6FA"/>
          </a:solidFill>
          <a:ln/>
          <a:effectLst>
            <a:outerShdw blurRad="101600" dist="38100" dir="2700000" algn="bl" rotWithShape="0">
              <a:srgbClr val="000000">
                <a:alpha val="12000"/>
              </a:srgbClr>
            </a:outerShdw>
          </a:effectLst>
        </p:spPr>
      </p:sp>
      <p:sp>
        <p:nvSpPr>
          <p:cNvPr id="23" name="Shape 18"/>
          <p:cNvSpPr/>
          <p:nvPr/>
        </p:nvSpPr>
        <p:spPr>
          <a:xfrm>
            <a:off x="384048" y="3063240"/>
            <a:ext cx="502920" cy="502920"/>
          </a:xfrm>
          <a:prstGeom prst="ellipse">
            <a:avLst/>
          </a:prstGeom>
          <a:solidFill>
            <a:srgbClr val="1F4E79"/>
          </a:solidFill>
          <a:ln/>
        </p:spPr>
      </p:sp>
      <p:pic>
        <p:nvPicPr>
          <p:cNvPr id="24" name="Image 3" descr="preencoded.png"/>
          <p:cNvPicPr>
            <a:picLocks noChangeAspect="1"/>
          </p:cNvPicPr>
          <p:nvPr/>
        </p:nvPicPr>
        <p:blipFill>
          <a:blip r:embed="rId6"/>
          <a:stretch>
            <a:fillRect/>
          </a:stretch>
        </p:blipFill>
        <p:spPr>
          <a:xfrm>
            <a:off x="429768" y="3108960"/>
            <a:ext cx="384048" cy="384048"/>
          </a:xfrm>
          <a:prstGeom prst="rect">
            <a:avLst/>
          </a:prstGeom>
        </p:spPr>
      </p:pic>
      <p:sp>
        <p:nvSpPr>
          <p:cNvPr id="25" name="Text 19"/>
          <p:cNvSpPr/>
          <p:nvPr/>
        </p:nvSpPr>
        <p:spPr>
          <a:xfrm>
            <a:off x="960120" y="3063240"/>
            <a:ext cx="1920240" cy="320040"/>
          </a:xfrm>
          <a:prstGeom prst="rect">
            <a:avLst/>
          </a:prstGeom>
          <a:noFill/>
          <a:ln/>
        </p:spPr>
        <p:txBody>
          <a:bodyPr wrap="square" rtlCol="0" anchor="ctr"/>
          <a:lstStyle/>
          <a:p>
            <a:pPr marL="0" indent="0">
              <a:buNone/>
            </a:pPr>
            <a:r>
              <a:rPr lang="en-US" sz="1200" b="1" dirty="0">
                <a:solidFill>
                  <a:srgbClr val="1F4E79"/>
                </a:solidFill>
              </a:rPr>
              <a:t>Poetry + Python 3.13</a:t>
            </a:r>
            <a:endParaRPr lang="en-US" sz="1200" dirty="0"/>
          </a:p>
        </p:txBody>
      </p:sp>
      <p:sp>
        <p:nvSpPr>
          <p:cNvPr id="26" name="Text 20"/>
          <p:cNvSpPr/>
          <p:nvPr/>
        </p:nvSpPr>
        <p:spPr>
          <a:xfrm>
            <a:off x="960120" y="3383280"/>
            <a:ext cx="1920240" cy="274320"/>
          </a:xfrm>
          <a:prstGeom prst="rect">
            <a:avLst/>
          </a:prstGeom>
          <a:noFill/>
          <a:ln/>
        </p:spPr>
        <p:txBody>
          <a:bodyPr wrap="square" rtlCol="0" anchor="ctr"/>
          <a:lstStyle/>
          <a:p>
            <a:pPr marL="0" indent="0">
              <a:buNone/>
            </a:pPr>
            <a:r>
              <a:rPr lang="en-US" sz="1000" i="1" dirty="0">
                <a:solidFill>
                  <a:srgbClr val="5D6D7E"/>
                </a:solidFill>
              </a:rPr>
              <a:t>Environment</a:t>
            </a:r>
            <a:endParaRPr lang="en-US" sz="1000" dirty="0"/>
          </a:p>
        </p:txBody>
      </p:sp>
      <p:sp>
        <p:nvSpPr>
          <p:cNvPr id="27" name="Text 21"/>
          <p:cNvSpPr/>
          <p:nvPr/>
        </p:nvSpPr>
        <p:spPr>
          <a:xfrm>
            <a:off x="384048" y="3749040"/>
            <a:ext cx="2487168" cy="914400"/>
          </a:xfrm>
          <a:prstGeom prst="rect">
            <a:avLst/>
          </a:prstGeom>
          <a:noFill/>
          <a:ln/>
        </p:spPr>
        <p:txBody>
          <a:bodyPr wrap="square" rtlCol="0" anchor="ctr"/>
          <a:lstStyle/>
          <a:p>
            <a:pPr marL="0" indent="0">
              <a:buNone/>
            </a:pPr>
            <a:r>
              <a:rPr lang="en-US" sz="1000" dirty="0">
                <a:solidFill>
                  <a:srgbClr val="5D6D7E"/>
                </a:solidFill>
              </a:rPr>
              <a:t>Lock file for reproducibility. Python bounded to 3.13-3.15. mistralai pinned to 1.2.5.</a:t>
            </a:r>
            <a:endParaRPr lang="en-US" sz="1000" dirty="0"/>
          </a:p>
        </p:txBody>
      </p:sp>
      <p:sp>
        <p:nvSpPr>
          <p:cNvPr id="28" name="Shape 22"/>
          <p:cNvSpPr/>
          <p:nvPr/>
        </p:nvSpPr>
        <p:spPr>
          <a:xfrm>
            <a:off x="3154680" y="2971800"/>
            <a:ext cx="2697480" cy="1783080"/>
          </a:xfrm>
          <a:prstGeom prst="roundRect">
            <a:avLst>
              <a:gd name="adj" fmla="val 5128"/>
            </a:avLst>
          </a:prstGeom>
          <a:solidFill>
            <a:srgbClr val="F2F6FA"/>
          </a:solidFill>
          <a:ln/>
          <a:effectLst>
            <a:outerShdw blurRad="101600" dist="38100" dir="2700000" algn="bl" rotWithShape="0">
              <a:srgbClr val="000000">
                <a:alpha val="12000"/>
              </a:srgbClr>
            </a:outerShdw>
          </a:effectLst>
        </p:spPr>
      </p:sp>
      <p:sp>
        <p:nvSpPr>
          <p:cNvPr id="29" name="Shape 23"/>
          <p:cNvSpPr/>
          <p:nvPr/>
        </p:nvSpPr>
        <p:spPr>
          <a:xfrm>
            <a:off x="3264408" y="3063240"/>
            <a:ext cx="502920" cy="502920"/>
          </a:xfrm>
          <a:prstGeom prst="ellipse">
            <a:avLst/>
          </a:prstGeom>
          <a:solidFill>
            <a:srgbClr val="2E75B6"/>
          </a:solidFill>
          <a:ln/>
        </p:spPr>
      </p:sp>
      <p:pic>
        <p:nvPicPr>
          <p:cNvPr id="30" name="Image 4" descr="preencoded.png"/>
          <p:cNvPicPr>
            <a:picLocks noChangeAspect="1"/>
          </p:cNvPicPr>
          <p:nvPr/>
        </p:nvPicPr>
        <p:blipFill>
          <a:blip r:embed="rId7"/>
          <a:stretch>
            <a:fillRect/>
          </a:stretch>
        </p:blipFill>
        <p:spPr>
          <a:xfrm>
            <a:off x="3310128" y="3108960"/>
            <a:ext cx="384048" cy="384048"/>
          </a:xfrm>
          <a:prstGeom prst="rect">
            <a:avLst/>
          </a:prstGeom>
        </p:spPr>
      </p:pic>
      <p:sp>
        <p:nvSpPr>
          <p:cNvPr id="31" name="Text 24"/>
          <p:cNvSpPr/>
          <p:nvPr/>
        </p:nvSpPr>
        <p:spPr>
          <a:xfrm>
            <a:off x="3840480" y="3063240"/>
            <a:ext cx="1920240" cy="320040"/>
          </a:xfrm>
          <a:prstGeom prst="rect">
            <a:avLst/>
          </a:prstGeom>
          <a:noFill/>
          <a:ln/>
        </p:spPr>
        <p:txBody>
          <a:bodyPr wrap="square" rtlCol="0" anchor="ctr"/>
          <a:lstStyle/>
          <a:p>
            <a:pPr marL="0" indent="0">
              <a:buNone/>
            </a:pPr>
            <a:r>
              <a:rPr lang="en-US" sz="1200" b="1" dirty="0">
                <a:solidFill>
                  <a:srgbClr val="1F4E79"/>
                </a:solidFill>
              </a:rPr>
              <a:t>1 chunk per event</a:t>
            </a:r>
            <a:endParaRPr lang="en-US" sz="1200" dirty="0"/>
          </a:p>
        </p:txBody>
      </p:sp>
      <p:sp>
        <p:nvSpPr>
          <p:cNvPr id="32" name="Text 25"/>
          <p:cNvSpPr/>
          <p:nvPr/>
        </p:nvSpPr>
        <p:spPr>
          <a:xfrm>
            <a:off x="3840480" y="3383280"/>
            <a:ext cx="1920240" cy="274320"/>
          </a:xfrm>
          <a:prstGeom prst="rect">
            <a:avLst/>
          </a:prstGeom>
          <a:noFill/>
          <a:ln/>
        </p:spPr>
        <p:txBody>
          <a:bodyPr wrap="square" rtlCol="0" anchor="ctr"/>
          <a:lstStyle/>
          <a:p>
            <a:pPr marL="0" indent="0">
              <a:buNone/>
            </a:pPr>
            <a:r>
              <a:rPr lang="en-US" sz="1000" i="1" dirty="0">
                <a:solidFill>
                  <a:srgbClr val="5D6D7E"/>
                </a:solidFill>
              </a:rPr>
              <a:t>Chunking strategy</a:t>
            </a:r>
            <a:endParaRPr lang="en-US" sz="1000" dirty="0"/>
          </a:p>
        </p:txBody>
      </p:sp>
      <p:sp>
        <p:nvSpPr>
          <p:cNvPr id="33" name="Text 26"/>
          <p:cNvSpPr/>
          <p:nvPr/>
        </p:nvSpPr>
        <p:spPr>
          <a:xfrm>
            <a:off x="3264408" y="3749040"/>
            <a:ext cx="2487168" cy="914400"/>
          </a:xfrm>
          <a:prstGeom prst="rect">
            <a:avLst/>
          </a:prstGeom>
          <a:noFill/>
          <a:ln/>
        </p:spPr>
        <p:txBody>
          <a:bodyPr wrap="square" rtlCol="0" anchor="ctr"/>
          <a:lstStyle/>
          <a:p>
            <a:pPr marL="0" indent="0">
              <a:buNone/>
            </a:pPr>
            <a:r>
              <a:rPr lang="en-US" sz="1000" dirty="0">
                <a:solidFill>
                  <a:srgbClr val="5D6D7E"/>
                </a:solidFill>
              </a:rPr>
              <a:t>Median 50 characters. No recursive splitting. Concatenate title + description + venue + date.</a:t>
            </a:r>
            <a:endParaRPr lang="en-US" sz="1000" dirty="0"/>
          </a:p>
        </p:txBody>
      </p:sp>
      <p:sp>
        <p:nvSpPr>
          <p:cNvPr id="34" name="Shape 27"/>
          <p:cNvSpPr/>
          <p:nvPr/>
        </p:nvSpPr>
        <p:spPr>
          <a:xfrm>
            <a:off x="6035040" y="2971800"/>
            <a:ext cx="2697480" cy="1783080"/>
          </a:xfrm>
          <a:prstGeom prst="roundRect">
            <a:avLst>
              <a:gd name="adj" fmla="val 5128"/>
            </a:avLst>
          </a:prstGeom>
          <a:solidFill>
            <a:srgbClr val="F2F6FA"/>
          </a:solidFill>
          <a:ln/>
          <a:effectLst>
            <a:outerShdw blurRad="101600" dist="38100" dir="2700000" algn="bl" rotWithShape="0">
              <a:srgbClr val="000000">
                <a:alpha val="12000"/>
              </a:srgbClr>
            </a:outerShdw>
          </a:effectLst>
        </p:spPr>
      </p:sp>
      <p:sp>
        <p:nvSpPr>
          <p:cNvPr id="35" name="Shape 28"/>
          <p:cNvSpPr/>
          <p:nvPr/>
        </p:nvSpPr>
        <p:spPr>
          <a:xfrm>
            <a:off x="6144768" y="3063240"/>
            <a:ext cx="502920" cy="502920"/>
          </a:xfrm>
          <a:prstGeom prst="ellipse">
            <a:avLst/>
          </a:prstGeom>
          <a:solidFill>
            <a:srgbClr val="028090"/>
          </a:solidFill>
          <a:ln/>
        </p:spPr>
      </p:sp>
      <p:pic>
        <p:nvPicPr>
          <p:cNvPr id="36" name="Image 5" descr="preencoded.png"/>
          <p:cNvPicPr>
            <a:picLocks noChangeAspect="1"/>
          </p:cNvPicPr>
          <p:nvPr/>
        </p:nvPicPr>
        <p:blipFill>
          <a:blip r:embed="rId8"/>
          <a:stretch>
            <a:fillRect/>
          </a:stretch>
        </p:blipFill>
        <p:spPr>
          <a:xfrm>
            <a:off x="6190488" y="3108960"/>
            <a:ext cx="384048" cy="384048"/>
          </a:xfrm>
          <a:prstGeom prst="rect">
            <a:avLst/>
          </a:prstGeom>
        </p:spPr>
      </p:pic>
      <p:sp>
        <p:nvSpPr>
          <p:cNvPr id="37" name="Text 29"/>
          <p:cNvSpPr/>
          <p:nvPr/>
        </p:nvSpPr>
        <p:spPr>
          <a:xfrm>
            <a:off x="6720840" y="3063240"/>
            <a:ext cx="1920240" cy="320040"/>
          </a:xfrm>
          <a:prstGeom prst="rect">
            <a:avLst/>
          </a:prstGeom>
          <a:noFill/>
          <a:ln/>
        </p:spPr>
        <p:txBody>
          <a:bodyPr wrap="square" rtlCol="0" anchor="ctr"/>
          <a:lstStyle/>
          <a:p>
            <a:pPr marL="0" indent="0">
              <a:buNone/>
            </a:pPr>
            <a:r>
              <a:rPr lang="en-US" sz="1200" b="1" dirty="0">
                <a:solidFill>
                  <a:srgbClr val="1F4E79"/>
                </a:solidFill>
              </a:rPr>
              <a:t>Streamlit</a:t>
            </a:r>
            <a:endParaRPr lang="en-US" sz="1200" dirty="0"/>
          </a:p>
        </p:txBody>
      </p:sp>
      <p:sp>
        <p:nvSpPr>
          <p:cNvPr id="38" name="Text 30"/>
          <p:cNvSpPr/>
          <p:nvPr/>
        </p:nvSpPr>
        <p:spPr>
          <a:xfrm>
            <a:off x="6720840" y="3383280"/>
            <a:ext cx="1920240" cy="274320"/>
          </a:xfrm>
          <a:prstGeom prst="rect">
            <a:avLst/>
          </a:prstGeom>
          <a:noFill/>
          <a:ln/>
        </p:spPr>
        <p:txBody>
          <a:bodyPr wrap="square" rtlCol="0" anchor="ctr"/>
          <a:lstStyle/>
          <a:p>
            <a:pPr marL="0" indent="0">
              <a:buNone/>
            </a:pPr>
            <a:r>
              <a:rPr lang="en-US" sz="1000" i="1" dirty="0">
                <a:solidFill>
                  <a:srgbClr val="5D6D7E"/>
                </a:solidFill>
              </a:rPr>
              <a:t>Interface</a:t>
            </a:r>
            <a:endParaRPr lang="en-US" sz="1000" dirty="0"/>
          </a:p>
        </p:txBody>
      </p:sp>
      <p:sp>
        <p:nvSpPr>
          <p:cNvPr id="39" name="Text 31"/>
          <p:cNvSpPr/>
          <p:nvPr/>
        </p:nvSpPr>
        <p:spPr>
          <a:xfrm>
            <a:off x="6144768" y="3749040"/>
            <a:ext cx="2487168" cy="914400"/>
          </a:xfrm>
          <a:prstGeom prst="rect">
            <a:avLst/>
          </a:prstGeom>
          <a:noFill/>
          <a:ln/>
        </p:spPr>
        <p:txBody>
          <a:bodyPr wrap="square" rtlCol="0" anchor="ctr"/>
          <a:lstStyle/>
          <a:p>
            <a:pPr marL="0" indent="0">
              <a:buNone/>
            </a:pPr>
            <a:r>
              <a:rPr lang="en-US" sz="1000" dirty="0">
                <a:solidFill>
                  <a:srgbClr val="5D6D7E"/>
                </a:solidFill>
              </a:rPr>
              <a:t>Conversational interface with source sidebar. Single load via @st.cache_resource.</a:t>
            </a:r>
            <a:endParaRPr lang="en-US" sz="1000" dirty="0"/>
          </a:p>
        </p:txBody>
      </p:sp>
    </p:spTree>
    <p:extLst>
      <p:ext uri="{BB962C8B-B14F-4D97-AF65-F5344CB8AC3E}">
        <p14:creationId xmlns:p14="http://schemas.microsoft.com/office/powerpoint/2010/main" val="34492708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Deliverables Submitte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F4E79"/>
          </a:solidFill>
          <a:ln/>
        </p:spPr>
      </p:sp>
      <p:sp>
        <p:nvSpPr>
          <p:cNvPr id="3" name="Text 1"/>
          <p:cNvSpPr/>
          <p:nvPr/>
        </p:nvSpPr>
        <p:spPr>
          <a:xfrm>
            <a:off x="365760" y="0"/>
            <a:ext cx="8412480" cy="914400"/>
          </a:xfrm>
          <a:prstGeom prst="rect">
            <a:avLst/>
          </a:prstGeom>
          <a:noFill/>
          <a:ln/>
        </p:spPr>
        <p:txBody>
          <a:bodyPr wrap="square" rtlCol="0" anchor="ctr"/>
          <a:lstStyle/>
          <a:p>
            <a:pPr marL="0" indent="0">
              <a:buNone/>
            </a:pPr>
            <a:r>
              <a:rPr lang="en-US" sz="2200" b="1" dirty="0">
                <a:solidFill>
                  <a:srgbClr val="FFFFFF"/>
                </a:solidFill>
              </a:rPr>
              <a:t>DELIVERABLES SUBMITTED</a:t>
            </a:r>
            <a:endParaRPr lang="en-US" sz="2200" dirty="0"/>
          </a:p>
        </p:txBody>
      </p:sp>
      <p:sp>
        <p:nvSpPr>
          <p:cNvPr id="10" name="Card1"/>
          <p:cNvSpPr/>
          <p:nvPr/>
        </p:nvSpPr>
        <p:spPr>
          <a:xfrm>
            <a:off x="274320" y="1051560"/>
            <a:ext cx="4114800" cy="685800"/>
          </a:xfrm>
          <a:prstGeom prst="roundRect">
            <a:avLst>
              <a:gd name="adj" fmla="val 10667"/>
            </a:avLst>
          </a:prstGeom>
          <a:solidFill>
            <a:srgbClr val="F2F6FA"/>
          </a:solidFill>
          <a:ln/>
        </p:spPr>
      </p:sp>
      <p:sp>
        <p:nvSpPr>
          <p:cNvPr id="11" name="Num1"/>
          <p:cNvSpPr/>
          <p:nvPr/>
        </p:nvSpPr>
        <p:spPr>
          <a:xfrm>
            <a:off x="384048" y="1143000"/>
            <a:ext cx="457200" cy="502920"/>
          </a:xfrm>
          <a:prstGeom prst="roundRect">
            <a:avLst>
              <a:gd name="adj" fmla="val 12000"/>
            </a:avLst>
          </a:prstGeom>
          <a:solidFill>
            <a:srgbClr val="1F4E79"/>
          </a:solidFill>
          <a:ln/>
        </p:spPr>
      </p:sp>
      <p:sp>
        <p:nvSpPr>
          <p:cNvPr id="12" name="NumTxt1"/>
          <p:cNvSpPr/>
          <p:nvPr/>
        </p:nvSpPr>
        <p:spPr>
          <a:xfrm>
            <a:off x="384048" y="1143000"/>
            <a:ext cx="457200" cy="502920"/>
          </a:xfrm>
          <a:prstGeom prst="rect">
            <a:avLst/>
          </a:prstGeom>
          <a:noFill/>
          <a:ln/>
        </p:spPr>
        <p:txBody>
          <a:bodyPr wrap="square" lIns="0" tIns="0" rIns="0" bIns="0" rtlCol="0" anchor="ctr"/>
          <a:lstStyle/>
          <a:p>
            <a:pPr marL="0" indent="0" algn="ctr">
              <a:buNone/>
            </a:pPr>
            <a:r>
              <a:rPr lang="en-US" sz="1200" b="1" dirty="0">
                <a:solidFill>
                  <a:srgbClr val="FFFFFF"/>
                </a:solidFill>
              </a:rPr>
              <a:t>1</a:t>
            </a:r>
          </a:p>
        </p:txBody>
      </p:sp>
      <p:sp>
        <p:nvSpPr>
          <p:cNvPr id="13" name="Title1"/>
          <p:cNvSpPr/>
          <p:nvPr/>
        </p:nvSpPr>
        <p:spPr>
          <a:xfrm>
            <a:off x="932688" y="1124712"/>
            <a:ext cx="3200400" cy="320040"/>
          </a:xfrm>
          <a:prstGeom prst="rect">
            <a:avLst/>
          </a:prstGeom>
          <a:noFill/>
          <a:ln/>
        </p:spPr>
        <p:txBody>
          <a:bodyPr wrap="square" rtlCol="0" anchor="ctr"/>
          <a:lstStyle/>
          <a:p>
            <a:pPr marL="0" indent="0">
              <a:buNone/>
            </a:pPr>
            <a:r>
              <a:rPr lang="en-US" sz="1200" b="1" dirty="0">
                <a:solidFill>
                  <a:srgbClr val="1F4E79"/>
                </a:solidFill>
              </a:rPr>
              <a:t>README</a:t>
            </a:r>
          </a:p>
        </p:txBody>
      </p:sp>
      <p:sp>
        <p:nvSpPr>
          <p:cNvPr id="14" name="Desc1"/>
          <p:cNvSpPr/>
          <p:nvPr/>
        </p:nvSpPr>
        <p:spPr>
          <a:xfrm>
            <a:off x="932688" y="1435608"/>
            <a:ext cx="3200400" cy="256032"/>
          </a:xfrm>
          <a:prstGeom prst="rect">
            <a:avLst/>
          </a:prstGeom>
          <a:noFill/>
          <a:ln/>
        </p:spPr>
        <p:txBody>
          <a:bodyPr wrap="square" rtlCol="0" anchor="ctr"/>
          <a:lstStyle/>
          <a:p>
            <a:pPr marL="0" indent="0">
              <a:buNone/>
            </a:pPr>
            <a:r>
              <a:rPr lang="en-US" sz="1000" dirty="0">
                <a:solidFill>
                  <a:srgbClr val="5D6D7E"/>
                </a:solidFill>
              </a:rPr>
              <a:t>Overview, objectives, reproduction steps, file/folder guide</a:t>
            </a:r>
          </a:p>
        </p:txBody>
      </p:sp>
      <p:sp>
        <p:nvSpPr>
          <p:cNvPr id="20" name="Card2"/>
          <p:cNvSpPr/>
          <p:nvPr/>
        </p:nvSpPr>
        <p:spPr>
          <a:xfrm>
            <a:off x="274320" y="1837944"/>
            <a:ext cx="4114800" cy="685800"/>
          </a:xfrm>
          <a:prstGeom prst="roundRect">
            <a:avLst>
              <a:gd name="adj" fmla="val 10667"/>
            </a:avLst>
          </a:prstGeom>
          <a:solidFill>
            <a:srgbClr val="F2F6FA"/>
          </a:solidFill>
          <a:ln/>
        </p:spPr>
      </p:sp>
      <p:sp>
        <p:nvSpPr>
          <p:cNvPr id="21" name="Num2"/>
          <p:cNvSpPr/>
          <p:nvPr/>
        </p:nvSpPr>
        <p:spPr>
          <a:xfrm>
            <a:off x="384048" y="1929384"/>
            <a:ext cx="457200" cy="502920"/>
          </a:xfrm>
          <a:prstGeom prst="roundRect">
            <a:avLst>
              <a:gd name="adj" fmla="val 12000"/>
            </a:avLst>
          </a:prstGeom>
          <a:solidFill>
            <a:srgbClr val="2E75B6"/>
          </a:solidFill>
          <a:ln/>
        </p:spPr>
      </p:sp>
      <p:sp>
        <p:nvSpPr>
          <p:cNvPr id="22" name="NumTxt2"/>
          <p:cNvSpPr/>
          <p:nvPr/>
        </p:nvSpPr>
        <p:spPr>
          <a:xfrm>
            <a:off x="384048" y="1929384"/>
            <a:ext cx="457200" cy="502920"/>
          </a:xfrm>
          <a:prstGeom prst="rect">
            <a:avLst/>
          </a:prstGeom>
          <a:noFill/>
          <a:ln/>
        </p:spPr>
        <p:txBody>
          <a:bodyPr wrap="square" lIns="0" tIns="0" rIns="0" bIns="0" rtlCol="0" anchor="ctr"/>
          <a:lstStyle/>
          <a:p>
            <a:pPr marL="0" indent="0" algn="ctr">
              <a:buNone/>
            </a:pPr>
            <a:r>
              <a:rPr lang="en-US" sz="1200" b="1" dirty="0">
                <a:solidFill>
                  <a:srgbClr val="FFFFFF"/>
                </a:solidFill>
              </a:rPr>
              <a:t>2</a:t>
            </a:r>
          </a:p>
        </p:txBody>
      </p:sp>
      <p:sp>
        <p:nvSpPr>
          <p:cNvPr id="23" name="Title2"/>
          <p:cNvSpPr/>
          <p:nvPr/>
        </p:nvSpPr>
        <p:spPr>
          <a:xfrm>
            <a:off x="932688" y="1911096"/>
            <a:ext cx="3200400" cy="320040"/>
          </a:xfrm>
          <a:prstGeom prst="rect">
            <a:avLst/>
          </a:prstGeom>
          <a:noFill/>
          <a:ln/>
        </p:spPr>
        <p:txBody>
          <a:bodyPr wrap="square" rtlCol="0" anchor="ctr"/>
          <a:lstStyle/>
          <a:p>
            <a:pPr marL="0" indent="0">
              <a:buNone/>
            </a:pPr>
            <a:r>
              <a:rPr lang="en-US" sz="1200" b="1" dirty="0">
                <a:solidFill>
                  <a:srgbClr val="1F4E79"/>
                </a:solidFill>
              </a:rPr>
              <a:t>Dependency Management</a:t>
            </a:r>
          </a:p>
        </p:txBody>
      </p:sp>
      <p:sp>
        <p:nvSpPr>
          <p:cNvPr id="24" name="Desc2"/>
          <p:cNvSpPr/>
          <p:nvPr/>
        </p:nvSpPr>
        <p:spPr>
          <a:xfrm>
            <a:off x="932688" y="2221992"/>
            <a:ext cx="3200400" cy="256032"/>
          </a:xfrm>
          <a:prstGeom prst="rect">
            <a:avLst/>
          </a:prstGeom>
          <a:noFill/>
          <a:ln/>
        </p:spPr>
        <p:txBody>
          <a:bodyPr wrap="square" rtlCol="0" anchor="ctr"/>
          <a:lstStyle/>
          <a:p>
            <a:pPr marL="0" indent="0">
              <a:buNone/>
            </a:pPr>
            <a:r>
              <a:rPr lang="en-US" sz="1000" dirty="0">
                <a:solidFill>
                  <a:srgbClr val="5D6D7E"/>
                </a:solidFill>
              </a:rPr>
              <a:t>Poetry, pyproject.toml, poetry.lock — reproducible environment</a:t>
            </a:r>
          </a:p>
        </p:txBody>
      </p:sp>
      <p:sp>
        <p:nvSpPr>
          <p:cNvPr id="30" name="Card3"/>
          <p:cNvSpPr/>
          <p:nvPr/>
        </p:nvSpPr>
        <p:spPr>
          <a:xfrm>
            <a:off x="274320" y="2624328"/>
            <a:ext cx="4114800" cy="685800"/>
          </a:xfrm>
          <a:prstGeom prst="roundRect">
            <a:avLst>
              <a:gd name="adj" fmla="val 10667"/>
            </a:avLst>
          </a:prstGeom>
          <a:solidFill>
            <a:srgbClr val="F2F6FA"/>
          </a:solidFill>
          <a:ln/>
        </p:spPr>
      </p:sp>
      <p:sp>
        <p:nvSpPr>
          <p:cNvPr id="31" name="Num3"/>
          <p:cNvSpPr/>
          <p:nvPr/>
        </p:nvSpPr>
        <p:spPr>
          <a:xfrm>
            <a:off x="384048" y="2715768"/>
            <a:ext cx="457200" cy="502920"/>
          </a:xfrm>
          <a:prstGeom prst="roundRect">
            <a:avLst>
              <a:gd name="adj" fmla="val 12000"/>
            </a:avLst>
          </a:prstGeom>
          <a:solidFill>
            <a:srgbClr val="028090"/>
          </a:solidFill>
          <a:ln/>
        </p:spPr>
      </p:sp>
      <p:sp>
        <p:nvSpPr>
          <p:cNvPr id="32" name="NumTxt3"/>
          <p:cNvSpPr/>
          <p:nvPr/>
        </p:nvSpPr>
        <p:spPr>
          <a:xfrm>
            <a:off x="384048" y="2715768"/>
            <a:ext cx="457200" cy="502920"/>
          </a:xfrm>
          <a:prstGeom prst="rect">
            <a:avLst/>
          </a:prstGeom>
          <a:noFill/>
          <a:ln/>
        </p:spPr>
        <p:txBody>
          <a:bodyPr wrap="square" lIns="0" tIns="0" rIns="0" bIns="0" rtlCol="0" anchor="ctr"/>
          <a:lstStyle/>
          <a:p>
            <a:pPr marL="0" indent="0" algn="ctr">
              <a:buNone/>
            </a:pPr>
            <a:r>
              <a:rPr lang="en-US" sz="1200" b="1" dirty="0">
                <a:solidFill>
                  <a:srgbClr val="FFFFFF"/>
                </a:solidFill>
              </a:rPr>
              <a:t>3</a:t>
            </a:r>
          </a:p>
        </p:txBody>
      </p:sp>
      <p:sp>
        <p:nvSpPr>
          <p:cNvPr id="33" name="Title3"/>
          <p:cNvSpPr/>
          <p:nvPr/>
        </p:nvSpPr>
        <p:spPr>
          <a:xfrm>
            <a:off x="932688" y="2697480"/>
            <a:ext cx="3200400" cy="320040"/>
          </a:xfrm>
          <a:prstGeom prst="rect">
            <a:avLst/>
          </a:prstGeom>
          <a:noFill/>
          <a:ln/>
        </p:spPr>
        <p:txBody>
          <a:bodyPr wrap="square" rtlCol="0" anchor="ctr"/>
          <a:lstStyle/>
          <a:p>
            <a:pPr marL="0" indent="0">
              <a:buNone/>
            </a:pPr>
            <a:r>
              <a:rPr lang="en-US" sz="1200" b="1" dirty="0">
                <a:solidFill>
                  <a:srgbClr val="1F4E79"/>
                </a:solidFill>
              </a:rPr>
              <a:t>Pre-processing &amp; Vectorization Scripts</a:t>
            </a:r>
          </a:p>
        </p:txBody>
      </p:sp>
      <p:sp>
        <p:nvSpPr>
          <p:cNvPr id="34" name="Desc3"/>
          <p:cNvSpPr/>
          <p:nvPr/>
        </p:nvSpPr>
        <p:spPr>
          <a:xfrm>
            <a:off x="932688" y="3008376"/>
            <a:ext cx="3200400" cy="256032"/>
          </a:xfrm>
          <a:prstGeom prst="rect">
            <a:avLst/>
          </a:prstGeom>
          <a:noFill/>
          <a:ln/>
        </p:spPr>
        <p:txBody>
          <a:bodyPr wrap="square" rtlCol="0" anchor="ctr"/>
          <a:lstStyle/>
          <a:p>
            <a:pPr marL="0" indent="0">
              <a:buNone/>
            </a:pPr>
            <a:r>
              <a:rPr lang="en-US" sz="1000" dirty="0">
                <a:solidFill>
                  <a:srgbClr val="5D6D7E"/>
                </a:solidFill>
              </a:rPr>
              <a:t>fetch, chunk, embed, index — with integrated docstrings</a:t>
            </a:r>
          </a:p>
        </p:txBody>
      </p:sp>
      <p:sp>
        <p:nvSpPr>
          <p:cNvPr id="40" name="Card4"/>
          <p:cNvSpPr/>
          <p:nvPr/>
        </p:nvSpPr>
        <p:spPr>
          <a:xfrm>
            <a:off x="274320" y="3410712"/>
            <a:ext cx="4114800" cy="685800"/>
          </a:xfrm>
          <a:prstGeom prst="roundRect">
            <a:avLst>
              <a:gd name="adj" fmla="val 10667"/>
            </a:avLst>
          </a:prstGeom>
          <a:solidFill>
            <a:srgbClr val="F2F6FA"/>
          </a:solidFill>
          <a:ln/>
        </p:spPr>
      </p:sp>
      <p:sp>
        <p:nvSpPr>
          <p:cNvPr id="41" name="Num4"/>
          <p:cNvSpPr/>
          <p:nvPr/>
        </p:nvSpPr>
        <p:spPr>
          <a:xfrm>
            <a:off x="384048" y="3502152"/>
            <a:ext cx="457200" cy="502920"/>
          </a:xfrm>
          <a:prstGeom prst="roundRect">
            <a:avLst>
              <a:gd name="adj" fmla="val 12000"/>
            </a:avLst>
          </a:prstGeom>
          <a:solidFill>
            <a:srgbClr val="1F4E79"/>
          </a:solidFill>
          <a:ln/>
        </p:spPr>
      </p:sp>
      <p:sp>
        <p:nvSpPr>
          <p:cNvPr id="42" name="NumTxt4"/>
          <p:cNvSpPr/>
          <p:nvPr/>
        </p:nvSpPr>
        <p:spPr>
          <a:xfrm>
            <a:off x="384048" y="3502152"/>
            <a:ext cx="457200" cy="502920"/>
          </a:xfrm>
          <a:prstGeom prst="rect">
            <a:avLst/>
          </a:prstGeom>
          <a:noFill/>
          <a:ln/>
        </p:spPr>
        <p:txBody>
          <a:bodyPr wrap="square" lIns="0" tIns="0" rIns="0" bIns="0" rtlCol="0" anchor="ctr"/>
          <a:lstStyle/>
          <a:p>
            <a:pPr marL="0" indent="0" algn="ctr">
              <a:buNone/>
            </a:pPr>
            <a:r>
              <a:rPr lang="en-US" sz="1200" b="1" dirty="0">
                <a:solidFill>
                  <a:srgbClr val="FFFFFF"/>
                </a:solidFill>
              </a:rPr>
              <a:t>4</a:t>
            </a:r>
          </a:p>
        </p:txBody>
      </p:sp>
      <p:sp>
        <p:nvSpPr>
          <p:cNvPr id="43" name="Title4"/>
          <p:cNvSpPr/>
          <p:nvPr/>
        </p:nvSpPr>
        <p:spPr>
          <a:xfrm>
            <a:off x="932688" y="3483864"/>
            <a:ext cx="3200400" cy="320040"/>
          </a:xfrm>
          <a:prstGeom prst="rect">
            <a:avLst/>
          </a:prstGeom>
          <a:noFill/>
          <a:ln/>
        </p:spPr>
        <p:txBody>
          <a:bodyPr wrap="square" rtlCol="0" anchor="ctr"/>
          <a:lstStyle/>
          <a:p>
            <a:pPr marL="0" indent="0">
              <a:buNone/>
            </a:pPr>
            <a:r>
              <a:rPr lang="en-US" sz="1200" b="1" dirty="0">
                <a:solidFill>
                  <a:srgbClr val="1F4E79"/>
                </a:solidFill>
              </a:rPr>
              <a:t>Unit Tests Integrated in Pipeline</a:t>
            </a:r>
          </a:p>
        </p:txBody>
      </p:sp>
      <p:sp>
        <p:nvSpPr>
          <p:cNvPr id="44" name="Desc4"/>
          <p:cNvSpPr/>
          <p:nvPr/>
        </p:nvSpPr>
        <p:spPr>
          <a:xfrm>
            <a:off x="932688" y="3794760"/>
            <a:ext cx="3200400" cy="256032"/>
          </a:xfrm>
          <a:prstGeom prst="rect">
            <a:avLst/>
          </a:prstGeom>
          <a:noFill/>
          <a:ln/>
        </p:spPr>
        <p:txBody>
          <a:bodyPr wrap="square" rtlCol="0" anchor="ctr"/>
          <a:lstStyle/>
          <a:p>
            <a:pPr marL="0" indent="0">
              <a:buNone/>
            </a:pPr>
            <a:r>
              <a:rPr lang="en-US" sz="1000" dirty="0">
                <a:solidFill>
                  <a:srgbClr val="5D6D7E"/>
                </a:solidFill>
              </a:rPr>
              <a:t>25 pytest tests — date, location, index, chunk quality</a:t>
            </a:r>
          </a:p>
        </p:txBody>
      </p:sp>
      <p:sp>
        <p:nvSpPr>
          <p:cNvPr id="50" name="Card5"/>
          <p:cNvSpPr/>
          <p:nvPr/>
        </p:nvSpPr>
        <p:spPr>
          <a:xfrm>
            <a:off x="4754880" y="1051560"/>
            <a:ext cx="4114800" cy="685800"/>
          </a:xfrm>
          <a:prstGeom prst="roundRect">
            <a:avLst>
              <a:gd name="adj" fmla="val 10667"/>
            </a:avLst>
          </a:prstGeom>
          <a:solidFill>
            <a:srgbClr val="F2F6FA"/>
          </a:solidFill>
          <a:ln/>
        </p:spPr>
      </p:sp>
      <p:sp>
        <p:nvSpPr>
          <p:cNvPr id="51" name="Num5"/>
          <p:cNvSpPr/>
          <p:nvPr/>
        </p:nvSpPr>
        <p:spPr>
          <a:xfrm>
            <a:off x="4864608" y="1143000"/>
            <a:ext cx="457200" cy="502920"/>
          </a:xfrm>
          <a:prstGeom prst="roundRect">
            <a:avLst>
              <a:gd name="adj" fmla="val 12000"/>
            </a:avLst>
          </a:prstGeom>
          <a:solidFill>
            <a:srgbClr val="2E75B6"/>
          </a:solidFill>
          <a:ln/>
        </p:spPr>
      </p:sp>
      <p:sp>
        <p:nvSpPr>
          <p:cNvPr id="52" name="NumTxt5"/>
          <p:cNvSpPr/>
          <p:nvPr/>
        </p:nvSpPr>
        <p:spPr>
          <a:xfrm>
            <a:off x="4864608" y="1143000"/>
            <a:ext cx="457200" cy="502920"/>
          </a:xfrm>
          <a:prstGeom prst="rect">
            <a:avLst/>
          </a:prstGeom>
          <a:noFill/>
          <a:ln/>
        </p:spPr>
        <p:txBody>
          <a:bodyPr wrap="square" lIns="0" tIns="0" rIns="0" bIns="0" rtlCol="0" anchor="ctr"/>
          <a:lstStyle/>
          <a:p>
            <a:pPr marL="0" indent="0" algn="ctr">
              <a:buNone/>
            </a:pPr>
            <a:r>
              <a:rPr lang="en-US" sz="1200" b="1" dirty="0">
                <a:solidFill>
                  <a:srgbClr val="FFFFFF"/>
                </a:solidFill>
              </a:rPr>
              <a:t>5</a:t>
            </a:r>
          </a:p>
        </p:txBody>
      </p:sp>
      <p:sp>
        <p:nvSpPr>
          <p:cNvPr id="53" name="Title5"/>
          <p:cNvSpPr/>
          <p:nvPr/>
        </p:nvSpPr>
        <p:spPr>
          <a:xfrm>
            <a:off x="5413248" y="1124712"/>
            <a:ext cx="3200400" cy="320040"/>
          </a:xfrm>
          <a:prstGeom prst="rect">
            <a:avLst/>
          </a:prstGeom>
          <a:noFill/>
          <a:ln/>
        </p:spPr>
        <p:txBody>
          <a:bodyPr wrap="square" rtlCol="0" anchor="ctr"/>
          <a:lstStyle/>
          <a:p>
            <a:pPr marL="0" indent="0">
              <a:buNone/>
            </a:pPr>
            <a:r>
              <a:rPr lang="en-US" sz="1200" b="1" dirty="0">
                <a:solidFill>
                  <a:srgbClr val="1F4E79"/>
                </a:solidFill>
              </a:rPr>
              <a:t>Technical Report</a:t>
            </a:r>
          </a:p>
        </p:txBody>
      </p:sp>
      <p:sp>
        <p:nvSpPr>
          <p:cNvPr id="54" name="Desc5"/>
          <p:cNvSpPr/>
          <p:nvPr/>
        </p:nvSpPr>
        <p:spPr>
          <a:xfrm>
            <a:off x="5413248" y="1435608"/>
            <a:ext cx="3200400" cy="256032"/>
          </a:xfrm>
          <a:prstGeom prst="rect">
            <a:avLst/>
          </a:prstGeom>
          <a:noFill/>
          <a:ln/>
        </p:spPr>
        <p:txBody>
          <a:bodyPr wrap="square" rtlCol="0" anchor="ctr"/>
          <a:lstStyle/>
          <a:p>
            <a:pPr marL="0" indent="0">
              <a:buNone/>
            </a:pPr>
            <a:r>
              <a:rPr lang="en-US" sz="1000" dirty="0">
                <a:solidFill>
                  <a:srgbClr val="5D6D7E"/>
                </a:solidFill>
              </a:rPr>
              <a:t>Architecture, technical choices, results, recommendations</a:t>
            </a:r>
          </a:p>
        </p:txBody>
      </p:sp>
      <p:sp>
        <p:nvSpPr>
          <p:cNvPr id="60" name="Card6"/>
          <p:cNvSpPr/>
          <p:nvPr/>
        </p:nvSpPr>
        <p:spPr>
          <a:xfrm>
            <a:off x="4754880" y="1837944"/>
            <a:ext cx="4114800" cy="685800"/>
          </a:xfrm>
          <a:prstGeom prst="roundRect">
            <a:avLst>
              <a:gd name="adj" fmla="val 10667"/>
            </a:avLst>
          </a:prstGeom>
          <a:solidFill>
            <a:srgbClr val="F2F6FA"/>
          </a:solidFill>
          <a:ln/>
        </p:spPr>
      </p:sp>
      <p:sp>
        <p:nvSpPr>
          <p:cNvPr id="61" name="Num6"/>
          <p:cNvSpPr/>
          <p:nvPr/>
        </p:nvSpPr>
        <p:spPr>
          <a:xfrm>
            <a:off x="4864608" y="1929384"/>
            <a:ext cx="457200" cy="502920"/>
          </a:xfrm>
          <a:prstGeom prst="roundRect">
            <a:avLst>
              <a:gd name="adj" fmla="val 12000"/>
            </a:avLst>
          </a:prstGeom>
          <a:solidFill>
            <a:srgbClr val="028090"/>
          </a:solidFill>
          <a:ln/>
        </p:spPr>
      </p:sp>
      <p:sp>
        <p:nvSpPr>
          <p:cNvPr id="62" name="NumTxt6"/>
          <p:cNvSpPr/>
          <p:nvPr/>
        </p:nvSpPr>
        <p:spPr>
          <a:xfrm>
            <a:off x="4864608" y="1929384"/>
            <a:ext cx="457200" cy="502920"/>
          </a:xfrm>
          <a:prstGeom prst="rect">
            <a:avLst/>
          </a:prstGeom>
          <a:noFill/>
          <a:ln/>
        </p:spPr>
        <p:txBody>
          <a:bodyPr wrap="square" lIns="0" tIns="0" rIns="0" bIns="0" rtlCol="0" anchor="ctr"/>
          <a:lstStyle/>
          <a:p>
            <a:pPr marL="0" indent="0" algn="ctr">
              <a:buNone/>
            </a:pPr>
            <a:r>
              <a:rPr lang="en-US" sz="1200" b="1" dirty="0">
                <a:solidFill>
                  <a:srgbClr val="FFFFFF"/>
                </a:solidFill>
              </a:rPr>
              <a:t>6</a:t>
            </a:r>
          </a:p>
        </p:txBody>
      </p:sp>
      <p:sp>
        <p:nvSpPr>
          <p:cNvPr id="63" name="Title6"/>
          <p:cNvSpPr/>
          <p:nvPr/>
        </p:nvSpPr>
        <p:spPr>
          <a:xfrm>
            <a:off x="5413248" y="1911096"/>
            <a:ext cx="3200400" cy="320040"/>
          </a:xfrm>
          <a:prstGeom prst="rect">
            <a:avLst/>
          </a:prstGeom>
          <a:noFill/>
          <a:ln/>
        </p:spPr>
        <p:txBody>
          <a:bodyPr wrap="square" rtlCol="0" anchor="ctr"/>
          <a:lstStyle/>
          <a:p>
            <a:pPr marL="0" indent="0">
              <a:buNone/>
            </a:pPr>
            <a:r>
              <a:rPr lang="en-US" sz="1200" b="1" dirty="0">
                <a:solidFill>
                  <a:srgbClr val="1F4E79"/>
                </a:solidFill>
              </a:rPr>
              <a:t>RAG System Code</a:t>
            </a:r>
          </a:p>
        </p:txBody>
      </p:sp>
      <p:sp>
        <p:nvSpPr>
          <p:cNvPr id="64" name="Desc6"/>
          <p:cNvSpPr/>
          <p:nvPr/>
        </p:nvSpPr>
        <p:spPr>
          <a:xfrm>
            <a:off x="5413248" y="2221992"/>
            <a:ext cx="3200400" cy="256032"/>
          </a:xfrm>
          <a:prstGeom prst="rect">
            <a:avLst/>
          </a:prstGeom>
          <a:noFill/>
          <a:ln/>
        </p:spPr>
        <p:txBody>
          <a:bodyPr wrap="square" rtlCol="0" anchor="ctr"/>
          <a:lstStyle/>
          <a:p>
            <a:pPr marL="0" indent="0">
              <a:buNone/>
            </a:pPr>
            <a:r>
              <a:rPr lang="en-US" sz="1000" dirty="0">
                <a:solidFill>
                  <a:srgbClr val="5D6D7E"/>
                </a:solidFill>
              </a:rPr>
              <a:t>Full LangChain + Mistral + FAISS chain, versioned in Git</a:t>
            </a:r>
          </a:p>
        </p:txBody>
      </p:sp>
      <p:sp>
        <p:nvSpPr>
          <p:cNvPr id="70" name="Card7"/>
          <p:cNvSpPr/>
          <p:nvPr/>
        </p:nvSpPr>
        <p:spPr>
          <a:xfrm>
            <a:off x="4754880" y="2624328"/>
            <a:ext cx="4114800" cy="685800"/>
          </a:xfrm>
          <a:prstGeom prst="roundRect">
            <a:avLst>
              <a:gd name="adj" fmla="val 10667"/>
            </a:avLst>
          </a:prstGeom>
          <a:solidFill>
            <a:srgbClr val="F2F6FA"/>
          </a:solidFill>
          <a:ln/>
        </p:spPr>
      </p:sp>
      <p:sp>
        <p:nvSpPr>
          <p:cNvPr id="71" name="Num7"/>
          <p:cNvSpPr/>
          <p:nvPr/>
        </p:nvSpPr>
        <p:spPr>
          <a:xfrm>
            <a:off x="4864608" y="2715768"/>
            <a:ext cx="457200" cy="502920"/>
          </a:xfrm>
          <a:prstGeom prst="roundRect">
            <a:avLst>
              <a:gd name="adj" fmla="val 12000"/>
            </a:avLst>
          </a:prstGeom>
          <a:solidFill>
            <a:srgbClr val="1F4E79"/>
          </a:solidFill>
          <a:ln/>
        </p:spPr>
      </p:sp>
      <p:sp>
        <p:nvSpPr>
          <p:cNvPr id="72" name="NumTxt7"/>
          <p:cNvSpPr/>
          <p:nvPr/>
        </p:nvSpPr>
        <p:spPr>
          <a:xfrm>
            <a:off x="4864608" y="2715768"/>
            <a:ext cx="457200" cy="502920"/>
          </a:xfrm>
          <a:prstGeom prst="rect">
            <a:avLst/>
          </a:prstGeom>
          <a:noFill/>
          <a:ln/>
        </p:spPr>
        <p:txBody>
          <a:bodyPr wrap="square" lIns="0" tIns="0" rIns="0" bIns="0" rtlCol="0" anchor="ctr"/>
          <a:lstStyle/>
          <a:p>
            <a:pPr marL="0" indent="0" algn="ctr">
              <a:buNone/>
            </a:pPr>
            <a:r>
              <a:rPr lang="en-US" sz="1200" b="1" dirty="0">
                <a:solidFill>
                  <a:srgbClr val="FFFFFF"/>
                </a:solidFill>
              </a:rPr>
              <a:t>7</a:t>
            </a:r>
          </a:p>
        </p:txBody>
      </p:sp>
      <p:sp>
        <p:nvSpPr>
          <p:cNvPr id="73" name="Title7"/>
          <p:cNvSpPr/>
          <p:nvPr/>
        </p:nvSpPr>
        <p:spPr>
          <a:xfrm>
            <a:off x="5413248" y="2697480"/>
            <a:ext cx="3200400" cy="320040"/>
          </a:xfrm>
          <a:prstGeom prst="rect">
            <a:avLst/>
          </a:prstGeom>
          <a:noFill/>
          <a:ln/>
        </p:spPr>
        <p:txBody>
          <a:bodyPr wrap="square" rtlCol="0" anchor="ctr"/>
          <a:lstStyle/>
          <a:p>
            <a:pPr marL="0" indent="0">
              <a:buNone/>
            </a:pPr>
            <a:r>
              <a:rPr lang="en-US" sz="1200" b="1" dirty="0">
                <a:solidFill>
                  <a:srgbClr val="1F4E79"/>
                </a:solidFill>
              </a:rPr>
              <a:t>PowerPoint Presentation</a:t>
            </a:r>
          </a:p>
        </p:txBody>
      </p:sp>
      <p:sp>
        <p:nvSpPr>
          <p:cNvPr id="74" name="Desc7"/>
          <p:cNvSpPr/>
          <p:nvPr/>
        </p:nvSpPr>
        <p:spPr>
          <a:xfrm>
            <a:off x="5413248" y="3008376"/>
            <a:ext cx="3200400" cy="256032"/>
          </a:xfrm>
          <a:prstGeom prst="rect">
            <a:avLst/>
          </a:prstGeom>
          <a:noFill/>
          <a:ln/>
        </p:spPr>
        <p:txBody>
          <a:bodyPr wrap="square" rtlCol="0" anchor="ctr"/>
          <a:lstStyle/>
          <a:p>
            <a:pPr marL="0" indent="0">
              <a:buNone/>
            </a:pPr>
            <a:r>
              <a:rPr lang="en-US" sz="1000" dirty="0">
                <a:solidFill>
                  <a:srgbClr val="5D6D7E"/>
                </a:solidFill>
              </a:rPr>
              <a:t>10-15 slides — concept, results, demo, recommendations</a:t>
            </a:r>
          </a:p>
        </p:txBody>
      </p:sp>
      <p:sp>
        <p:nvSpPr>
          <p:cNvPr id="80" name="Footer"/>
          <p:cNvSpPr/>
          <p:nvPr/>
        </p:nvSpPr>
        <p:spPr>
          <a:xfrm>
            <a:off x="274320" y="4700000"/>
            <a:ext cx="8595360" cy="420000"/>
          </a:xfrm>
          <a:prstGeom prst="roundRect">
            <a:avLst>
              <a:gd name="adj" fmla="val 6000"/>
            </a:avLst>
          </a:prstGeom>
          <a:solidFill>
            <a:srgbClr val="1A252F"/>
          </a:solidFill>
          <a:ln/>
        </p:spPr>
      </p:sp>
      <p:sp>
        <p:nvSpPr>
          <p:cNvPr id="81" name="FooterText"/>
          <p:cNvSpPr/>
          <p:nvPr/>
        </p:nvSpPr>
        <p:spPr>
          <a:xfrm>
            <a:off x="274320" y="4700000"/>
            <a:ext cx="8595360" cy="420000"/>
          </a:xfrm>
          <a:prstGeom prst="rect">
            <a:avLst/>
          </a:prstGeom>
          <a:noFill/>
          <a:ln/>
        </p:spPr>
        <p:txBody>
          <a:bodyPr wrap="square" lIns="114300" tIns="0" rIns="0" bIns="0" rtlCol="0" anchor="ctr"/>
          <a:lstStyle/>
          <a:p>
            <a:pPr marL="0" indent="0">
              <a:buNone/>
            </a:pPr>
            <a:r>
              <a:rPr lang="en-US" sz="900" b="0" dirty="0">
                <a:solidFill>
                  <a:srgbClr val="F39C12"/>
                </a:solidFill>
                <a:latin typeface="Courier New"/>
              </a:rPr>
              <a:t>Naming convention:  Donglo_Hope_1_readme_072026  |  Donglo_Hope_2_management_072026  |  Donglo_Hope_3_scripts_072026</a:t>
            </a:r>
          </a:p>
        </p:txBody>
      </p:sp>
      <p:sp>
        <p:nvSpPr>
          <p:cNvPr id="90" name="Notes"/>
          <p:cNvSpPr/>
          <p:nvPr>
            <p:ph type="body" idx="1"/>
          </p:nvPr>
        </p:nvSpPr>
        <p:spPr/>
        <p:txBody>
          <a:bodyPr/>
          <a:lstStyle/>
          <a:p>
            <a:r>
              <a:t>Present each deliverable in one sentence. Emphasise: (1) the README covers full reproduction in one command, (2) Poetry guarantees an identical environment on every machine, (3) docstrings are integrated into the production code, (4) the 25 tests run before deployment and block the pipeline if any fail, (5) the report covers architecture, results, and recommendations, (6) all code is version-controlled on Git. The naming convention at the bottom matches the platform submission requirements.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LangChain">
    <p:bg>
      <p:bgPr>
        <a:solidFill>
          <a:srgbClr val="FFFFFF"/>
        </a:solidFill>
        <a:effectLst/>
      </p:bgPr>
    </p:bg>
    <p:spTree>
      <p:nvGrpSpPr>
        <p:cNvPr id="1" name=""/>
        <p:cNvGrpSpPr/>
        <p:nvPr/>
      </p:nvGrpSpPr>
      <p:grpSpPr>
        <a:xfrm>
          <a:off x="0" y="0"/>
          <a:ext cx="0" cy="0"/>
          <a:chOff x="0" y="0"/>
          <a:chExt cx="0" cy="0"/>
        </a:xfrm>
      </p:grpSpPr>
      <p:sp>
        <p:nvSpPr>
          <p:cNvPr id="2" name="Header"/>
          <p:cNvSpPr/>
          <p:nvPr/>
        </p:nvSpPr>
        <p:spPr>
          <a:xfrm>
            <a:off x="0" y="0"/>
            <a:ext cx="9144000" cy="914400"/>
          </a:xfrm>
          <a:prstGeom prst="rect">
            <a:avLst/>
          </a:prstGeom>
          <a:solidFill>
            <a:srgbClr val="1F4E79"/>
          </a:solidFill>
          <a:ln/>
        </p:spPr>
      </p:sp>
      <p:sp>
        <p:nvSpPr>
          <p:cNvPr id="3" name="HeaderText"/>
          <p:cNvSpPr/>
          <p:nvPr/>
        </p:nvSpPr>
        <p:spPr>
          <a:xfrm>
            <a:off x="365760" y="0"/>
            <a:ext cx="8412480" cy="914400"/>
          </a:xfrm>
          <a:prstGeom prst="rect">
            <a:avLst/>
          </a:prstGeom>
          <a:noFill/>
          <a:ln/>
        </p:spPr>
        <p:txBody>
          <a:bodyPr wrap="square" rtlCol="0" anchor="ctr"/>
          <a:lstStyle/>
          <a:p>
            <a:pPr marL="0" indent="0">
              <a:buNone/>
            </a:pPr>
            <a:r>
              <a:rPr lang="en-US" sz="2200" b="1" dirty="0">
                <a:solidFill>
                  <a:srgbClr val="FFFFFF"/>
                </a:solidFill>
              </a:rPr>
              <a:t>WHY LANGCHAIN  |  RAG PIPELINE ORCHESTRATION</a:t>
            </a:r>
          </a:p>
        </p:txBody>
      </p:sp>
      <p:sp>
        <p:nvSpPr>
          <p:cNvPr id="10" name="LeftCard"/>
          <p:cNvSpPr/>
          <p:nvPr/>
        </p:nvSpPr>
        <p:spPr>
          <a:xfrm>
            <a:off x="274320" y="1051560"/>
            <a:ext cx="4114800" cy="4100400"/>
          </a:xfrm>
          <a:prstGeom prst="roundRect">
            <a:avLst>
              <a:gd name="adj" fmla="val 8000"/>
            </a:avLst>
          </a:prstGeom>
          <a:solidFill>
            <a:srgbClr val="F2F6FA"/>
          </a:solidFill>
          <a:ln/>
        </p:spPr>
      </p:sp>
      <p:sp>
        <p:nvSpPr>
          <p:cNvPr id="11" name="IconCircle"/>
          <p:cNvSpPr/>
          <p:nvPr/>
        </p:nvSpPr>
        <p:spPr>
          <a:xfrm>
            <a:off x="457200" y="1234440"/>
            <a:ext cx="548640" cy="548640"/>
          </a:xfrm>
          <a:prstGeom prst="ellipse">
            <a:avLst/>
          </a:prstGeom>
          <a:solidFill>
            <a:srgbClr val="028090"/>
          </a:solidFill>
          <a:ln/>
        </p:spPr>
      </p:sp>
      <p:sp>
        <p:nvSpPr>
          <p:cNvPr id="12" name="IconText"/>
          <p:cNvSpPr/>
          <p:nvPr/>
        </p:nvSpPr>
        <p:spPr>
          <a:xfrm>
            <a:off x="457200" y="123444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rPr>
              <a:t>LC</a:t>
            </a:r>
          </a:p>
        </p:txBody>
      </p:sp>
      <p:sp>
        <p:nvSpPr>
          <p:cNvPr id="13" name="LeftTitle"/>
          <p:cNvSpPr/>
          <p:nvPr/>
        </p:nvSpPr>
        <p:spPr>
          <a:xfrm>
            <a:off x="1097280" y="1270440"/>
            <a:ext cx="3200400" cy="400000"/>
          </a:xfrm>
          <a:prstGeom prst="rect">
            <a:avLst/>
          </a:prstGeom>
          <a:noFill/>
          <a:ln/>
        </p:spPr>
        <p:txBody>
          <a:bodyPr wrap="square" rtlCol="0" anchor="ctr"/>
          <a:lstStyle/>
          <a:p>
            <a:pPr marL="0" indent="0">
              <a:buNone/>
            </a:pPr>
            <a:r>
              <a:rPr lang="en-US" sz="1600" b="1" dirty="0">
                <a:solidFill>
                  <a:srgbClr val="1F4E79"/>
                </a:solidFill>
              </a:rPr>
              <a:t>LangChain</a:t>
            </a:r>
          </a:p>
        </p:txBody>
      </p:sp>
      <p:sp>
        <p:nvSpPr>
          <p:cNvPr id="14" name="LeftSub"/>
          <p:cNvSpPr/>
          <p:nvPr/>
        </p:nvSpPr>
        <p:spPr>
          <a:xfrm>
            <a:off x="1097280" y="1620000"/>
            <a:ext cx="3200400" cy="280000"/>
          </a:xfrm>
          <a:prstGeom prst="rect">
            <a:avLst/>
          </a:prstGeom>
          <a:noFill/>
          <a:ln/>
        </p:spPr>
        <p:txBody>
          <a:bodyPr wrap="square" rtlCol="0" anchor="ctr"/>
          <a:lstStyle/>
          <a:p>
            <a:pPr marL="0" indent="0">
              <a:buNone/>
            </a:pPr>
            <a:r>
              <a:rPr lang="en-US" sz="1100" i="1" dirty="0">
                <a:solidFill>
                  <a:srgbClr val="5D6D7E"/>
                </a:solidFill>
              </a:rPr>
              <a:t>NLP orchestration framework</a:t>
            </a:r>
          </a:p>
        </p:txBody>
      </p:sp>
      <p:sp>
        <p:nvSpPr>
          <p:cNvPr id="15" name="LeftBody"/>
          <p:cNvSpPr/>
          <p:nvPr/>
        </p:nvSpPr>
        <p:spPr>
          <a:xfrm>
            <a:off x="457200" y="2000000"/>
            <a:ext cx="3840000" cy="3000000"/>
          </a:xfrm>
          <a:prstGeom prst="rect">
            <a:avLst/>
          </a:prstGeom>
          <a:noFill/>
          <a:ln/>
        </p:spPr>
        <p:txBody>
          <a:bodyPr wrap="square" rtlCol="0" anchor="t"/>
          <a:lstStyle/>
          <a:p>
            <a:pPr marL="228600" indent="-228600">
              <a:buChar char="•"/>
            </a:pPr>
            <a:r>
              <a:rPr lang="en-US" sz="1100" dirty="0">
                <a:solidFill>
                  <a:srgbClr val="5D6D7E"/>
                </a:solidFill>
              </a:rPr>
              <a:t>Standardised interfaces for LLMs and vector stores — switching providers requires only a configuration change</a:t>
            </a:r>
          </a:p>
          <a:p>
            <a:pPr marL="228600" indent="-228600">
              <a:buChar char="•"/>
            </a:pPr>
            <a:r>
              <a:rPr lang="en-US" sz="1100" dirty="0">
                <a:solidFill>
                  <a:srgbClr val="5D6D7E"/>
                </a:solidFill>
              </a:rPr>
              <a:t>Pre-built RAG chains (RetrievalQA) that orchestrate retrieval and generation in a few lines</a:t>
            </a:r>
          </a:p>
          <a:p>
            <a:pPr marL="228600" indent="-228600">
              <a:buChar char="•"/>
            </a:pPr>
            <a:r>
              <a:rPr lang="en-US" sz="1100" dirty="0">
                <a:solidFill>
                  <a:srgbClr val="5D6D7E"/>
                </a:solidFill>
              </a:rPr>
              <a:t>Large ecosystem of connectors for dozens of LLM providers and vector databases</a:t>
            </a:r>
          </a:p>
          <a:p>
            <a:pPr marL="228600" indent="-228600">
              <a:buChar char="•"/>
            </a:pPr>
            <a:r>
              <a:rPr lang="en-US" sz="1100" dirty="0">
                <a:solidFill>
                  <a:srgbClr val="5D6D7E"/>
                </a:solidFill>
              </a:rPr>
              <a:t>Native conversation history handling for future multi-turn versions in production</a:t>
            </a:r>
          </a:p>
          <a:p>
            <a:pPr marL="228600" indent="-228600">
              <a:buChar char="•"/>
            </a:pPr>
            <a:r>
              <a:rPr lang="en-US" sz="1100" dirty="0">
                <a:solidFill>
                  <a:srgbClr val="5D6D7E"/>
                </a:solidFill>
              </a:rPr>
              <a:t>Single shared chain: the same module powers the live chatbot and the RAGAS evaluation</a:t>
            </a:r>
          </a:p>
        </p:txBody>
      </p:sp>
      <p:sp>
        <p:nvSpPr>
          <p:cNvPr id="20" name="RightCard"/>
          <p:cNvSpPr/>
          <p:nvPr/>
        </p:nvSpPr>
        <p:spPr>
          <a:xfrm>
            <a:off x="4754880" y="1051560"/>
            <a:ext cx="4114800" cy="4100400"/>
          </a:xfrm>
          <a:prstGeom prst="roundRect">
            <a:avLst>
              <a:gd name="adj" fmla="val 8000"/>
            </a:avLst>
          </a:prstGeom>
          <a:solidFill>
            <a:srgbClr val="F2F6FA"/>
          </a:solidFill>
          <a:ln/>
        </p:spPr>
      </p:sp>
      <p:sp>
        <p:nvSpPr>
          <p:cNvPr id="21" name="RightTitle"/>
          <p:cNvSpPr/>
          <p:nvPr/>
        </p:nvSpPr>
        <p:spPr>
          <a:xfrm>
            <a:off x="5029200" y="1270440"/>
            <a:ext cx="3657600" cy="400000"/>
          </a:xfrm>
          <a:prstGeom prst="rect">
            <a:avLst/>
          </a:prstGeom>
          <a:noFill/>
          <a:ln/>
        </p:spPr>
        <p:txBody>
          <a:bodyPr wrap="square" rtlCol="0" anchor="ctr"/>
          <a:lstStyle/>
          <a:p>
            <a:pPr marL="0" indent="0">
              <a:buNone/>
            </a:pPr>
            <a:r>
              <a:rPr lang="en-US" sz="1400" b="1" dirty="0">
                <a:solidFill>
                  <a:srgbClr val="1F4E79"/>
                </a:solidFill>
              </a:rPr>
              <a:t>Role in this project</a:t>
            </a:r>
          </a:p>
        </p:txBody>
      </p:sp>
      <p:sp>
        <p:nvSpPr>
          <p:cNvPr id="30" name="BlockA"/>
          <p:cNvSpPr/>
          <p:nvPr/>
        </p:nvSpPr>
        <p:spPr>
          <a:xfrm>
            <a:off x="4937400" y="1828800"/>
            <a:ext cx="3657600" cy="914400"/>
          </a:xfrm>
          <a:prstGeom prst="roundRect">
            <a:avLst>
              <a:gd name="adj" fmla="val 6000"/>
            </a:avLst>
          </a:prstGeom>
          <a:solidFill>
            <a:srgbClr val="FFFFFF"/>
          </a:solidFill>
          <a:ln w="9525">
            <a:solidFill>
              <a:srgbClr val="D3D1C7"/>
            </a:solidFill>
          </a:ln>
        </p:spPr>
      </p:sp>
      <p:sp>
        <p:nvSpPr>
          <p:cNvPr id="31" name="BlockALabel"/>
          <p:cNvSpPr/>
          <p:nvPr/>
        </p:nvSpPr>
        <p:spPr>
          <a:xfrm>
            <a:off x="4937400" y="1828800"/>
            <a:ext cx="548640" cy="914400"/>
          </a:xfrm>
          <a:prstGeom prst="roundRect">
            <a:avLst>
              <a:gd name="adj" fmla="val 6000"/>
            </a:avLst>
          </a:prstGeom>
          <a:solidFill>
            <a:srgbClr val="028090"/>
          </a:solidFill>
          <a:ln/>
        </p:spPr>
      </p:sp>
      <p:sp>
        <p:nvSpPr>
          <p:cNvPr id="32" name="BlockALabelTxt"/>
          <p:cNvSpPr/>
          <p:nvPr/>
        </p:nvSpPr>
        <p:spPr>
          <a:xfrm>
            <a:off x="4937400" y="1828800"/>
            <a:ext cx="548640" cy="914400"/>
          </a:xfrm>
          <a:prstGeom prst="rect">
            <a:avLst/>
          </a:prstGeom>
          <a:noFill/>
          <a:ln/>
        </p:spPr>
        <p:txBody>
          <a:bodyPr wrap="square" lIns="0" tIns="0" rIns="0" bIns="0" rtlCol="0" anchor="ctr"/>
          <a:lstStyle/>
          <a:p>
            <a:pPr marL="0" indent="0" algn="ctr">
              <a:buNone/>
            </a:pPr>
            <a:r>
              <a:rPr lang="en-US" sz="800" b="1" dirty="0">
                <a:solidFill>
                  <a:srgbClr val="FFFFFF"/>
                </a:solidFill>
              </a:rPr>
              <a:t>CHATBOT</a:t>
            </a:r>
          </a:p>
        </p:txBody>
      </p:sp>
      <p:sp>
        <p:nvSpPr>
          <p:cNvPr id="33" name="BlockAText"/>
          <p:cNvSpPr/>
          <p:nvPr/>
        </p:nvSpPr>
        <p:spPr>
          <a:xfrm>
            <a:off x="5577480" y="1865880"/>
            <a:ext cx="2926200" cy="840240"/>
          </a:xfrm>
          <a:prstGeom prst="rect">
            <a:avLst/>
          </a:prstGeom>
          <a:noFill/>
          <a:ln/>
        </p:spPr>
        <p:txBody>
          <a:bodyPr wrap="square" rtlCol="0" anchor="ctr"/>
          <a:lstStyle/>
          <a:p>
            <a:pPr marL="0" indent="0">
              <a:buNone/>
            </a:pPr>
            <a:r>
              <a:rPr lang="en-US" sz="1100" b="1" dirty="0">
                <a:solidFill>
                  <a:srgbClr val="1F4E79"/>
                </a:solidFill>
              </a:rPr>
              <a:t>Single LCEL chain</a:t>
            </a:r>
          </a:p>
          <a:p>
            <a:pPr marL="0" indent="0">
              <a:buNone/>
            </a:pPr>
            <a:r>
              <a:rPr lang="en-US" sz="1000" dirty="0">
                <a:solidFill>
                  <a:srgbClr val="5D6D7E"/>
                </a:solidFill>
              </a:rPr>
              <a:t>embed → retrieve → generate — used by the chatbot AND the evaluation</a:t>
            </a:r>
          </a:p>
        </p:txBody>
      </p:sp>
      <p:sp>
        <p:nvSpPr>
          <p:cNvPr id="40" name="BlockB"/>
          <p:cNvSpPr/>
          <p:nvPr/>
        </p:nvSpPr>
        <p:spPr>
          <a:xfrm>
            <a:off x="4937400" y="2835000"/>
            <a:ext cx="3657600" cy="914400"/>
          </a:xfrm>
          <a:prstGeom prst="roundRect">
            <a:avLst>
              <a:gd name="adj" fmla="val 6000"/>
            </a:avLst>
          </a:prstGeom>
          <a:solidFill>
            <a:srgbClr val="FFFFFF"/>
          </a:solidFill>
          <a:ln w="9525">
            <a:solidFill>
              <a:srgbClr val="D3D1C7"/>
            </a:solidFill>
          </a:ln>
        </p:spPr>
      </p:sp>
      <p:sp>
        <p:nvSpPr>
          <p:cNvPr id="41" name="BlockBLabel"/>
          <p:cNvSpPr/>
          <p:nvPr/>
        </p:nvSpPr>
        <p:spPr>
          <a:xfrm>
            <a:off x="4937400" y="2835000"/>
            <a:ext cx="548640" cy="914400"/>
          </a:xfrm>
          <a:prstGeom prst="roundRect">
            <a:avLst>
              <a:gd name="adj" fmla="val 6000"/>
            </a:avLst>
          </a:prstGeom>
          <a:solidFill>
            <a:srgbClr val="2E75B6"/>
          </a:solidFill>
          <a:ln/>
        </p:spPr>
      </p:sp>
      <p:sp>
        <p:nvSpPr>
          <p:cNvPr id="42" name="BlockBLabelTxt"/>
          <p:cNvSpPr/>
          <p:nvPr/>
        </p:nvSpPr>
        <p:spPr>
          <a:xfrm>
            <a:off x="4937400" y="2835000"/>
            <a:ext cx="548640" cy="914400"/>
          </a:xfrm>
          <a:prstGeom prst="rect">
            <a:avLst/>
          </a:prstGeom>
          <a:noFill/>
          <a:ln/>
        </p:spPr>
        <p:txBody>
          <a:bodyPr wrap="square" lIns="0" tIns="0" rIns="0" bIns="0" rtlCol="0" anchor="ctr"/>
          <a:lstStyle/>
          <a:p>
            <a:pPr marL="0" indent="0" algn="ctr">
              <a:buNone/>
            </a:pPr>
            <a:r>
              <a:rPr lang="en-US" sz="650" b="1" dirty="0">
                <a:solidFill>
                  <a:srgbClr val="FFFFFF"/>
                </a:solidFill>
              </a:rPr>
              <a:t>EVALUATION</a:t>
            </a:r>
          </a:p>
        </p:txBody>
      </p:sp>
      <p:sp>
        <p:nvSpPr>
          <p:cNvPr id="43" name="BlockBText"/>
          <p:cNvSpPr/>
          <p:nvPr/>
        </p:nvSpPr>
        <p:spPr>
          <a:xfrm>
            <a:off x="5577480" y="2872080"/>
            <a:ext cx="2926200" cy="840240"/>
          </a:xfrm>
          <a:prstGeom prst="rect">
            <a:avLst/>
          </a:prstGeom>
          <a:noFill/>
          <a:ln/>
        </p:spPr>
        <p:txBody>
          <a:bodyPr wrap="square" rtlCol="0" anchor="ctr"/>
          <a:lstStyle/>
          <a:p>
            <a:pPr marL="0" indent="0">
              <a:buNone/>
            </a:pPr>
            <a:r>
              <a:rPr lang="en-US" sz="1100" b="1" dirty="0">
                <a:solidFill>
                  <a:srgbClr val="1F4E79"/>
                </a:solidFill>
              </a:rPr>
              <a:t>Same RAGAS chain</a:t>
            </a:r>
          </a:p>
          <a:p>
            <a:pPr marL="0" indent="0">
              <a:buNone/>
            </a:pPr>
            <a:r>
              <a:rPr lang="en-US" sz="1000" dirty="0">
                <a:solidFill>
                  <a:srgbClr val="5D6D7E"/>
                </a:solidFill>
              </a:rPr>
              <a:t>30 annotated questions evaluated on the chatbot's exact chain</a:t>
            </a:r>
          </a:p>
        </p:txBody>
      </p:sp>
      <p:sp>
        <p:nvSpPr>
          <p:cNvPr id="50" name="BlockC"/>
          <p:cNvSpPr/>
          <p:nvPr/>
        </p:nvSpPr>
        <p:spPr>
          <a:xfrm>
            <a:off x="4937400" y="3841200"/>
            <a:ext cx="3657600" cy="914400"/>
          </a:xfrm>
          <a:prstGeom prst="roundRect">
            <a:avLst>
              <a:gd name="adj" fmla="val 6000"/>
            </a:avLst>
          </a:prstGeom>
          <a:solidFill>
            <a:srgbClr val="EBF3FB"/>
          </a:solidFill>
          <a:ln w="9525">
            <a:solidFill>
              <a:srgbClr val="185FA5"/>
            </a:solidFill>
          </a:ln>
        </p:spPr>
      </p:sp>
      <p:sp>
        <p:nvSpPr>
          <p:cNvPr id="51" name="BlockCText"/>
          <p:cNvSpPr/>
          <p:nvPr/>
        </p:nvSpPr>
        <p:spPr>
          <a:xfrm>
            <a:off x="5029200" y="3878280"/>
            <a:ext cx="3474720" cy="840240"/>
          </a:xfrm>
          <a:prstGeom prst="rect">
            <a:avLst/>
          </a:prstGeom>
          <a:noFill/>
          <a:ln/>
        </p:spPr>
        <p:txBody>
          <a:bodyPr wrap="square" rtlCol="0" anchor="ctr"/>
          <a:lstStyle/>
          <a:p>
            <a:pPr marL="0" indent="0">
              <a:buNone/>
            </a:pPr>
            <a:r>
              <a:rPr lang="en-US" sz="1000" b="1" dirty="0">
                <a:solidFill>
                  <a:srgbClr val="0C447C"/>
                </a:solidFill>
              </a:rPr>
              <a:t>Why not the Mistral API directly?</a:t>
            </a:r>
          </a:p>
          <a:p>
            <a:pPr marL="0" indent="0">
              <a:buNone/>
            </a:pPr>
            <a:r>
              <a:rPr lang="en-US" sz="1000" dirty="0">
                <a:solidFill>
                  <a:srgbClr val="185FA5"/>
                </a:solidFill>
              </a:rPr>
              <a:t>LangChain abstracts the provider: migrating to GPT-4 or Llama needs no rewrite of the retrieval logic</a:t>
            </a:r>
          </a:p>
        </p:txBody>
      </p:sp>
      <p:sp>
        <p:nvSpPr>
          <p:cNvPr id="99" name="Notes"/>
          <p:cNvSpPr/>
          <p:nvPr>
            <p:ph type="body" idx="1"/>
          </p:nvPr>
        </p:nvSpPr>
        <p:spPr/>
        <p:txBody>
          <a:bodyPr/>
          <a:lstStyle/>
          <a:p>
            <a:r>
              <a:t>Jeremy will specifically ask why LangChain. Answer in 3 points: (1) standardised interfaces mean portability across LLM providers and vector stores, (2) the LCEL chain natively orchestrates retrieval plus generation, (3) a large community-maintained ecosystem. src/rag/langchain_chain.py is the single source used by both the Streamlit chatbot and the RAGAS evaluation script, guaranteeing that what gets measured matches exactly what the user experiences.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378</TotalTime>
  <Words>1533</Words>
  <Application>Microsoft Macintosh PowerPoint</Application>
  <PresentationFormat>On-screen Show (16:9)</PresentationFormat>
  <Paragraphs>260</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Puls-Events RAG POC</dc:title>
  <dc:subject>PptxGenJS Presentation</dc:subject>
  <dc:creator>Hope Donglo</dc:creator>
  <cp:lastModifiedBy>Hope Donglo</cp:lastModifiedBy>
  <cp:revision>2</cp:revision>
  <dcterms:created xsi:type="dcterms:W3CDTF">2026-06-12T06:31:49Z</dcterms:created>
  <dcterms:modified xsi:type="dcterms:W3CDTF">2026-07-12T20:24:27Z</dcterms:modified>
</cp:coreProperties>
</file>
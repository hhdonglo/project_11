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55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21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226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the context: Puls-Events wants to test whether an AI chatbot can recommend cultural events from real Open Agenda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difference between a standalone LLM and a RAG system. The LLM alone invents. The RAG first retrieves real events then summarises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modes: offline pipeline builds the index, online pipeline serves queries. Emphasise separation of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rejection of the OpenDataSoft source. Show that notebook exploration before writing production code is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each choice. For FAISS: IndexFlatL2 is exact and sufficient at this scale. For chunking: descriptions are too short to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69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self-contained pattern: each bash script writes the Python file AND executes it. Highlight skip logic: if the artefact already exists, the step is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L2 distances validate semantic search. Emphasise case 4: out-of-scope query correctly refused without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DEMO. Run: bash pipeline.sh --skip-run then bash 04_run.sh. Open localhost:8501. Test: 1) classical concert 2) best restaurant (out of scope) 3) what to do this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date parsing bug discovery (milliseconds vs ISO). This bug would have silently corrupted the date filter in production. The tests caught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questions covering all realistic cases. RAGAS metrics objectively measure quality. Mention the rate limit constraint on the free Mistral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 path to production is well defined. No architectural overhaul required: only infrastructure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exact questions Jeremy will ask during the 10-minute discussion. Prepare to answer confidently without reading from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slide. Return to the five validated points. Close with the clear recommendation to proceed to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640080"/>
            <a:ext cx="1280160" cy="1280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640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4E79"/>
                </a:solidFill>
              </a:rPr>
              <a:t>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Puls-Events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Cultural Events Assistant Paris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914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39C12"/>
                </a:solidFill>
              </a:rPr>
              <a:t>RAG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5544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Event Recommendations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4048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Retrieval-Augmented Generation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3200400"/>
            <a:ext cx="47548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3383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Hope Donglo  |  Freelance Data Engineer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March 2026  |  Paris, Ile-de-France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 AND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The Challenge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Puls-Events aggregates cultural events from Open Agenda.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Users want to discover events by asking questions in natural language.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Generic LLMs do not know about recent local events and hallucinate answers.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12080" y="1280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371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The RAG Solution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20116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The RAG system combines: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Retrieval of relevant events from a vector knowledge base.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Generation of a French response grounded exclusively in that data.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Zero hallucination. Always up-to-date data.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463040" cy="1828800"/>
          </a:xfrm>
          <a:prstGeom prst="roundRect">
            <a:avLst>
              <a:gd name="adj" fmla="val 7500"/>
            </a:avLst>
          </a:prstGeom>
          <a:solidFill>
            <a:srgbClr val="1F4E7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783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 Agenda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9,651 events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783080" y="1874520"/>
            <a:ext cx="164592" cy="1645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Shape 6"/>
          <p:cNvSpPr/>
          <p:nvPr/>
        </p:nvSpPr>
        <p:spPr>
          <a:xfrm>
            <a:off x="1993392" y="1097280"/>
            <a:ext cx="1463040" cy="1828800"/>
          </a:xfrm>
          <a:prstGeom prst="roundRect">
            <a:avLst>
              <a:gd name="adj" fmla="val 7500"/>
            </a:avLst>
          </a:prstGeom>
          <a:solidFill>
            <a:srgbClr val="2E75B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1234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93392" y="1783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Cleaning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993392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1,740 retained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502152" y="1874520"/>
            <a:ext cx="164592" cy="1645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Shape 10"/>
          <p:cNvSpPr/>
          <p:nvPr/>
        </p:nvSpPr>
        <p:spPr>
          <a:xfrm>
            <a:off x="3712464" y="1097280"/>
            <a:ext cx="1463040" cy="182880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384" y="12344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12464" y="1783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712464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mistral-embed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221224" y="1874520"/>
            <a:ext cx="164592" cy="1645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Shape 14"/>
          <p:cNvSpPr/>
          <p:nvPr/>
        </p:nvSpPr>
        <p:spPr>
          <a:xfrm>
            <a:off x="5431536" y="1097280"/>
            <a:ext cx="1463040" cy="1828800"/>
          </a:xfrm>
          <a:prstGeom prst="roundRect">
            <a:avLst>
              <a:gd name="adj" fmla="val 7500"/>
            </a:avLst>
          </a:prstGeom>
          <a:solidFill>
            <a:srgbClr val="1F4E7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456" y="12344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31536" y="1783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FAISS Index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431536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1,024 dims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940296" y="1874520"/>
            <a:ext cx="164592" cy="1645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Shape 18"/>
          <p:cNvSpPr/>
          <p:nvPr/>
        </p:nvSpPr>
        <p:spPr>
          <a:xfrm>
            <a:off x="7150608" y="1097280"/>
            <a:ext cx="1463040" cy="1828800"/>
          </a:xfrm>
          <a:prstGeom prst="roundRect">
            <a:avLst>
              <a:gd name="adj" fmla="val 7500"/>
            </a:avLst>
          </a:prstGeom>
          <a:solidFill>
            <a:srgbClr val="2E75B6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123444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50608" y="1783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Mistral LLM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150608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Generation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274320" y="3200400"/>
            <a:ext cx="8595360" cy="1600200"/>
          </a:xfrm>
          <a:prstGeom prst="rect">
            <a:avLst/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E79"/>
                </a:solidFill>
              </a:rPr>
              <a:t>REAL-TIME INFERENCE FLOW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11480" y="37033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411480" y="373075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</a:rPr>
              <a:t>1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11480" y="40690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User query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1847088" y="37033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1847088" y="373075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</a:rPr>
              <a:t>2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1847088" y="40690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Embed query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3282696" y="37033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3282696" y="373075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</a:rPr>
              <a:t>3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3282696" y="40690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FAISS search (top 5)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718304" y="37033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4718304" y="373075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</a:rPr>
              <a:t>4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4718304" y="40690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Inject context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6153912" y="37033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36"/>
          <p:cNvSpPr/>
          <p:nvPr/>
        </p:nvSpPr>
        <p:spPr>
          <a:xfrm>
            <a:off x="6153912" y="373075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6153912" y="40690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Mistral response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7589520" y="37033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39"/>
          <p:cNvSpPr/>
          <p:nvPr/>
        </p:nvSpPr>
        <p:spPr>
          <a:xfrm>
            <a:off x="7589520" y="373075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</a:rPr>
              <a:t>6</a:t>
            </a:r>
            <a:endParaRPr lang="en-US" sz="1400" dirty="0"/>
          </a:p>
        </p:txBody>
      </p:sp>
      <p:sp>
        <p:nvSpPr>
          <p:cNvPr id="47" name="Text 40"/>
          <p:cNvSpPr/>
          <p:nvPr/>
        </p:nvSpPr>
        <p:spPr>
          <a:xfrm>
            <a:off x="7589520" y="40690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Display + sources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SOURCE  |  OPEN AGENDA PARIS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430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9,651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events available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10515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2450592" y="11430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1,740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50592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retained (12 months)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10515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11430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26864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API pages fetched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10515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6803136" y="11430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03136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fields selected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Why Open Agenda?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15468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Live data via native API v2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Deciding for Paris agenda (UID 82290100)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OpenDataSoft export rejected: 2021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Cursor-based pagination over 12-month window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743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Data Quality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15468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description.fr: 0% null values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keywords.fr: 89% null, excluded from pipeline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Dates stored as Unix milliseconds, not ISO 8601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D6D7E"/>
                </a:solidFill>
              </a:rPr>
              <a:t>Postal codes corrected in city field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TECHNICAL CHOICES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4300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887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43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mistral-embed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Embedding model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" y="1828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1,024 dimensions. Optimised French support. Same provider as LLM for tokenisation consistency.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105156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11430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887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143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FAISS IndexFlatL2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84048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Vector database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264408" y="1828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Exact search in under 1 ms on 1,740 vectors. Zero configuration for POC. Scalable with IVFFlat in production.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05156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44768" y="1143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18872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1143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mistral-small-latest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72084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Generation model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144768" y="1828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Temperature 0.1. Free tier. French responses. Strict system prompt: zero hallucination.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74320" y="297180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84048" y="306324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10896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Poetry + Python 3.13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60120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Environment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84048" y="374904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Lock file for reproducibility. Python bounded to 3.13-3.15. mistralai pinned to 1.2.5.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154680" y="297180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64408" y="306324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108960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840480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1 chunk per event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840480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Chunking strategy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3264408" y="374904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Median 50 characters. No recursive splitting. Concatenate title + description + venue + date.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035040" y="297180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44768" y="3063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3108960"/>
            <a:ext cx="384048" cy="38404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20840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Streamlit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720840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Interface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144768" y="374904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Conversational interface with source sidebar. Single load via @st.cache_resource.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49270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ngCh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HeaderText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LANGCHAIN  |  RAG PIPELINE ORCHESTRATION</a:t>
            </a:r>
          </a:p>
        </p:txBody>
      </p:sp>
      <p:sp>
        <p:nvSpPr>
          <p:cNvPr id="10" name="LeftCard"/>
          <p:cNvSpPr/>
          <p:nvPr/>
        </p:nvSpPr>
        <p:spPr>
          <a:xfrm>
            <a:off x="274320" y="1051560"/>
            <a:ext cx="4114800" cy="4100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</p:spPr>
      </p:sp>
      <p:sp>
        <p:nvSpPr>
          <p:cNvPr id="11" name="IconCircle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IconText"/>
          <p:cNvSpPr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LC</a:t>
            </a:r>
          </a:p>
        </p:txBody>
      </p:sp>
      <p:sp>
        <p:nvSpPr>
          <p:cNvPr id="13" name="LeftTitle"/>
          <p:cNvSpPr/>
          <p:nvPr/>
        </p:nvSpPr>
        <p:spPr>
          <a:xfrm>
            <a:off x="1097280" y="1270440"/>
            <a:ext cx="32004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LangChain</a:t>
            </a:r>
          </a:p>
        </p:txBody>
      </p:sp>
      <p:sp>
        <p:nvSpPr>
          <p:cNvPr id="14" name="LeftSub"/>
          <p:cNvSpPr/>
          <p:nvPr/>
        </p:nvSpPr>
        <p:spPr>
          <a:xfrm>
            <a:off x="1097280" y="1620000"/>
            <a:ext cx="32004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</a:rPr>
              <a:t>NLP orchestration framework</a:t>
            </a:r>
          </a:p>
        </p:txBody>
      </p:sp>
      <p:sp>
        <p:nvSpPr>
          <p:cNvPr id="15" name="LeftBody"/>
          <p:cNvSpPr/>
          <p:nvPr/>
        </p:nvSpPr>
        <p:spPr>
          <a:xfrm>
            <a:off x="457200" y="2000000"/>
            <a:ext cx="3840000" cy="3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Standardised interfaces for LLMs and vector stores — switching providers requires only a configuration change</a:t>
            </a:r>
          </a:p>
          <a:p>
            <a:pPr marL="228600" indent="-228600"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Pre-built RAG chains (RetrievalQA) that orchestrate retrieval and generation in a few lines</a:t>
            </a:r>
          </a:p>
          <a:p>
            <a:pPr marL="228600" indent="-228600"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Large ecosystem of connectors for dozens of LLM providers and vector databases</a:t>
            </a:r>
          </a:p>
          <a:p>
            <a:pPr marL="228600" indent="-228600"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Native conversation history handling for future multi-turn versions in production</a:t>
            </a:r>
          </a:p>
          <a:p>
            <a:pPr marL="228600" indent="-228600"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Single shared chain: the same module powers the live chatbot and the RAGAS evaluation</a:t>
            </a:r>
          </a:p>
        </p:txBody>
      </p:sp>
      <p:sp>
        <p:nvSpPr>
          <p:cNvPr id="20" name="RightCard"/>
          <p:cNvSpPr/>
          <p:nvPr/>
        </p:nvSpPr>
        <p:spPr>
          <a:xfrm>
            <a:off x="4754880" y="1051560"/>
            <a:ext cx="4114800" cy="4100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</p:spPr>
      </p:sp>
      <p:sp>
        <p:nvSpPr>
          <p:cNvPr id="21" name="RightTitle"/>
          <p:cNvSpPr/>
          <p:nvPr/>
        </p:nvSpPr>
        <p:spPr>
          <a:xfrm>
            <a:off x="5029200" y="1270440"/>
            <a:ext cx="3657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</a:rPr>
              <a:t>Role in this project</a:t>
            </a:r>
          </a:p>
        </p:txBody>
      </p:sp>
      <p:sp>
        <p:nvSpPr>
          <p:cNvPr id="30" name="BlockA"/>
          <p:cNvSpPr/>
          <p:nvPr/>
        </p:nvSpPr>
        <p:spPr>
          <a:xfrm>
            <a:off x="4937400" y="18288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1C7"/>
            </a:solidFill>
          </a:ln>
        </p:spPr>
      </p:sp>
      <p:sp>
        <p:nvSpPr>
          <p:cNvPr id="31" name="BlockALabel"/>
          <p:cNvSpPr/>
          <p:nvPr/>
        </p:nvSpPr>
        <p:spPr>
          <a:xfrm>
            <a:off x="4937400" y="1828800"/>
            <a:ext cx="548640" cy="9144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sp>
        <p:nvSpPr>
          <p:cNvPr id="32" name="BlockALabelTxt"/>
          <p:cNvSpPr/>
          <p:nvPr/>
        </p:nvSpPr>
        <p:spPr>
          <a:xfrm>
            <a:off x="4937400" y="18288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CHATBOT</a:t>
            </a:r>
          </a:p>
        </p:txBody>
      </p:sp>
      <p:sp>
        <p:nvSpPr>
          <p:cNvPr id="33" name="BlockAText"/>
          <p:cNvSpPr/>
          <p:nvPr/>
        </p:nvSpPr>
        <p:spPr>
          <a:xfrm>
            <a:off x="5577480" y="1865880"/>
            <a:ext cx="2926200" cy="84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Single LCEL chain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embed → retrieve → generate — used by the chatbot AND the evaluation</a:t>
            </a:r>
          </a:p>
        </p:txBody>
      </p:sp>
      <p:sp>
        <p:nvSpPr>
          <p:cNvPr id="40" name="BlockB"/>
          <p:cNvSpPr/>
          <p:nvPr/>
        </p:nvSpPr>
        <p:spPr>
          <a:xfrm>
            <a:off x="4937400" y="28350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1C7"/>
            </a:solidFill>
          </a:ln>
        </p:spPr>
      </p:sp>
      <p:sp>
        <p:nvSpPr>
          <p:cNvPr id="41" name="BlockBLabel"/>
          <p:cNvSpPr/>
          <p:nvPr/>
        </p:nvSpPr>
        <p:spPr>
          <a:xfrm>
            <a:off x="4937400" y="2835000"/>
            <a:ext cx="548640" cy="91440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/>
        </p:spPr>
      </p:sp>
      <p:sp>
        <p:nvSpPr>
          <p:cNvPr id="42" name="BlockBLabelTxt"/>
          <p:cNvSpPr/>
          <p:nvPr/>
        </p:nvSpPr>
        <p:spPr>
          <a:xfrm>
            <a:off x="4937400" y="28350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43" name="BlockBText"/>
          <p:cNvSpPr/>
          <p:nvPr/>
        </p:nvSpPr>
        <p:spPr>
          <a:xfrm>
            <a:off x="5577480" y="2872080"/>
            <a:ext cx="2926200" cy="84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Same RAGAS chain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30 annotated questions evaluated on the chatbot's exact chain</a:t>
            </a:r>
          </a:p>
        </p:txBody>
      </p:sp>
      <p:sp>
        <p:nvSpPr>
          <p:cNvPr id="50" name="BlockC"/>
          <p:cNvSpPr/>
          <p:nvPr/>
        </p:nvSpPr>
        <p:spPr>
          <a:xfrm>
            <a:off x="4937400" y="38412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9525">
            <a:solidFill>
              <a:srgbClr val="185FA5"/>
            </a:solidFill>
          </a:ln>
        </p:spPr>
      </p:sp>
      <p:sp>
        <p:nvSpPr>
          <p:cNvPr id="51" name="BlockCText"/>
          <p:cNvSpPr/>
          <p:nvPr/>
        </p:nvSpPr>
        <p:spPr>
          <a:xfrm>
            <a:off x="5029200" y="3878280"/>
            <a:ext cx="3474720" cy="84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</a:rPr>
              <a:t>Why not the Mistral API directly?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85FA5"/>
                </a:solidFill>
              </a:rPr>
              <a:t>LangChain abstracts the provider: migrating to GPT-4 or Llama needs no rewrite of the retrieval logic</a:t>
            </a:r>
          </a:p>
        </p:txBody>
      </p:sp>
      <p:sp>
        <p:nvSpPr>
          <p:cNvPr id="99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Jeremy will specifically ask why LangChain. Answer in 3 points: (1) standardised interfaces mean portability across LLM providers and vector stores, (2) the LCEL chain natively orchestrates retrieval plus generation, (3) a large community-maintained ecosystem. src/rag/langchain_chain.py is the single source used by both the Streamlit chatbot and the RAGAS evaluation script, guaranteeing that what gets measured matches exactly what the user experiences.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AUTOMATED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01_fetch.sh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2704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Fetch events from Open Agenda API with cursor-based pagination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430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143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02_embed.sh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52704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Enriched chunking and embedding via mistral-embed (batch=5, sleep=3s)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13432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04872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0487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0487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03_index.sh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7889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Build FAISS index and save parallel metadata array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13432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404872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1F4E79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40487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40487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05_test.sh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7889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24 pytest tests: date, location, index dimension, chunk quality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75304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66744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666744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366674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06_eval.sh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05079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30 annotated questions, RAGAS evaluation (faithfulness, relevancy)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75304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66744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666744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66674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04_run.sh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05079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Launch Streamlit interface on localhost:8501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663440"/>
            <a:ext cx="8595360" cy="365760"/>
          </a:xfrm>
          <a:prstGeom prst="roundRect">
            <a:avLst>
              <a:gd name="adj" fmla="val 15000"/>
            </a:avLst>
          </a:prstGeom>
          <a:solidFill>
            <a:srgbClr val="1A252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6634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bash pipeline.sh  →  Full rebuild from scratch in one command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 |  RETRIEVAL QUALITY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21615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16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60120" y="11247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Query: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12471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</a:rPr>
              <a:t>Classical music concert in Paris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</a:rPr>
              <a:t>Result: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50876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Les 4 Saisons de Vivaldi  |  Eglise de La Madeleine  |  dist: 0.43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2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" y="21762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60120" y="20848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Query: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08483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</a:rPr>
              <a:t>Events at the Eglise de La Madeleine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4688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</a:rPr>
              <a:t>Result: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246888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Concert Onestage  |  Friday 27 March, 16:00  |  dist: 0.38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2F6FA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" y="313639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60120" y="30449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Query: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04495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</a:rPr>
              <a:t>What to do this weekend in Paris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290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</a:rPr>
              <a:t>Result: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42900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Evening gathering for young professionals  |  Salle de La Madeleine  |  dist: 0.41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3192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2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4096512"/>
            <a:ext cx="475488" cy="47548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OOS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60120" y="40050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Query: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20240" y="400507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</a:rPr>
              <a:t>What is the best restaurant in Paris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3891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</a:rPr>
              <a:t>Result: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438912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Correct refusal: Je ne sais pas  |  (dist: 0.61 out of scope)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E75B6"/>
                </a:solidFill>
              </a:rPr>
              <a:t>L2 distance &lt; 0.50 = relevant  |  L2 distance &gt; 0.60 = out of scope detected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39C12"/>
                </a:solidFill>
              </a:rPr>
              <a:t>LIVE DEMONSTRATION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286000" y="1188720"/>
            <a:ext cx="6583680" cy="37490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0" y="1188720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2468880" y="11887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Puls-Events  |  Cultural Events Assistant Paris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192024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920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Classical concerts this month?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2606040"/>
            <a:ext cx="4389120" cy="210312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269748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Here are the available concerts: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1. Les 4 Saisons de Vivaldi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   Wednesday 11 March, 20:00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   Eglise de La Madeleine, Paris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2. Concert Aria Baroque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   Saturday 14 March, 16:00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   Eglise Sainte-Elisabeth de Hongrie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1828800" cy="3749040"/>
          </a:xfrm>
          <a:prstGeom prst="roundRect">
            <a:avLst>
              <a:gd name="adj" fmla="val 5000"/>
            </a:avLst>
          </a:prstGeom>
          <a:solidFill>
            <a:srgbClr val="1A252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</a:rPr>
              <a:t>Sources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691640"/>
            <a:ext cx="1645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1. Les 4 Saisons...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11 March, 20:00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La Madeleine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2. Concert Aria...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14 March, 16:00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Ste-Elisabeth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UNIT TESTS  |  25 / 25 PASSED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143000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124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TestRawData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435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File present, not empty, titles and descriptions non-null, dates present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1216152"/>
            <a:ext cx="77724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37944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384048" y="1929384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9293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19110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TestDateFilter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2219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All events within 12 months, none more than 2 years in future, date range &gt; 30 days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2002536"/>
            <a:ext cx="77724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24328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2715768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7157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TestLocationFilter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00837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Over 90% of events in Paris, city field non-null, no residual postal codes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2788920"/>
            <a:ext cx="77724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41071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048" y="3502152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502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688" y="34838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TestVectorDatabase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37947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Dimension 1,024, non-empty index, index/metadata sync, float32 dtype, valid search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3575304"/>
            <a:ext cx="77724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197096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29" name="Shape 27"/>
          <p:cNvSpPr/>
          <p:nvPr/>
        </p:nvSpPr>
        <p:spPr>
          <a:xfrm>
            <a:off x="384048" y="4288536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42885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2688" y="4270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TestChunkQuality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458114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Non-empty chunk text, event marker present, URL non-empty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4361688"/>
            <a:ext cx="77724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EVALUATION  |  ANNOTATED TEST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16152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</a:rPr>
              <a:t>Specific events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05156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1216152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3264408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04488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</a:rPr>
              <a:t>Date-based queries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12161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144768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84848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</a:rPr>
              <a:t>Category queries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267712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</a:rPr>
              <a:t>Venue-based queries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2103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2267712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3264408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904488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</a:rPr>
              <a:t>Out of scope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103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22677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144768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84848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</a:rPr>
              <a:t>No match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46120"/>
            <a:ext cx="8595360" cy="1691640"/>
          </a:xfrm>
          <a:prstGeom prst="roundRect">
            <a:avLst>
              <a:gd name="adj" fmla="val 5405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4E79"/>
                </a:solidFill>
              </a:rPr>
              <a:t>RAGAS METRICS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749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</a:rPr>
              <a:t>faithfulness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09651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Response grounded in context?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54456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&gt; 0.80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78608" y="37033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2578608" y="3749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</a:rPr>
              <a:t>answer_relevancy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78608" y="409651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Response relevant to the question?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78608" y="454456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&gt; 0.75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0016" y="37033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700016" y="3749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</a:rPr>
              <a:t>context_precision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0016" y="409651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Retrieved chunks noise-free?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0016" y="454456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&gt; 0.70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21424" y="37033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21424" y="3749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</a:rPr>
              <a:t>context_recall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21424" y="409651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All necessary info retrieved?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21424" y="454456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&gt; 0.70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POC LIMITATIONS  &amp;  PRODUCTION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</a:rPr>
              <a:t>Current 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Single agenda source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Manual pipeline, no scheduled refresh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Embedding 1,740 events takes ~17 min (free tier)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FAISS IndexFlatL2: not scalable beyond 100k vectors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No conversation history in RAG context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Static knowledge base between rebuilds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For production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Scheduled pipeline (Airflow/Kestra): daily refresh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Managed vector DB (Pinecone, Qdrant): persistence and filtering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Paid Mistral tier: eliminate rate limiting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Multi-agenda aggregation: museums, theatres, city councils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Incremental indexing: re-embed new events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</a:rPr>
              <a:t>Monitoring: decline rate, index age, user feedback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ANTICIPATED QUESTIONS FROM JEREMY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115568"/>
          </a:xfrm>
          <a:prstGeom prst="roundRect">
            <a:avLst>
              <a:gd name="adj" fmla="val 8197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24712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1795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247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How does FAISS optimise searches?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52704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IndexFlatL2: exact L2 search under 1 ms on 1,740 vectors. Production: IVFFlat (cluster partitioning) or HNSW (graph-based logarithmic search).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206240" cy="1115568"/>
          </a:xfrm>
          <a:prstGeom prst="roundRect">
            <a:avLst>
              <a:gd name="adj" fmla="val 8197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124712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1795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247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Limitations of FAISS at scale?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40680" y="152704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O(n) search time, full index must fit in RAM, no metadata pre-filtering. Replaced by Pinecone or Qdrant in production.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2313432"/>
            <a:ext cx="4206240" cy="1115568"/>
          </a:xfrm>
          <a:prstGeom prst="roundRect">
            <a:avLst>
              <a:gd name="adj" fmla="val 8197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386584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44144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38658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Why LangChain for NLP pipelines?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60120" y="278892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Standardised interfaces for LLMs and vector stores. Built-in RAG patterns (RetrievalQA). Easy provider switching. Large connector ecosystem.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313432"/>
            <a:ext cx="4206240" cy="1115568"/>
          </a:xfrm>
          <a:prstGeom prst="roundRect">
            <a:avLst>
              <a:gd name="adj" fmla="val 8197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386584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244144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38658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How to ensure data quality in automation?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40680" y="278892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Assertions in fetch_events.py fail loudly before saving. 24 pytest tests block deployment if any fail. Notebook exploration validates rules before production.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74320" y="3575304"/>
            <a:ext cx="4206240" cy="1115568"/>
          </a:xfrm>
          <a:prstGeom prst="roundRect">
            <a:avLst>
              <a:gd name="adj" fmla="val 8197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5760" y="3648456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70332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" y="364845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How to detect performance deviations?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60120" y="405079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Track decline rate ('Je ne sais pas' responses). Monitor average L2 distances. Collect user thumbs up/down feedback. Alert on index age &gt; 48h.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3575304"/>
            <a:ext cx="4206240" cy="1115568"/>
          </a:xfrm>
          <a:prstGeom prst="roundRect">
            <a:avLst>
              <a:gd name="adj" fmla="val 8197"/>
            </a:avLst>
          </a:prstGeom>
          <a:solidFill>
            <a:srgbClr val="F2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46320" y="3648456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3703320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40680" y="364845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Most important production monitoring KPIs?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440680" y="405079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Faithfulness (hallucination rate), answer relevancy, decline rate, response latency, index freshness, API error rate.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39C12"/>
                </a:solidFill>
              </a:rPr>
              <a:t>SUMMARY  &amp;  NEXT STEPS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RAG architecture validated for cultural event recommendations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733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1,740 Paris events indexed and semantically searchable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340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295144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Zero hallucination confirmed across all tested query types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62656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91693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24 / 24 unit tests passed — pipeline reproducible in one command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58444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53872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30-question annotated test dataset — RAGAS evaluation executed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71600" y="429768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297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Recommendation: proceed to production deployment planning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83134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Card1"/>
          <p:cNvSpPr/>
          <p:nvPr/>
        </p:nvSpPr>
        <p:spPr>
          <a:xfrm>
            <a:off x="420624" y="106984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11" name="Num1"/>
          <p:cNvSpPr/>
          <p:nvPr/>
        </p:nvSpPr>
        <p:spPr>
          <a:xfrm>
            <a:off x="384048" y="1143000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/>
        </p:spPr>
      </p:sp>
      <p:sp>
        <p:nvSpPr>
          <p:cNvPr id="12" name="NumTxt1"/>
          <p:cNvSpPr/>
          <p:nvPr/>
        </p:nvSpPr>
        <p:spPr>
          <a:xfrm>
            <a:off x="384048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itle1"/>
          <p:cNvSpPr/>
          <p:nvPr/>
        </p:nvSpPr>
        <p:spPr>
          <a:xfrm>
            <a:off x="932688" y="1124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README</a:t>
            </a:r>
          </a:p>
        </p:txBody>
      </p:sp>
      <p:sp>
        <p:nvSpPr>
          <p:cNvPr id="14" name="Desc1"/>
          <p:cNvSpPr/>
          <p:nvPr/>
        </p:nvSpPr>
        <p:spPr>
          <a:xfrm>
            <a:off x="932688" y="14356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Overview, objectives, reproduction steps, file/folder guide</a:t>
            </a:r>
          </a:p>
        </p:txBody>
      </p:sp>
      <p:sp>
        <p:nvSpPr>
          <p:cNvPr id="20" name="Card2"/>
          <p:cNvSpPr/>
          <p:nvPr/>
        </p:nvSpPr>
        <p:spPr>
          <a:xfrm>
            <a:off x="274320" y="1837944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21" name="Num2"/>
          <p:cNvSpPr/>
          <p:nvPr/>
        </p:nvSpPr>
        <p:spPr>
          <a:xfrm>
            <a:off x="384048" y="1929384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/>
        </p:spPr>
      </p:sp>
      <p:sp>
        <p:nvSpPr>
          <p:cNvPr id="22" name="NumTxt2"/>
          <p:cNvSpPr/>
          <p:nvPr/>
        </p:nvSpPr>
        <p:spPr>
          <a:xfrm>
            <a:off x="384048" y="19293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itle2"/>
          <p:cNvSpPr/>
          <p:nvPr/>
        </p:nvSpPr>
        <p:spPr>
          <a:xfrm>
            <a:off x="932688" y="19110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Dependency Management</a:t>
            </a:r>
          </a:p>
        </p:txBody>
      </p:sp>
      <p:sp>
        <p:nvSpPr>
          <p:cNvPr id="24" name="Desc2"/>
          <p:cNvSpPr/>
          <p:nvPr/>
        </p:nvSpPr>
        <p:spPr>
          <a:xfrm>
            <a:off x="932688" y="22219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Poetry, pyproject.toml, poetry.lock — reproducible environment</a:t>
            </a:r>
          </a:p>
        </p:txBody>
      </p:sp>
      <p:sp>
        <p:nvSpPr>
          <p:cNvPr id="30" name="Card3"/>
          <p:cNvSpPr/>
          <p:nvPr/>
        </p:nvSpPr>
        <p:spPr>
          <a:xfrm>
            <a:off x="274320" y="262432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31" name="Num3"/>
          <p:cNvSpPr/>
          <p:nvPr/>
        </p:nvSpPr>
        <p:spPr>
          <a:xfrm>
            <a:off x="384048" y="2715768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2" name="NumTxt3"/>
          <p:cNvSpPr/>
          <p:nvPr/>
        </p:nvSpPr>
        <p:spPr>
          <a:xfrm>
            <a:off x="384048" y="27157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itle3"/>
          <p:cNvSpPr/>
          <p:nvPr/>
        </p:nvSpPr>
        <p:spPr>
          <a:xfrm>
            <a:off x="932688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Pre-processing &amp; Vectorization Scripts</a:t>
            </a:r>
          </a:p>
        </p:txBody>
      </p:sp>
      <p:sp>
        <p:nvSpPr>
          <p:cNvPr id="34" name="Desc3"/>
          <p:cNvSpPr/>
          <p:nvPr/>
        </p:nvSpPr>
        <p:spPr>
          <a:xfrm>
            <a:off x="932688" y="30083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fetch, chunk, embed, index — with integrated docstrings</a:t>
            </a:r>
          </a:p>
        </p:txBody>
      </p:sp>
      <p:sp>
        <p:nvSpPr>
          <p:cNvPr id="40" name="Card4"/>
          <p:cNvSpPr/>
          <p:nvPr/>
        </p:nvSpPr>
        <p:spPr>
          <a:xfrm>
            <a:off x="274320" y="3410712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41" name="Num4"/>
          <p:cNvSpPr/>
          <p:nvPr/>
        </p:nvSpPr>
        <p:spPr>
          <a:xfrm>
            <a:off x="384048" y="3502152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/>
        </p:spPr>
      </p:sp>
      <p:sp>
        <p:nvSpPr>
          <p:cNvPr id="42" name="NumTxt4"/>
          <p:cNvSpPr/>
          <p:nvPr/>
        </p:nvSpPr>
        <p:spPr>
          <a:xfrm>
            <a:off x="384048" y="3502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Title4"/>
          <p:cNvSpPr/>
          <p:nvPr/>
        </p:nvSpPr>
        <p:spPr>
          <a:xfrm>
            <a:off x="932688" y="34838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Unit Tests Integrated in Pipeline</a:t>
            </a:r>
          </a:p>
        </p:txBody>
      </p:sp>
      <p:sp>
        <p:nvSpPr>
          <p:cNvPr id="44" name="Desc4"/>
          <p:cNvSpPr/>
          <p:nvPr/>
        </p:nvSpPr>
        <p:spPr>
          <a:xfrm>
            <a:off x="932688" y="3794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25 pytest tests — date, location, index, chunk quality</a:t>
            </a:r>
          </a:p>
        </p:txBody>
      </p:sp>
      <p:sp>
        <p:nvSpPr>
          <p:cNvPr id="50" name="Card5"/>
          <p:cNvSpPr/>
          <p:nvPr/>
        </p:nvSpPr>
        <p:spPr>
          <a:xfrm>
            <a:off x="4754880" y="10515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51" name="Num5"/>
          <p:cNvSpPr/>
          <p:nvPr/>
        </p:nvSpPr>
        <p:spPr>
          <a:xfrm>
            <a:off x="4864608" y="1143000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/>
        </p:spPr>
      </p:sp>
      <p:sp>
        <p:nvSpPr>
          <p:cNvPr id="52" name="NumTxt5"/>
          <p:cNvSpPr/>
          <p:nvPr/>
        </p:nvSpPr>
        <p:spPr>
          <a:xfrm>
            <a:off x="4864608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Title5"/>
          <p:cNvSpPr/>
          <p:nvPr/>
        </p:nvSpPr>
        <p:spPr>
          <a:xfrm>
            <a:off x="5413248" y="1124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Technical Report</a:t>
            </a:r>
          </a:p>
        </p:txBody>
      </p:sp>
      <p:sp>
        <p:nvSpPr>
          <p:cNvPr id="54" name="Desc5"/>
          <p:cNvSpPr/>
          <p:nvPr/>
        </p:nvSpPr>
        <p:spPr>
          <a:xfrm>
            <a:off x="5413248" y="14356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Architecture, technical choices, results, recommendations</a:t>
            </a:r>
          </a:p>
        </p:txBody>
      </p:sp>
      <p:sp>
        <p:nvSpPr>
          <p:cNvPr id="60" name="Card6"/>
          <p:cNvSpPr/>
          <p:nvPr/>
        </p:nvSpPr>
        <p:spPr>
          <a:xfrm>
            <a:off x="4754880" y="1837944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61" name="Num6"/>
          <p:cNvSpPr/>
          <p:nvPr/>
        </p:nvSpPr>
        <p:spPr>
          <a:xfrm>
            <a:off x="4864608" y="1929384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62" name="NumTxt6"/>
          <p:cNvSpPr/>
          <p:nvPr/>
        </p:nvSpPr>
        <p:spPr>
          <a:xfrm>
            <a:off x="4864608" y="19293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3" name="Title6"/>
          <p:cNvSpPr/>
          <p:nvPr/>
        </p:nvSpPr>
        <p:spPr>
          <a:xfrm>
            <a:off x="5413248" y="19110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RAG System Code</a:t>
            </a:r>
          </a:p>
        </p:txBody>
      </p:sp>
      <p:sp>
        <p:nvSpPr>
          <p:cNvPr id="64" name="Desc6"/>
          <p:cNvSpPr/>
          <p:nvPr/>
        </p:nvSpPr>
        <p:spPr>
          <a:xfrm>
            <a:off x="5413248" y="22219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Full LangChain + Mistral + FAISS chain, versioned in Git</a:t>
            </a:r>
          </a:p>
        </p:txBody>
      </p:sp>
      <p:sp>
        <p:nvSpPr>
          <p:cNvPr id="70" name="Card7"/>
          <p:cNvSpPr/>
          <p:nvPr/>
        </p:nvSpPr>
        <p:spPr>
          <a:xfrm>
            <a:off x="4754880" y="262432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2F6FA"/>
          </a:solidFill>
          <a:ln/>
        </p:spPr>
      </p:sp>
      <p:sp>
        <p:nvSpPr>
          <p:cNvPr id="71" name="Num7"/>
          <p:cNvSpPr/>
          <p:nvPr/>
        </p:nvSpPr>
        <p:spPr>
          <a:xfrm>
            <a:off x="4864608" y="2715768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/>
        </p:spPr>
      </p:sp>
      <p:sp>
        <p:nvSpPr>
          <p:cNvPr id="72" name="NumTxt7"/>
          <p:cNvSpPr/>
          <p:nvPr/>
        </p:nvSpPr>
        <p:spPr>
          <a:xfrm>
            <a:off x="4864608" y="27157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3" name="Title7"/>
          <p:cNvSpPr/>
          <p:nvPr/>
        </p:nvSpPr>
        <p:spPr>
          <a:xfrm>
            <a:off x="5413248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PowerPoint Presentation</a:t>
            </a:r>
          </a:p>
        </p:txBody>
      </p:sp>
      <p:sp>
        <p:nvSpPr>
          <p:cNvPr id="74" name="Desc7"/>
          <p:cNvSpPr/>
          <p:nvPr/>
        </p:nvSpPr>
        <p:spPr>
          <a:xfrm>
            <a:off x="5413248" y="30083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10-15 slides — concept, results, demo, recommendations</a:t>
            </a:r>
          </a:p>
        </p:txBody>
      </p:sp>
      <p:sp>
        <p:nvSpPr>
          <p:cNvPr id="80" name="Footer"/>
          <p:cNvSpPr/>
          <p:nvPr/>
        </p:nvSpPr>
        <p:spPr>
          <a:xfrm>
            <a:off x="274320" y="4700000"/>
            <a:ext cx="8595360" cy="420000"/>
          </a:xfrm>
          <a:prstGeom prst="roundRect">
            <a:avLst>
              <a:gd name="adj" fmla="val 6000"/>
            </a:avLst>
          </a:prstGeom>
          <a:solidFill>
            <a:srgbClr val="1A252F"/>
          </a:solidFill>
          <a:ln/>
        </p:spPr>
      </p:sp>
      <p:sp>
        <p:nvSpPr>
          <p:cNvPr id="81" name="FooterText"/>
          <p:cNvSpPr/>
          <p:nvPr/>
        </p:nvSpPr>
        <p:spPr>
          <a:xfrm>
            <a:off x="274320" y="4700000"/>
            <a:ext cx="8595360" cy="42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F39C12"/>
                </a:solidFill>
                <a:latin typeface="Courier New"/>
              </a:rPr>
              <a:t>Naming convention:  Donglo_Hope_1_readme_072026  |  Donglo_Hope_2_management_072026  |  Donglo_Hope_3_scripts_072026</a:t>
            </a:r>
          </a:p>
        </p:txBody>
      </p:sp>
      <p:sp>
        <p:nvSpPr>
          <p:cNvPr id="9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1255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1885</Words>
  <Application>Microsoft Macintosh PowerPoint</Application>
  <PresentationFormat>On-screen Show (16:9)</PresentationFormat>
  <Paragraphs>301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Puls-Events RAG POC</dc:title>
  <dc:subject>PptxGenJS Presentation</dc:subject>
  <dc:creator>Hope Donglo</dc:creator>
  <cp:lastModifiedBy>Hope Donglo</cp:lastModifiedBy>
  <cp:revision>3</cp:revision>
  <dcterms:created xsi:type="dcterms:W3CDTF">2026-06-12T06:31:49Z</dcterms:created>
  <dcterms:modified xsi:type="dcterms:W3CDTF">2026-07-26T20:58:54Z</dcterms:modified>
</cp:coreProperties>
</file>
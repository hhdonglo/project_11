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70" r:id="rId7"/>
    <p:sldId id="261" r:id="rId8"/>
    <p:sldId id="262" r:id="rId9"/>
    <p:sldId id="263" r:id="rId10"/>
    <p:sldId id="264" r:id="rId11"/>
    <p:sldId id="265" r:id="rId12"/>
    <p:sldId id="266" r:id="rId13"/>
    <p:sldId id="267" r:id="rId14"/>
    <p:sldId id="268" r:id="rId15"/>
    <p:sldId id="269"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137"/>
    <p:restoredTop sz="94610"/>
  </p:normalViewPr>
  <p:slideViewPr>
    <p:cSldViewPr snapToGrid="0" snapToObjects="1">
      <p:cViewPr varScale="1">
        <p:scale>
          <a:sx n="130" d="100"/>
          <a:sy n="130" d="100"/>
        </p:scale>
        <p:origin x="200" y="4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52161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d'ouverture. Presenter le contexte : Puls-Events veut tester si un chatbot IA peut recommander des evenements culturels a partir de donnees reelles Open Agenda.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Expliquer la difference entre un LLM standard et un RAG. Le LLM seul invente. Le RAG recupere d'abord les vrais evenements puis les resume.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L'architecture est en deux temps : le pipeline hors ligne construit l'index, le pipeline en ligne sert les requetes. Insister sur la separation des responsabilites.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sur le rejet de la source OpenDataSoft. Montrer que l'exploration des donnees en notebook avant d'ecrire le code de production est essentielle.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Justifier chaque choix. Pour FAISS : IndexFlatL2 est exact et suffisant a cette echelle. Pour le chunking : les descriptions sont trop courtes pour etre decoupees.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7005836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sur le pattern self-contained : chaque script bash ecrit le fichier Python ET l'execute. Souligner la logique de skip : si l'artefact existe deja, l'etape est ignoree.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distances L2 valident que la recherche semantique fonctionne. Insister sur le cas 4 : requete hors perimetre correctement refusee sans hallucination.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LIVE. Lancer : bash pipeline.sh --skip-run puis bash 04_run.sh. Ouvrir localhost:8501. Tester : 1) concert classique 2) restaurant (hors perimetre) 3) que faire ce weekend.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Souligner la decouverte du bug de parsing des dates (millisecondes vs ISO). Ce bug aurait silencieusement corrompu le filtre en production. Les tests l'ont detecte.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questions couvrant tous les cas realistes. Les metriques RAGAS mesurent objectivement la qualite. Mentionner la limitation de debit sur le niveau gratuit Mistral.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sur le fait que le chemin vers la production est bien defini. Pas de refonte architecturale : uniquement de l'infrastructure.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conclusion. Revenir sur les cinq points valides. Terminer avec la recommandation claire de passer en production.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 anticipees de Jeremy : Comment FAISS optimise la recherche ? Limites de FAISS a grande echelle ? Pourquoi LangChain ? Qualite des donnees dans un pipeline automatise ? Detection des derives de performance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a:effectLst/>
      </p:bgPr>
    </p:bg>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2E75B6"/>
          </a:solidFill>
          <a:ln/>
        </p:spPr>
      </p:sp>
      <p:sp>
        <p:nvSpPr>
          <p:cNvPr id="3" name="Shape 1"/>
          <p:cNvSpPr/>
          <p:nvPr/>
        </p:nvSpPr>
        <p:spPr>
          <a:xfrm>
            <a:off x="1097280" y="640080"/>
            <a:ext cx="1280160" cy="1280160"/>
          </a:xfrm>
          <a:prstGeom prst="ellipse">
            <a:avLst/>
          </a:prstGeom>
          <a:solidFill>
            <a:srgbClr val="FFFFFF"/>
          </a:solidFill>
          <a:ln/>
        </p:spPr>
      </p:sp>
      <p:sp>
        <p:nvSpPr>
          <p:cNvPr id="4" name="Text 2"/>
          <p:cNvSpPr/>
          <p:nvPr/>
        </p:nvSpPr>
        <p:spPr>
          <a:xfrm>
            <a:off x="1097280" y="640080"/>
            <a:ext cx="1280160" cy="1280160"/>
          </a:xfrm>
          <a:prstGeom prst="rect">
            <a:avLst/>
          </a:prstGeom>
          <a:noFill/>
          <a:ln/>
        </p:spPr>
        <p:txBody>
          <a:bodyPr wrap="square" lIns="0" tIns="0" rIns="0" bIns="0" rtlCol="0" anchor="ctr"/>
          <a:lstStyle/>
          <a:p>
            <a:pPr marL="0" indent="0" algn="ctr">
              <a:buNone/>
            </a:pPr>
            <a:r>
              <a:rPr lang="en-US" sz="3600" b="1" dirty="0">
                <a:solidFill>
                  <a:srgbClr val="1F4E79"/>
                </a:solidFill>
              </a:rPr>
              <a:t>PE</a:t>
            </a:r>
            <a:endParaRPr lang="en-US" sz="3600" dirty="0"/>
          </a:p>
        </p:txBody>
      </p:sp>
      <p:sp>
        <p:nvSpPr>
          <p:cNvPr id="5" name="Text 3"/>
          <p:cNvSpPr/>
          <p:nvPr/>
        </p:nvSpPr>
        <p:spPr>
          <a:xfrm>
            <a:off x="274320" y="2194560"/>
            <a:ext cx="2926080" cy="457200"/>
          </a:xfrm>
          <a:prstGeom prst="rect">
            <a:avLst/>
          </a:prstGeom>
          <a:noFill/>
          <a:ln/>
        </p:spPr>
        <p:txBody>
          <a:bodyPr wrap="square" rtlCol="0" anchor="ctr"/>
          <a:lstStyle/>
          <a:p>
            <a:pPr marL="0" indent="0" algn="ctr">
              <a:buNone/>
            </a:pPr>
            <a:r>
              <a:rPr lang="en-US" sz="1600" b="1" dirty="0">
                <a:solidFill>
                  <a:srgbClr val="FFFFFF"/>
                </a:solidFill>
              </a:rPr>
              <a:t>Puls-Events</a:t>
            </a:r>
            <a:endParaRPr lang="en-US" sz="1600" dirty="0"/>
          </a:p>
        </p:txBody>
      </p:sp>
      <p:sp>
        <p:nvSpPr>
          <p:cNvPr id="6" name="Text 4"/>
          <p:cNvSpPr/>
          <p:nvPr/>
        </p:nvSpPr>
        <p:spPr>
          <a:xfrm>
            <a:off x="274320" y="2651760"/>
            <a:ext cx="2926080" cy="365760"/>
          </a:xfrm>
          <a:prstGeom prst="rect">
            <a:avLst/>
          </a:prstGeom>
          <a:noFill/>
          <a:ln/>
        </p:spPr>
        <p:txBody>
          <a:bodyPr wrap="square" rtlCol="0" anchor="ctr"/>
          <a:lstStyle/>
          <a:p>
            <a:pPr marL="0" indent="0" algn="ctr">
              <a:buNone/>
            </a:pPr>
            <a:r>
              <a:rPr lang="en-US" sz="1200" dirty="0">
                <a:solidFill>
                  <a:srgbClr val="CADCFC"/>
                </a:solidFill>
              </a:rPr>
              <a:t>Assistant Culturel Paris</a:t>
            </a:r>
            <a:endParaRPr lang="en-US" sz="1200" dirty="0"/>
          </a:p>
        </p:txBody>
      </p:sp>
      <p:sp>
        <p:nvSpPr>
          <p:cNvPr id="7" name="Text 5"/>
          <p:cNvSpPr/>
          <p:nvPr/>
        </p:nvSpPr>
        <p:spPr>
          <a:xfrm>
            <a:off x="3840480" y="914400"/>
            <a:ext cx="5029200" cy="640080"/>
          </a:xfrm>
          <a:prstGeom prst="rect">
            <a:avLst/>
          </a:prstGeom>
          <a:noFill/>
          <a:ln/>
        </p:spPr>
        <p:txBody>
          <a:bodyPr wrap="square" rtlCol="0" anchor="ctr"/>
          <a:lstStyle/>
          <a:p>
            <a:pPr marL="0" indent="0">
              <a:buNone/>
            </a:pPr>
            <a:r>
              <a:rPr lang="en-US" sz="1300" b="1" kern="0" spc="400" dirty="0">
                <a:solidFill>
                  <a:srgbClr val="F39C12"/>
                </a:solidFill>
              </a:rPr>
              <a:t>SYSTEME RAG</a:t>
            </a:r>
            <a:endParaRPr lang="en-US" sz="1300" dirty="0"/>
          </a:p>
        </p:txBody>
      </p:sp>
      <p:sp>
        <p:nvSpPr>
          <p:cNvPr id="8" name="Text 6"/>
          <p:cNvSpPr/>
          <p:nvPr/>
        </p:nvSpPr>
        <p:spPr>
          <a:xfrm>
            <a:off x="3840480" y="1554480"/>
            <a:ext cx="5029200" cy="10972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Preuve de Concept</a:t>
            </a:r>
            <a:endParaRPr lang="en-US" sz="3000" dirty="0"/>
          </a:p>
          <a:p>
            <a:pPr marL="0" indent="0">
              <a:buNone/>
            </a:pPr>
            <a:r>
              <a:rPr lang="en-US" sz="3000" b="1" dirty="0">
                <a:solidFill>
                  <a:srgbClr val="FFFFFF"/>
                </a:solidFill>
                <a:latin typeface="Cambria" pitchFamily="34" charset="0"/>
                <a:ea typeface="Cambria" pitchFamily="34" charset="-122"/>
                <a:cs typeface="Cambria" pitchFamily="34" charset="-120"/>
              </a:rPr>
              <a:t>Recommandation d'Evenements</a:t>
            </a:r>
            <a:endParaRPr lang="en-US" sz="3000" dirty="0"/>
          </a:p>
        </p:txBody>
      </p:sp>
      <p:sp>
        <p:nvSpPr>
          <p:cNvPr id="9" name="Text 7"/>
          <p:cNvSpPr/>
          <p:nvPr/>
        </p:nvSpPr>
        <p:spPr>
          <a:xfrm>
            <a:off x="3840480" y="2743200"/>
            <a:ext cx="5029200" cy="365760"/>
          </a:xfrm>
          <a:prstGeom prst="rect">
            <a:avLst/>
          </a:prstGeom>
          <a:noFill/>
          <a:ln/>
        </p:spPr>
        <p:txBody>
          <a:bodyPr wrap="square" rtlCol="0" anchor="ctr"/>
          <a:lstStyle/>
          <a:p>
            <a:pPr marL="0" indent="0">
              <a:buNone/>
            </a:pPr>
            <a:r>
              <a:rPr lang="en-US" sz="1400" i="1" dirty="0">
                <a:solidFill>
                  <a:srgbClr val="CADCFC"/>
                </a:solidFill>
              </a:rPr>
              <a:t>Generation Augmentee par Recuperation</a:t>
            </a:r>
            <a:endParaRPr lang="en-US" sz="1400" dirty="0"/>
          </a:p>
        </p:txBody>
      </p:sp>
      <p:sp>
        <p:nvSpPr>
          <p:cNvPr id="10" name="Shape 8"/>
          <p:cNvSpPr/>
          <p:nvPr/>
        </p:nvSpPr>
        <p:spPr>
          <a:xfrm>
            <a:off x="3840480" y="3200400"/>
            <a:ext cx="4754880" cy="0"/>
          </a:xfrm>
          <a:prstGeom prst="line">
            <a:avLst/>
          </a:prstGeom>
          <a:noFill/>
          <a:ln w="19050">
            <a:solidFill>
              <a:srgbClr val="028090"/>
            </a:solidFill>
            <a:prstDash val="solid"/>
          </a:ln>
        </p:spPr>
      </p:sp>
      <p:sp>
        <p:nvSpPr>
          <p:cNvPr id="11" name="Text 9"/>
          <p:cNvSpPr/>
          <p:nvPr/>
        </p:nvSpPr>
        <p:spPr>
          <a:xfrm>
            <a:off x="3840480" y="3383280"/>
            <a:ext cx="5029200" cy="822960"/>
          </a:xfrm>
          <a:prstGeom prst="rect">
            <a:avLst/>
          </a:prstGeom>
          <a:noFill/>
          <a:ln/>
        </p:spPr>
        <p:txBody>
          <a:bodyPr wrap="square" rtlCol="0" anchor="ctr"/>
          <a:lstStyle/>
          <a:p>
            <a:pPr marL="0" indent="0">
              <a:buNone/>
            </a:pPr>
            <a:r>
              <a:rPr lang="en-US" sz="1200" dirty="0">
                <a:solidFill>
                  <a:srgbClr val="CADCFC"/>
                </a:solidFill>
              </a:rPr>
              <a:t>Hope Donglo  |  Ingenieur de donnees freelance</a:t>
            </a:r>
            <a:endParaRPr lang="en-US" sz="1200" dirty="0"/>
          </a:p>
          <a:p>
            <a:pPr marL="0" indent="0">
              <a:buNone/>
            </a:pPr>
            <a:r>
              <a:rPr lang="en-US" sz="1200" dirty="0">
                <a:solidFill>
                  <a:srgbClr val="CADCFC"/>
                </a:solidFill>
              </a:rPr>
              <a:t>Mars 2026  |  Paris, Ile-de-France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F4E79"/>
          </a:solidFill>
          <a:ln/>
        </p:spPr>
      </p:sp>
      <p:sp>
        <p:nvSpPr>
          <p:cNvPr id="3" name="Text 1"/>
          <p:cNvSpPr/>
          <p:nvPr/>
        </p:nvSpPr>
        <p:spPr>
          <a:xfrm>
            <a:off x="365760" y="0"/>
            <a:ext cx="8412480" cy="914400"/>
          </a:xfrm>
          <a:prstGeom prst="rect">
            <a:avLst/>
          </a:prstGeom>
          <a:noFill/>
          <a:ln/>
        </p:spPr>
        <p:txBody>
          <a:bodyPr wrap="square" rtlCol="0" anchor="ctr"/>
          <a:lstStyle/>
          <a:p>
            <a:pPr marL="0" indent="0">
              <a:buNone/>
            </a:pPr>
            <a:r>
              <a:rPr lang="en-US" sz="2200" b="1" dirty="0">
                <a:solidFill>
                  <a:srgbClr val="FFFFFF"/>
                </a:solidFill>
              </a:rPr>
              <a:t>CONTEXTE ET OBJECTIFS</a:t>
            </a:r>
            <a:endParaRPr lang="en-US" sz="2200" dirty="0"/>
          </a:p>
        </p:txBody>
      </p:sp>
      <p:sp>
        <p:nvSpPr>
          <p:cNvPr id="4" name="Shape 2"/>
          <p:cNvSpPr/>
          <p:nvPr/>
        </p:nvSpPr>
        <p:spPr>
          <a:xfrm>
            <a:off x="365760" y="1097280"/>
            <a:ext cx="4023360" cy="3474720"/>
          </a:xfrm>
          <a:prstGeom prst="roundRect">
            <a:avLst>
              <a:gd name="adj" fmla="val 3158"/>
            </a:avLst>
          </a:prstGeom>
          <a:solidFill>
            <a:srgbClr val="F2F6FA"/>
          </a:solidFill>
          <a:ln/>
          <a:effectLst>
            <a:outerShdw blurRad="101600" dist="38100" dir="2700000" algn="bl" rotWithShape="0">
              <a:srgbClr val="000000">
                <a:alpha val="12000"/>
              </a:srgbClr>
            </a:outerShdw>
          </a:effectLst>
        </p:spPr>
      </p:sp>
      <p:sp>
        <p:nvSpPr>
          <p:cNvPr id="5" name="Shape 3"/>
          <p:cNvSpPr/>
          <p:nvPr/>
        </p:nvSpPr>
        <p:spPr>
          <a:xfrm>
            <a:off x="822960" y="1280160"/>
            <a:ext cx="640080" cy="640080"/>
          </a:xfrm>
          <a:prstGeom prst="ellipse">
            <a:avLst/>
          </a:prstGeom>
          <a:solidFill>
            <a:srgbClr val="2E75B6"/>
          </a:solidFill>
          <a:ln/>
        </p:spPr>
      </p:sp>
      <p:pic>
        <p:nvPicPr>
          <p:cNvPr id="6" name="Image 0" descr="preencoded.png"/>
          <p:cNvPicPr>
            <a:picLocks noChangeAspect="1"/>
          </p:cNvPicPr>
          <p:nvPr/>
        </p:nvPicPr>
        <p:blipFill>
          <a:blip r:embed="rId3"/>
          <a:stretch>
            <a:fillRect/>
          </a:stretch>
        </p:blipFill>
        <p:spPr>
          <a:xfrm>
            <a:off x="914400" y="1371600"/>
            <a:ext cx="457200" cy="457200"/>
          </a:xfrm>
          <a:prstGeom prst="rect">
            <a:avLst/>
          </a:prstGeom>
        </p:spPr>
      </p:pic>
      <p:sp>
        <p:nvSpPr>
          <p:cNvPr id="7" name="Text 4"/>
          <p:cNvSpPr/>
          <p:nvPr/>
        </p:nvSpPr>
        <p:spPr>
          <a:xfrm>
            <a:off x="1554480" y="1325880"/>
            <a:ext cx="2560320" cy="640080"/>
          </a:xfrm>
          <a:prstGeom prst="rect">
            <a:avLst/>
          </a:prstGeom>
          <a:noFill/>
          <a:ln/>
        </p:spPr>
        <p:txBody>
          <a:bodyPr wrap="square" rtlCol="0" anchor="ctr"/>
          <a:lstStyle/>
          <a:p>
            <a:pPr marL="0" indent="0">
              <a:buNone/>
            </a:pPr>
            <a:r>
              <a:rPr lang="en-US" sz="1600" b="1" dirty="0">
                <a:solidFill>
                  <a:srgbClr val="1F4E79"/>
                </a:solidFill>
              </a:rPr>
              <a:t>Le Defi</a:t>
            </a:r>
            <a:endParaRPr lang="en-US" sz="1600" dirty="0"/>
          </a:p>
        </p:txBody>
      </p:sp>
      <p:sp>
        <p:nvSpPr>
          <p:cNvPr id="8" name="Text 5"/>
          <p:cNvSpPr/>
          <p:nvPr/>
        </p:nvSpPr>
        <p:spPr>
          <a:xfrm>
            <a:off x="548640" y="2011680"/>
            <a:ext cx="3657600" cy="2377440"/>
          </a:xfrm>
          <a:prstGeom prst="rect">
            <a:avLst/>
          </a:prstGeom>
          <a:noFill/>
          <a:ln/>
        </p:spPr>
        <p:txBody>
          <a:bodyPr wrap="square" rtlCol="0" anchor="ctr"/>
          <a:lstStyle/>
          <a:p>
            <a:pPr marL="0" indent="0">
              <a:buNone/>
            </a:pPr>
            <a:r>
              <a:rPr lang="en-US" sz="1200" dirty="0">
                <a:solidFill>
                  <a:srgbClr val="5D6D7E"/>
                </a:solidFill>
              </a:rPr>
              <a:t>Puls-Events agregge des evenements culturels depuis Open Agenda.</a:t>
            </a:r>
            <a:endParaRPr lang="en-US" sz="1200" dirty="0"/>
          </a:p>
          <a:p>
            <a:pPr marL="0" indent="0">
              <a:buNone/>
            </a:pPr>
            <a:r>
              <a:rPr lang="en-US" sz="1200" dirty="0">
                <a:solidFill>
                  <a:srgbClr val="5D6D7E"/>
                </a:solidFill>
              </a:rPr>
              <a:t> </a:t>
            </a:r>
            <a:endParaRPr lang="en-US" sz="1200" dirty="0"/>
          </a:p>
          <a:p>
            <a:pPr marL="0" indent="0">
              <a:buNone/>
            </a:pPr>
            <a:r>
              <a:rPr lang="en-US" sz="1200" dirty="0">
                <a:solidFill>
                  <a:srgbClr val="5D6D7E"/>
                </a:solidFill>
              </a:rPr>
              <a:t>Les utilisateurs veulent decouvrir des evenements en posant des questions en langue naturelle.</a:t>
            </a:r>
            <a:endParaRPr lang="en-US" sz="1200" dirty="0"/>
          </a:p>
          <a:p>
            <a:pPr marL="0" indent="0">
              <a:buNone/>
            </a:pPr>
            <a:r>
              <a:rPr lang="en-US" sz="1200" dirty="0">
                <a:solidFill>
                  <a:srgbClr val="5D6D7E"/>
                </a:solidFill>
              </a:rPr>
              <a:t> </a:t>
            </a:r>
            <a:endParaRPr lang="en-US" sz="1200" dirty="0"/>
          </a:p>
          <a:p>
            <a:pPr marL="0" indent="0">
              <a:buNone/>
            </a:pPr>
            <a:r>
              <a:rPr lang="en-US" sz="1200" dirty="0">
                <a:solidFill>
                  <a:srgbClr val="5D6D7E"/>
                </a:solidFill>
              </a:rPr>
              <a:t>Les LLMs generiques ne connaissent pas les evenements locaux recents et inventent des reponses.</a:t>
            </a:r>
            <a:endParaRPr lang="en-US" sz="1200" dirty="0"/>
          </a:p>
        </p:txBody>
      </p:sp>
      <p:sp>
        <p:nvSpPr>
          <p:cNvPr id="9" name="Shape 6"/>
          <p:cNvSpPr/>
          <p:nvPr/>
        </p:nvSpPr>
        <p:spPr>
          <a:xfrm>
            <a:off x="4754880" y="1097280"/>
            <a:ext cx="4023360" cy="3474720"/>
          </a:xfrm>
          <a:prstGeom prst="roundRect">
            <a:avLst>
              <a:gd name="adj" fmla="val 3158"/>
            </a:avLst>
          </a:prstGeom>
          <a:solidFill>
            <a:srgbClr val="F2F6FA"/>
          </a:solidFill>
          <a:ln/>
          <a:effectLst>
            <a:outerShdw blurRad="101600" dist="38100" dir="2700000" algn="bl" rotWithShape="0">
              <a:srgbClr val="000000">
                <a:alpha val="12000"/>
              </a:srgbClr>
            </a:outerShdw>
          </a:effectLst>
        </p:spPr>
      </p:sp>
      <p:sp>
        <p:nvSpPr>
          <p:cNvPr id="10" name="Shape 7"/>
          <p:cNvSpPr/>
          <p:nvPr/>
        </p:nvSpPr>
        <p:spPr>
          <a:xfrm>
            <a:off x="5212080" y="1280160"/>
            <a:ext cx="640080" cy="640080"/>
          </a:xfrm>
          <a:prstGeom prst="ellipse">
            <a:avLst/>
          </a:prstGeom>
          <a:solidFill>
            <a:srgbClr val="028090"/>
          </a:solidFill>
          <a:ln/>
        </p:spPr>
      </p:sp>
      <p:pic>
        <p:nvPicPr>
          <p:cNvPr id="11" name="Image 1" descr="preencoded.png"/>
          <p:cNvPicPr>
            <a:picLocks noChangeAspect="1"/>
          </p:cNvPicPr>
          <p:nvPr/>
        </p:nvPicPr>
        <p:blipFill>
          <a:blip r:embed="rId4"/>
          <a:stretch>
            <a:fillRect/>
          </a:stretch>
        </p:blipFill>
        <p:spPr>
          <a:xfrm>
            <a:off x="5321808" y="1371600"/>
            <a:ext cx="411480" cy="411480"/>
          </a:xfrm>
          <a:prstGeom prst="rect">
            <a:avLst/>
          </a:prstGeom>
        </p:spPr>
      </p:pic>
      <p:sp>
        <p:nvSpPr>
          <p:cNvPr id="12" name="Text 8"/>
          <p:cNvSpPr/>
          <p:nvPr/>
        </p:nvSpPr>
        <p:spPr>
          <a:xfrm>
            <a:off x="5943600" y="1325880"/>
            <a:ext cx="2560320" cy="640080"/>
          </a:xfrm>
          <a:prstGeom prst="rect">
            <a:avLst/>
          </a:prstGeom>
          <a:noFill/>
          <a:ln/>
        </p:spPr>
        <p:txBody>
          <a:bodyPr wrap="square" rtlCol="0" anchor="ctr"/>
          <a:lstStyle/>
          <a:p>
            <a:pPr marL="0" indent="0">
              <a:buNone/>
            </a:pPr>
            <a:r>
              <a:rPr lang="en-US" sz="1600" b="1" dirty="0">
                <a:solidFill>
                  <a:srgbClr val="1F4E79"/>
                </a:solidFill>
              </a:rPr>
              <a:t>La Solution RAG</a:t>
            </a:r>
            <a:endParaRPr lang="en-US" sz="1600" dirty="0"/>
          </a:p>
        </p:txBody>
      </p:sp>
      <p:sp>
        <p:nvSpPr>
          <p:cNvPr id="13" name="Text 9"/>
          <p:cNvSpPr/>
          <p:nvPr/>
        </p:nvSpPr>
        <p:spPr>
          <a:xfrm>
            <a:off x="4937760" y="2011680"/>
            <a:ext cx="3657600" cy="2377440"/>
          </a:xfrm>
          <a:prstGeom prst="rect">
            <a:avLst/>
          </a:prstGeom>
          <a:noFill/>
          <a:ln/>
        </p:spPr>
        <p:txBody>
          <a:bodyPr wrap="square" rtlCol="0" anchor="ctr"/>
          <a:lstStyle/>
          <a:p>
            <a:pPr marL="0" indent="0">
              <a:buNone/>
            </a:pPr>
            <a:r>
              <a:rPr lang="en-US" sz="1200" dirty="0">
                <a:solidFill>
                  <a:srgbClr val="5D6D7E"/>
                </a:solidFill>
              </a:rPr>
              <a:t>Le systeme RAG combine :</a:t>
            </a:r>
            <a:endParaRPr lang="en-US" sz="1200" dirty="0"/>
          </a:p>
          <a:p>
            <a:pPr marL="0" indent="0">
              <a:buNone/>
            </a:pPr>
            <a:r>
              <a:rPr lang="en-US" sz="1200" dirty="0">
                <a:solidFill>
                  <a:srgbClr val="5D6D7E"/>
                </a:solidFill>
              </a:rPr>
              <a:t> </a:t>
            </a:r>
            <a:endParaRPr lang="en-US" sz="1200" dirty="0"/>
          </a:p>
          <a:p>
            <a:pPr marL="342900" indent="-342900">
              <a:buSzPct val="100000"/>
              <a:buChar char="•"/>
            </a:pPr>
            <a:r>
              <a:rPr lang="en-US" sz="1200" dirty="0">
                <a:solidFill>
                  <a:srgbClr val="5D6D7E"/>
                </a:solidFill>
              </a:rPr>
              <a:t>Recuperation  des evenements pertinents depuis une base vectorielle.</a:t>
            </a:r>
            <a:endParaRPr lang="en-US" sz="1200" dirty="0"/>
          </a:p>
          <a:p>
            <a:pPr marL="342900" indent="-342900">
              <a:buSzPct val="100000"/>
              <a:buChar char="•"/>
            </a:pPr>
            <a:r>
              <a:rPr lang="en-US" sz="1200" dirty="0">
                <a:solidFill>
                  <a:srgbClr val="5D6D7E"/>
                </a:solidFill>
              </a:rPr>
              <a:t>Generation  d'une reponse en francais ancree exclusivement dans ces donnees.</a:t>
            </a:r>
            <a:endParaRPr lang="en-US" sz="1200" dirty="0"/>
          </a:p>
          <a:p>
            <a:pPr marL="0" indent="0">
              <a:buNone/>
            </a:pPr>
            <a:r>
              <a:rPr lang="en-US" sz="1200" dirty="0">
                <a:solidFill>
                  <a:srgbClr val="5D6D7E"/>
                </a:solidFill>
              </a:rPr>
              <a:t> </a:t>
            </a:r>
            <a:endParaRPr lang="en-US" sz="1200" dirty="0"/>
          </a:p>
          <a:p>
            <a:pPr marL="0" indent="0">
              <a:buNone/>
            </a:pPr>
            <a:r>
              <a:rPr lang="en-US" sz="1200" dirty="0">
                <a:solidFill>
                  <a:srgbClr val="5D6D7E"/>
                </a:solidFill>
              </a:rPr>
              <a:t>Zero hallucination. Donnees toujours recentes.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F4E79"/>
          </a:solidFill>
          <a:ln/>
        </p:spPr>
      </p:sp>
      <p:sp>
        <p:nvSpPr>
          <p:cNvPr id="3" name="Text 1"/>
          <p:cNvSpPr/>
          <p:nvPr/>
        </p:nvSpPr>
        <p:spPr>
          <a:xfrm>
            <a:off x="365760" y="0"/>
            <a:ext cx="8412480" cy="914400"/>
          </a:xfrm>
          <a:prstGeom prst="rect">
            <a:avLst/>
          </a:prstGeom>
          <a:noFill/>
          <a:ln/>
        </p:spPr>
        <p:txBody>
          <a:bodyPr wrap="square" rtlCol="0" anchor="ctr"/>
          <a:lstStyle/>
          <a:p>
            <a:pPr marL="0" indent="0">
              <a:buNone/>
            </a:pPr>
            <a:r>
              <a:rPr lang="en-US" sz="2200" b="1" dirty="0">
                <a:solidFill>
                  <a:srgbClr val="FFFFFF"/>
                </a:solidFill>
              </a:rPr>
              <a:t>ARCHITECTURE DU SYSTEME</a:t>
            </a:r>
            <a:endParaRPr lang="en-US" sz="2200" dirty="0"/>
          </a:p>
        </p:txBody>
      </p:sp>
      <p:sp>
        <p:nvSpPr>
          <p:cNvPr id="28" name="Shape 21"/>
          <p:cNvSpPr/>
          <p:nvPr/>
        </p:nvSpPr>
        <p:spPr>
          <a:xfrm>
            <a:off x="274320" y="3200400"/>
            <a:ext cx="8595360" cy="1600200"/>
          </a:xfrm>
          <a:prstGeom prst="rect">
            <a:avLst/>
          </a:prstGeom>
          <a:solidFill>
            <a:srgbClr val="F2F6FA"/>
          </a:solidFill>
          <a:ln/>
          <a:effectLst>
            <a:outerShdw blurRad="101600" dist="38100" dir="2700000" algn="bl" rotWithShape="0">
              <a:srgbClr val="000000">
                <a:alpha val="12000"/>
              </a:srgbClr>
            </a:outerShdw>
          </a:effectLst>
        </p:spPr>
      </p:sp>
      <p:sp>
        <p:nvSpPr>
          <p:cNvPr id="29" name="Text 22"/>
          <p:cNvSpPr/>
          <p:nvPr/>
        </p:nvSpPr>
        <p:spPr>
          <a:xfrm>
            <a:off x="457200" y="3291840"/>
            <a:ext cx="8229600" cy="365760"/>
          </a:xfrm>
          <a:prstGeom prst="rect">
            <a:avLst/>
          </a:prstGeom>
          <a:noFill/>
          <a:ln/>
        </p:spPr>
        <p:txBody>
          <a:bodyPr wrap="square" rtlCol="0" anchor="ctr"/>
          <a:lstStyle/>
          <a:p>
            <a:pPr marL="0" indent="0">
              <a:buNone/>
            </a:pPr>
            <a:r>
              <a:rPr lang="en-US" sz="1100" b="1" kern="0" spc="200" dirty="0">
                <a:solidFill>
                  <a:srgbClr val="1F4E79"/>
                </a:solidFill>
              </a:rPr>
              <a:t>FLUX EN TEMPS REEL</a:t>
            </a:r>
            <a:endParaRPr lang="en-US" sz="1100" dirty="0"/>
          </a:p>
        </p:txBody>
      </p:sp>
      <p:pic>
        <p:nvPicPr>
          <p:cNvPr id="49" name="Picture 48">
            <a:extLst>
              <a:ext uri="{FF2B5EF4-FFF2-40B4-BE49-F238E27FC236}">
                <a16:creationId xmlns:a16="http://schemas.microsoft.com/office/drawing/2014/main" id="{51583648-565B-67D2-E651-2B6810E346AC}"/>
              </a:ext>
            </a:extLst>
          </p:cNvPr>
          <p:cNvPicPr>
            <a:picLocks noChangeAspect="1"/>
          </p:cNvPicPr>
          <p:nvPr/>
        </p:nvPicPr>
        <p:blipFill>
          <a:blip r:embed="rId3"/>
          <a:stretch>
            <a:fillRect/>
          </a:stretch>
        </p:blipFill>
        <p:spPr>
          <a:xfrm>
            <a:off x="457199" y="1092708"/>
            <a:ext cx="8116277" cy="1696212"/>
          </a:xfrm>
          <a:prstGeom prst="rect">
            <a:avLst/>
          </a:prstGeom>
        </p:spPr>
      </p:pic>
      <p:pic>
        <p:nvPicPr>
          <p:cNvPr id="50" name="Picture 49">
            <a:extLst>
              <a:ext uri="{FF2B5EF4-FFF2-40B4-BE49-F238E27FC236}">
                <a16:creationId xmlns:a16="http://schemas.microsoft.com/office/drawing/2014/main" id="{9C8C31B7-AABF-3A7F-2237-77012E570B4C}"/>
              </a:ext>
            </a:extLst>
          </p:cNvPr>
          <p:cNvPicPr>
            <a:picLocks noChangeAspect="1"/>
          </p:cNvPicPr>
          <p:nvPr/>
        </p:nvPicPr>
        <p:blipFill>
          <a:blip r:embed="rId4"/>
          <a:stretch>
            <a:fillRect/>
          </a:stretch>
        </p:blipFill>
        <p:spPr>
          <a:xfrm>
            <a:off x="457198" y="3575964"/>
            <a:ext cx="8116277" cy="122463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F4E79"/>
          </a:solidFill>
          <a:ln/>
        </p:spPr>
      </p:sp>
      <p:sp>
        <p:nvSpPr>
          <p:cNvPr id="3" name="Text 1"/>
          <p:cNvSpPr/>
          <p:nvPr/>
        </p:nvSpPr>
        <p:spPr>
          <a:xfrm>
            <a:off x="365760" y="0"/>
            <a:ext cx="8412480" cy="914400"/>
          </a:xfrm>
          <a:prstGeom prst="rect">
            <a:avLst/>
          </a:prstGeom>
          <a:noFill/>
          <a:ln/>
        </p:spPr>
        <p:txBody>
          <a:bodyPr wrap="square" rtlCol="0" anchor="ctr"/>
          <a:lstStyle/>
          <a:p>
            <a:pPr marL="0" indent="0">
              <a:buNone/>
            </a:pPr>
            <a:r>
              <a:rPr lang="en-US" sz="2200" b="1" dirty="0">
                <a:solidFill>
                  <a:srgbClr val="FFFFFF"/>
                </a:solidFill>
              </a:rPr>
              <a:t>SOURCE DE DONNEES  |  OPEN AGENDA PARIS</a:t>
            </a:r>
            <a:endParaRPr lang="en-US" sz="2200" dirty="0"/>
          </a:p>
        </p:txBody>
      </p:sp>
      <p:sp>
        <p:nvSpPr>
          <p:cNvPr id="4" name="Shape 2"/>
          <p:cNvSpPr/>
          <p:nvPr/>
        </p:nvSpPr>
        <p:spPr>
          <a:xfrm>
            <a:off x="274320" y="1051560"/>
            <a:ext cx="1965960" cy="1463040"/>
          </a:xfrm>
          <a:prstGeom prst="roundRect">
            <a:avLst>
              <a:gd name="adj" fmla="val 7500"/>
            </a:avLst>
          </a:prstGeom>
          <a:solidFill>
            <a:srgbClr val="1F4E79"/>
          </a:solidFill>
          <a:ln/>
        </p:spPr>
      </p:sp>
      <p:sp>
        <p:nvSpPr>
          <p:cNvPr id="5" name="Text 3"/>
          <p:cNvSpPr/>
          <p:nvPr/>
        </p:nvSpPr>
        <p:spPr>
          <a:xfrm>
            <a:off x="274320" y="1143000"/>
            <a:ext cx="1965960" cy="73152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9 651</a:t>
            </a:r>
            <a:endParaRPr lang="en-US" sz="3000" dirty="0"/>
          </a:p>
        </p:txBody>
      </p:sp>
      <p:sp>
        <p:nvSpPr>
          <p:cNvPr id="6" name="Text 4"/>
          <p:cNvSpPr/>
          <p:nvPr/>
        </p:nvSpPr>
        <p:spPr>
          <a:xfrm>
            <a:off x="274320" y="1920240"/>
            <a:ext cx="1965960" cy="457200"/>
          </a:xfrm>
          <a:prstGeom prst="rect">
            <a:avLst/>
          </a:prstGeom>
          <a:noFill/>
          <a:ln/>
        </p:spPr>
        <p:txBody>
          <a:bodyPr wrap="square" rtlCol="0" anchor="ctr"/>
          <a:lstStyle/>
          <a:p>
            <a:pPr marL="0" indent="0" algn="ctr">
              <a:buNone/>
            </a:pPr>
            <a:r>
              <a:rPr lang="en-US" sz="1000" dirty="0">
                <a:solidFill>
                  <a:srgbClr val="CADCFC"/>
                </a:solidFill>
              </a:rPr>
              <a:t>evenements disponibles</a:t>
            </a:r>
            <a:endParaRPr lang="en-US" sz="1000" dirty="0"/>
          </a:p>
        </p:txBody>
      </p:sp>
      <p:sp>
        <p:nvSpPr>
          <p:cNvPr id="7" name="Shape 5"/>
          <p:cNvSpPr/>
          <p:nvPr/>
        </p:nvSpPr>
        <p:spPr>
          <a:xfrm>
            <a:off x="2450592" y="1051560"/>
            <a:ext cx="1965960" cy="1463040"/>
          </a:xfrm>
          <a:prstGeom prst="roundRect">
            <a:avLst>
              <a:gd name="adj" fmla="val 7500"/>
            </a:avLst>
          </a:prstGeom>
          <a:solidFill>
            <a:srgbClr val="2E75B6"/>
          </a:solidFill>
          <a:ln/>
        </p:spPr>
      </p:sp>
      <p:sp>
        <p:nvSpPr>
          <p:cNvPr id="8" name="Text 6"/>
          <p:cNvSpPr/>
          <p:nvPr/>
        </p:nvSpPr>
        <p:spPr>
          <a:xfrm>
            <a:off x="2450592" y="1143000"/>
            <a:ext cx="1965960" cy="73152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1 740</a:t>
            </a:r>
            <a:endParaRPr lang="en-US" sz="3000" dirty="0"/>
          </a:p>
        </p:txBody>
      </p:sp>
      <p:sp>
        <p:nvSpPr>
          <p:cNvPr id="9" name="Text 7"/>
          <p:cNvSpPr/>
          <p:nvPr/>
        </p:nvSpPr>
        <p:spPr>
          <a:xfrm>
            <a:off x="2450592" y="1920240"/>
            <a:ext cx="1965960" cy="457200"/>
          </a:xfrm>
          <a:prstGeom prst="rect">
            <a:avLst/>
          </a:prstGeom>
          <a:noFill/>
          <a:ln/>
        </p:spPr>
        <p:txBody>
          <a:bodyPr wrap="square" rtlCol="0" anchor="ctr"/>
          <a:lstStyle/>
          <a:p>
            <a:pPr marL="0" indent="0" algn="ctr">
              <a:buNone/>
            </a:pPr>
            <a:r>
              <a:rPr lang="en-US" sz="1000" dirty="0">
                <a:solidFill>
                  <a:srgbClr val="CADCFC"/>
                </a:solidFill>
              </a:rPr>
              <a:t>retenus (12 mois)</a:t>
            </a:r>
            <a:endParaRPr lang="en-US" sz="1000" dirty="0"/>
          </a:p>
        </p:txBody>
      </p:sp>
      <p:sp>
        <p:nvSpPr>
          <p:cNvPr id="10" name="Shape 8"/>
          <p:cNvSpPr/>
          <p:nvPr/>
        </p:nvSpPr>
        <p:spPr>
          <a:xfrm>
            <a:off x="4626864" y="1051560"/>
            <a:ext cx="1965960" cy="1463040"/>
          </a:xfrm>
          <a:prstGeom prst="roundRect">
            <a:avLst>
              <a:gd name="adj" fmla="val 7500"/>
            </a:avLst>
          </a:prstGeom>
          <a:solidFill>
            <a:srgbClr val="028090"/>
          </a:solidFill>
          <a:ln/>
        </p:spPr>
      </p:sp>
      <p:sp>
        <p:nvSpPr>
          <p:cNvPr id="11" name="Text 9"/>
          <p:cNvSpPr/>
          <p:nvPr/>
        </p:nvSpPr>
        <p:spPr>
          <a:xfrm>
            <a:off x="4626864" y="1143000"/>
            <a:ext cx="1965960" cy="73152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97</a:t>
            </a:r>
            <a:endParaRPr lang="en-US" sz="3000" dirty="0"/>
          </a:p>
        </p:txBody>
      </p:sp>
      <p:sp>
        <p:nvSpPr>
          <p:cNvPr id="12" name="Text 10"/>
          <p:cNvSpPr/>
          <p:nvPr/>
        </p:nvSpPr>
        <p:spPr>
          <a:xfrm>
            <a:off x="4626864" y="1920240"/>
            <a:ext cx="1965960" cy="457200"/>
          </a:xfrm>
          <a:prstGeom prst="rect">
            <a:avLst/>
          </a:prstGeom>
          <a:noFill/>
          <a:ln/>
        </p:spPr>
        <p:txBody>
          <a:bodyPr wrap="square" rtlCol="0" anchor="ctr"/>
          <a:lstStyle/>
          <a:p>
            <a:pPr marL="0" indent="0" algn="ctr">
              <a:buNone/>
            </a:pPr>
            <a:r>
              <a:rPr lang="en-US" sz="1000" dirty="0">
                <a:solidFill>
                  <a:srgbClr val="CADCFC"/>
                </a:solidFill>
              </a:rPr>
              <a:t>pages API fetchees</a:t>
            </a:r>
            <a:endParaRPr lang="en-US" sz="1000" dirty="0"/>
          </a:p>
        </p:txBody>
      </p:sp>
      <p:sp>
        <p:nvSpPr>
          <p:cNvPr id="13" name="Shape 11"/>
          <p:cNvSpPr/>
          <p:nvPr/>
        </p:nvSpPr>
        <p:spPr>
          <a:xfrm>
            <a:off x="6803136" y="1051560"/>
            <a:ext cx="1965960" cy="1463040"/>
          </a:xfrm>
          <a:prstGeom prst="roundRect">
            <a:avLst>
              <a:gd name="adj" fmla="val 7500"/>
            </a:avLst>
          </a:prstGeom>
          <a:solidFill>
            <a:srgbClr val="1F4E79"/>
          </a:solidFill>
          <a:ln/>
        </p:spPr>
      </p:sp>
      <p:sp>
        <p:nvSpPr>
          <p:cNvPr id="14" name="Text 12"/>
          <p:cNvSpPr/>
          <p:nvPr/>
        </p:nvSpPr>
        <p:spPr>
          <a:xfrm>
            <a:off x="6803136" y="1143000"/>
            <a:ext cx="1965960" cy="73152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13</a:t>
            </a:r>
            <a:endParaRPr lang="en-US" sz="3000" dirty="0"/>
          </a:p>
        </p:txBody>
      </p:sp>
      <p:sp>
        <p:nvSpPr>
          <p:cNvPr id="15" name="Text 13"/>
          <p:cNvSpPr/>
          <p:nvPr/>
        </p:nvSpPr>
        <p:spPr>
          <a:xfrm>
            <a:off x="6803136" y="1920240"/>
            <a:ext cx="1965960" cy="457200"/>
          </a:xfrm>
          <a:prstGeom prst="rect">
            <a:avLst/>
          </a:prstGeom>
          <a:noFill/>
          <a:ln/>
        </p:spPr>
        <p:txBody>
          <a:bodyPr wrap="square" rtlCol="0" anchor="ctr"/>
          <a:lstStyle/>
          <a:p>
            <a:pPr marL="0" indent="0" algn="ctr">
              <a:buNone/>
            </a:pPr>
            <a:r>
              <a:rPr lang="en-US" sz="1000" dirty="0">
                <a:solidFill>
                  <a:srgbClr val="CADCFC"/>
                </a:solidFill>
              </a:rPr>
              <a:t>champs selectionnes</a:t>
            </a:r>
            <a:endParaRPr lang="en-US" sz="1000" dirty="0"/>
          </a:p>
        </p:txBody>
      </p:sp>
      <p:sp>
        <p:nvSpPr>
          <p:cNvPr id="16" name="Text 14"/>
          <p:cNvSpPr/>
          <p:nvPr/>
        </p:nvSpPr>
        <p:spPr>
          <a:xfrm>
            <a:off x="365760" y="2743200"/>
            <a:ext cx="4023360" cy="365760"/>
          </a:xfrm>
          <a:prstGeom prst="rect">
            <a:avLst/>
          </a:prstGeom>
          <a:noFill/>
          <a:ln/>
        </p:spPr>
        <p:txBody>
          <a:bodyPr wrap="square" rtlCol="0" anchor="ctr"/>
          <a:lstStyle/>
          <a:p>
            <a:pPr marL="0" indent="0">
              <a:buNone/>
            </a:pPr>
            <a:r>
              <a:rPr lang="en-US" sz="1300" b="1" dirty="0">
                <a:solidFill>
                  <a:srgbClr val="1F4E79"/>
                </a:solidFill>
              </a:rPr>
              <a:t>Pourquoi Open Agenda ?</a:t>
            </a:r>
            <a:endParaRPr lang="en-US" sz="1300" dirty="0"/>
          </a:p>
        </p:txBody>
      </p:sp>
      <p:sp>
        <p:nvSpPr>
          <p:cNvPr id="17" name="Text 15"/>
          <p:cNvSpPr/>
          <p:nvPr/>
        </p:nvSpPr>
        <p:spPr>
          <a:xfrm>
            <a:off x="365760" y="3154680"/>
            <a:ext cx="4023360" cy="1737360"/>
          </a:xfrm>
          <a:prstGeom prst="rect">
            <a:avLst/>
          </a:prstGeom>
          <a:noFill/>
          <a:ln/>
        </p:spPr>
        <p:txBody>
          <a:bodyPr wrap="square" rtlCol="0" anchor="ctr"/>
          <a:lstStyle/>
          <a:p>
            <a:pPr marL="342900" indent="-342900">
              <a:buSzPct val="100000"/>
              <a:buChar char="•"/>
            </a:pPr>
            <a:r>
              <a:rPr lang="en-US" sz="1200" dirty="0">
                <a:solidFill>
                  <a:srgbClr val="5D6D7E"/>
                </a:solidFill>
              </a:rPr>
              <a:t>Donnees en temps reel (API native v2)</a:t>
            </a:r>
            <a:endParaRPr lang="en-US" sz="1200" dirty="0"/>
          </a:p>
          <a:p>
            <a:pPr marL="342900" indent="-342900">
              <a:buSzPct val="100000"/>
              <a:buChar char="•"/>
            </a:pPr>
            <a:r>
              <a:rPr lang="en-US" sz="1200" dirty="0">
                <a:solidFill>
                  <a:srgbClr val="5D6D7E"/>
                </a:solidFill>
              </a:rPr>
              <a:t>Agenda Deciding for Paris (UID 82290100)</a:t>
            </a:r>
            <a:endParaRPr lang="en-US" sz="1200" dirty="0"/>
          </a:p>
          <a:p>
            <a:pPr marL="342900" indent="-342900">
              <a:buSzPct val="100000"/>
              <a:buChar char="•"/>
            </a:pPr>
            <a:r>
              <a:rPr lang="en-US" sz="1200" dirty="0">
                <a:solidFill>
                  <a:srgbClr val="5D6D7E"/>
                </a:solidFill>
              </a:rPr>
              <a:t>Export OpenDataSoft rejete : donnees de 2021</a:t>
            </a:r>
            <a:endParaRPr lang="en-US" sz="1200" dirty="0"/>
          </a:p>
          <a:p>
            <a:pPr marL="342900" indent="-342900">
              <a:buSzPct val="100000"/>
              <a:buChar char="•"/>
            </a:pPr>
            <a:r>
              <a:rPr lang="en-US" sz="1200" dirty="0">
                <a:solidFill>
                  <a:srgbClr val="5D6D7E"/>
                </a:solidFill>
              </a:rPr>
              <a:t>Filtrage par curseur sur 12 mois</a:t>
            </a:r>
            <a:endParaRPr lang="en-US" sz="1200" dirty="0"/>
          </a:p>
        </p:txBody>
      </p:sp>
      <p:sp>
        <p:nvSpPr>
          <p:cNvPr id="18" name="Text 16"/>
          <p:cNvSpPr/>
          <p:nvPr/>
        </p:nvSpPr>
        <p:spPr>
          <a:xfrm>
            <a:off x="4754880" y="2743200"/>
            <a:ext cx="4023360" cy="365760"/>
          </a:xfrm>
          <a:prstGeom prst="rect">
            <a:avLst/>
          </a:prstGeom>
          <a:noFill/>
          <a:ln/>
        </p:spPr>
        <p:txBody>
          <a:bodyPr wrap="square" rtlCol="0" anchor="ctr"/>
          <a:lstStyle/>
          <a:p>
            <a:pPr marL="0" indent="0">
              <a:buNone/>
            </a:pPr>
            <a:r>
              <a:rPr lang="en-US" sz="1300" b="1" dirty="0">
                <a:solidFill>
                  <a:srgbClr val="1F4E79"/>
                </a:solidFill>
              </a:rPr>
              <a:t>Qualite des donnees</a:t>
            </a:r>
            <a:endParaRPr lang="en-US" sz="1300" dirty="0"/>
          </a:p>
        </p:txBody>
      </p:sp>
      <p:sp>
        <p:nvSpPr>
          <p:cNvPr id="19" name="Text 17"/>
          <p:cNvSpPr/>
          <p:nvPr/>
        </p:nvSpPr>
        <p:spPr>
          <a:xfrm>
            <a:off x="4754880" y="3154680"/>
            <a:ext cx="4023360" cy="1737360"/>
          </a:xfrm>
          <a:prstGeom prst="rect">
            <a:avLst/>
          </a:prstGeom>
          <a:noFill/>
          <a:ln/>
        </p:spPr>
        <p:txBody>
          <a:bodyPr wrap="square" rtlCol="0" anchor="ctr"/>
          <a:lstStyle/>
          <a:p>
            <a:pPr marL="342900" indent="-342900">
              <a:buSzPct val="100000"/>
              <a:buChar char="•"/>
            </a:pPr>
            <a:r>
              <a:rPr lang="en-US" sz="1200" dirty="0">
                <a:solidFill>
                  <a:srgbClr val="5D6D7E"/>
                </a:solidFill>
              </a:rPr>
              <a:t>description.fr : 0 % de valeurs nulles</a:t>
            </a:r>
            <a:endParaRPr lang="en-US" sz="1200" dirty="0"/>
          </a:p>
          <a:p>
            <a:pPr marL="342900" indent="-342900">
              <a:buSzPct val="100000"/>
              <a:buChar char="•"/>
            </a:pPr>
            <a:r>
              <a:rPr lang="en-US" sz="1200" dirty="0">
                <a:solidFill>
                  <a:srgbClr val="5D6D7E"/>
                </a:solidFill>
              </a:rPr>
              <a:t>keywords.fr : 89 % nuls, exclu du pipeline</a:t>
            </a:r>
            <a:endParaRPr lang="en-US" sz="1200" dirty="0"/>
          </a:p>
          <a:p>
            <a:pPr marL="342900" indent="-342900">
              <a:buSzPct val="100000"/>
              <a:buChar char="•"/>
            </a:pPr>
            <a:r>
              <a:rPr lang="en-US" sz="1200" dirty="0">
                <a:solidFill>
                  <a:srgbClr val="5D6D7E"/>
                </a:solidFill>
              </a:rPr>
              <a:t>Dates en millisecondes Unix (non ISO 8601)</a:t>
            </a:r>
            <a:endParaRPr lang="en-US" sz="1200" dirty="0"/>
          </a:p>
          <a:p>
            <a:pPr marL="342900" indent="-342900">
              <a:buSzPct val="100000"/>
              <a:buChar char="•"/>
            </a:pPr>
            <a:r>
              <a:rPr lang="en-US" sz="1200" dirty="0">
                <a:solidFill>
                  <a:srgbClr val="5D6D7E"/>
                </a:solidFill>
              </a:rPr>
              <a:t>Codes postaux corriges dans le champ ville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F4E79"/>
          </a:solidFill>
          <a:ln/>
        </p:spPr>
      </p:sp>
      <p:sp>
        <p:nvSpPr>
          <p:cNvPr id="3" name="Text 1"/>
          <p:cNvSpPr/>
          <p:nvPr/>
        </p:nvSpPr>
        <p:spPr>
          <a:xfrm>
            <a:off x="365760" y="0"/>
            <a:ext cx="8412480" cy="914400"/>
          </a:xfrm>
          <a:prstGeom prst="rect">
            <a:avLst/>
          </a:prstGeom>
          <a:noFill/>
          <a:ln/>
        </p:spPr>
        <p:txBody>
          <a:bodyPr wrap="square" rtlCol="0" anchor="ctr"/>
          <a:lstStyle/>
          <a:p>
            <a:pPr marL="0" indent="0">
              <a:buNone/>
            </a:pPr>
            <a:r>
              <a:rPr lang="en-US" sz="2200" b="1" dirty="0">
                <a:solidFill>
                  <a:srgbClr val="FFFFFF"/>
                </a:solidFill>
              </a:rPr>
              <a:t>CHOIX TECHNIQUES</a:t>
            </a:r>
            <a:endParaRPr lang="en-US" sz="2200" dirty="0"/>
          </a:p>
        </p:txBody>
      </p:sp>
      <p:sp>
        <p:nvSpPr>
          <p:cNvPr id="4" name="Shape 2"/>
          <p:cNvSpPr/>
          <p:nvPr/>
        </p:nvSpPr>
        <p:spPr>
          <a:xfrm>
            <a:off x="274320" y="1051560"/>
            <a:ext cx="2697480" cy="1783080"/>
          </a:xfrm>
          <a:prstGeom prst="roundRect">
            <a:avLst>
              <a:gd name="adj" fmla="val 5128"/>
            </a:avLst>
          </a:prstGeom>
          <a:solidFill>
            <a:srgbClr val="F2F6FA"/>
          </a:solidFill>
          <a:ln/>
          <a:effectLst>
            <a:outerShdw blurRad="101600" dist="38100" dir="2700000" algn="bl" rotWithShape="0">
              <a:srgbClr val="000000">
                <a:alpha val="12000"/>
              </a:srgbClr>
            </a:outerShdw>
          </a:effectLst>
        </p:spPr>
      </p:sp>
      <p:sp>
        <p:nvSpPr>
          <p:cNvPr id="5" name="Shape 3"/>
          <p:cNvSpPr/>
          <p:nvPr/>
        </p:nvSpPr>
        <p:spPr>
          <a:xfrm>
            <a:off x="384048" y="1143000"/>
            <a:ext cx="502920" cy="502920"/>
          </a:xfrm>
          <a:prstGeom prst="ellipse">
            <a:avLst/>
          </a:prstGeom>
          <a:solidFill>
            <a:srgbClr val="1F4E79"/>
          </a:solidFill>
          <a:ln/>
        </p:spPr>
      </p:sp>
      <p:pic>
        <p:nvPicPr>
          <p:cNvPr id="6" name="Image 0" descr="preencoded.png"/>
          <p:cNvPicPr>
            <a:picLocks noChangeAspect="1"/>
          </p:cNvPicPr>
          <p:nvPr/>
        </p:nvPicPr>
        <p:blipFill>
          <a:blip r:embed="rId3"/>
          <a:stretch>
            <a:fillRect/>
          </a:stretch>
        </p:blipFill>
        <p:spPr>
          <a:xfrm>
            <a:off x="429768" y="1188720"/>
            <a:ext cx="384048" cy="384048"/>
          </a:xfrm>
          <a:prstGeom prst="rect">
            <a:avLst/>
          </a:prstGeom>
        </p:spPr>
      </p:pic>
      <p:sp>
        <p:nvSpPr>
          <p:cNvPr id="7" name="Text 4"/>
          <p:cNvSpPr/>
          <p:nvPr/>
        </p:nvSpPr>
        <p:spPr>
          <a:xfrm>
            <a:off x="960120" y="1143000"/>
            <a:ext cx="1920240" cy="320040"/>
          </a:xfrm>
          <a:prstGeom prst="rect">
            <a:avLst/>
          </a:prstGeom>
          <a:noFill/>
          <a:ln/>
        </p:spPr>
        <p:txBody>
          <a:bodyPr wrap="square" rtlCol="0" anchor="ctr"/>
          <a:lstStyle/>
          <a:p>
            <a:pPr marL="0" indent="0">
              <a:buNone/>
            </a:pPr>
            <a:r>
              <a:rPr lang="en-US" sz="1200" b="1" dirty="0">
                <a:solidFill>
                  <a:srgbClr val="1F4E79"/>
                </a:solidFill>
              </a:rPr>
              <a:t>mistral-embed</a:t>
            </a:r>
            <a:endParaRPr lang="en-US" sz="1200" dirty="0"/>
          </a:p>
        </p:txBody>
      </p:sp>
      <p:sp>
        <p:nvSpPr>
          <p:cNvPr id="8" name="Text 5"/>
          <p:cNvSpPr/>
          <p:nvPr/>
        </p:nvSpPr>
        <p:spPr>
          <a:xfrm>
            <a:off x="960120" y="1463040"/>
            <a:ext cx="1920240" cy="274320"/>
          </a:xfrm>
          <a:prstGeom prst="rect">
            <a:avLst/>
          </a:prstGeom>
          <a:noFill/>
          <a:ln/>
        </p:spPr>
        <p:txBody>
          <a:bodyPr wrap="square" rtlCol="0" anchor="ctr"/>
          <a:lstStyle/>
          <a:p>
            <a:pPr marL="0" indent="0">
              <a:buNone/>
            </a:pPr>
            <a:r>
              <a:rPr lang="en-US" sz="1000" i="1" dirty="0">
                <a:solidFill>
                  <a:srgbClr val="5D6D7E"/>
                </a:solidFill>
              </a:rPr>
              <a:t>Modele d'embedding</a:t>
            </a:r>
            <a:endParaRPr lang="en-US" sz="1000" dirty="0"/>
          </a:p>
        </p:txBody>
      </p:sp>
      <p:sp>
        <p:nvSpPr>
          <p:cNvPr id="9" name="Text 6"/>
          <p:cNvSpPr/>
          <p:nvPr/>
        </p:nvSpPr>
        <p:spPr>
          <a:xfrm>
            <a:off x="384048" y="1828800"/>
            <a:ext cx="2487168" cy="914400"/>
          </a:xfrm>
          <a:prstGeom prst="rect">
            <a:avLst/>
          </a:prstGeom>
          <a:noFill/>
          <a:ln/>
        </p:spPr>
        <p:txBody>
          <a:bodyPr wrap="square" rtlCol="0" anchor="ctr"/>
          <a:lstStyle/>
          <a:p>
            <a:pPr marL="0" indent="0">
              <a:buNone/>
            </a:pPr>
            <a:r>
              <a:rPr lang="en-US" sz="1000" dirty="0">
                <a:solidFill>
                  <a:srgbClr val="5D6D7E"/>
                </a:solidFill>
              </a:rPr>
              <a:t>1 024 dimensions. Support francais optimise. Meme fournisseur que le LLM pour la coherence de tokenisation.</a:t>
            </a:r>
            <a:endParaRPr lang="en-US" sz="1000" dirty="0"/>
          </a:p>
        </p:txBody>
      </p:sp>
      <p:sp>
        <p:nvSpPr>
          <p:cNvPr id="10" name="Shape 7"/>
          <p:cNvSpPr/>
          <p:nvPr/>
        </p:nvSpPr>
        <p:spPr>
          <a:xfrm>
            <a:off x="3154680" y="1051560"/>
            <a:ext cx="2697480" cy="1783080"/>
          </a:xfrm>
          <a:prstGeom prst="roundRect">
            <a:avLst>
              <a:gd name="adj" fmla="val 5128"/>
            </a:avLst>
          </a:prstGeom>
          <a:solidFill>
            <a:srgbClr val="F2F6FA"/>
          </a:solidFill>
          <a:ln/>
          <a:effectLst>
            <a:outerShdw blurRad="101600" dist="38100" dir="2700000" algn="bl" rotWithShape="0">
              <a:srgbClr val="000000">
                <a:alpha val="12000"/>
              </a:srgbClr>
            </a:outerShdw>
          </a:effectLst>
        </p:spPr>
      </p:sp>
      <p:sp>
        <p:nvSpPr>
          <p:cNvPr id="11" name="Shape 8"/>
          <p:cNvSpPr/>
          <p:nvPr/>
        </p:nvSpPr>
        <p:spPr>
          <a:xfrm>
            <a:off x="3264408" y="1143000"/>
            <a:ext cx="502920" cy="502920"/>
          </a:xfrm>
          <a:prstGeom prst="ellipse">
            <a:avLst/>
          </a:prstGeom>
          <a:solidFill>
            <a:srgbClr val="2E75B6"/>
          </a:solidFill>
          <a:ln/>
        </p:spPr>
      </p:sp>
      <p:pic>
        <p:nvPicPr>
          <p:cNvPr id="12" name="Image 1" descr="preencoded.png"/>
          <p:cNvPicPr>
            <a:picLocks noChangeAspect="1"/>
          </p:cNvPicPr>
          <p:nvPr/>
        </p:nvPicPr>
        <p:blipFill>
          <a:blip r:embed="rId4"/>
          <a:stretch>
            <a:fillRect/>
          </a:stretch>
        </p:blipFill>
        <p:spPr>
          <a:xfrm>
            <a:off x="3310128" y="1188720"/>
            <a:ext cx="384048" cy="384048"/>
          </a:xfrm>
          <a:prstGeom prst="rect">
            <a:avLst/>
          </a:prstGeom>
        </p:spPr>
      </p:pic>
      <p:sp>
        <p:nvSpPr>
          <p:cNvPr id="13" name="Text 9"/>
          <p:cNvSpPr/>
          <p:nvPr/>
        </p:nvSpPr>
        <p:spPr>
          <a:xfrm>
            <a:off x="3840480" y="1143000"/>
            <a:ext cx="1920240" cy="320040"/>
          </a:xfrm>
          <a:prstGeom prst="rect">
            <a:avLst/>
          </a:prstGeom>
          <a:noFill/>
          <a:ln/>
        </p:spPr>
        <p:txBody>
          <a:bodyPr wrap="square" rtlCol="0" anchor="ctr"/>
          <a:lstStyle/>
          <a:p>
            <a:pPr marL="0" indent="0">
              <a:buNone/>
            </a:pPr>
            <a:r>
              <a:rPr lang="en-US" sz="1200" b="1" dirty="0">
                <a:solidFill>
                  <a:srgbClr val="1F4E79"/>
                </a:solidFill>
              </a:rPr>
              <a:t>FAISS IndexFlatL2</a:t>
            </a:r>
            <a:endParaRPr lang="en-US" sz="1200" dirty="0"/>
          </a:p>
        </p:txBody>
      </p:sp>
      <p:sp>
        <p:nvSpPr>
          <p:cNvPr id="14" name="Text 10"/>
          <p:cNvSpPr/>
          <p:nvPr/>
        </p:nvSpPr>
        <p:spPr>
          <a:xfrm>
            <a:off x="3840480" y="1463040"/>
            <a:ext cx="1920240" cy="274320"/>
          </a:xfrm>
          <a:prstGeom prst="rect">
            <a:avLst/>
          </a:prstGeom>
          <a:noFill/>
          <a:ln/>
        </p:spPr>
        <p:txBody>
          <a:bodyPr wrap="square" rtlCol="0" anchor="ctr"/>
          <a:lstStyle/>
          <a:p>
            <a:pPr marL="0" indent="0">
              <a:buNone/>
            </a:pPr>
            <a:r>
              <a:rPr lang="en-US" sz="1000" i="1" dirty="0">
                <a:solidFill>
                  <a:srgbClr val="5D6D7E"/>
                </a:solidFill>
              </a:rPr>
              <a:t>Base vectorielle</a:t>
            </a:r>
            <a:endParaRPr lang="en-US" sz="1000" dirty="0"/>
          </a:p>
        </p:txBody>
      </p:sp>
      <p:sp>
        <p:nvSpPr>
          <p:cNvPr id="15" name="Text 11"/>
          <p:cNvSpPr/>
          <p:nvPr/>
        </p:nvSpPr>
        <p:spPr>
          <a:xfrm>
            <a:off x="3264408" y="1828800"/>
            <a:ext cx="2487168" cy="914400"/>
          </a:xfrm>
          <a:prstGeom prst="rect">
            <a:avLst/>
          </a:prstGeom>
          <a:noFill/>
          <a:ln/>
        </p:spPr>
        <p:txBody>
          <a:bodyPr wrap="square" rtlCol="0" anchor="ctr"/>
          <a:lstStyle/>
          <a:p>
            <a:pPr marL="0" indent="0">
              <a:buNone/>
            </a:pPr>
            <a:r>
              <a:rPr lang="en-US" sz="1000" dirty="0">
                <a:solidFill>
                  <a:srgbClr val="5D6D7E"/>
                </a:solidFill>
              </a:rPr>
              <a:t>Recherche exacte en moins de 1 ms sur 1 740 vecteurs. Zero configuration pour le POC. Scalable avec IVFFlat en production.</a:t>
            </a:r>
            <a:endParaRPr lang="en-US" sz="1000" dirty="0"/>
          </a:p>
        </p:txBody>
      </p:sp>
      <p:sp>
        <p:nvSpPr>
          <p:cNvPr id="16" name="Shape 12"/>
          <p:cNvSpPr/>
          <p:nvPr/>
        </p:nvSpPr>
        <p:spPr>
          <a:xfrm>
            <a:off x="6035040" y="1051560"/>
            <a:ext cx="2697480" cy="1783080"/>
          </a:xfrm>
          <a:prstGeom prst="roundRect">
            <a:avLst>
              <a:gd name="adj" fmla="val 5128"/>
            </a:avLst>
          </a:prstGeom>
          <a:solidFill>
            <a:srgbClr val="F2F6FA"/>
          </a:solidFill>
          <a:ln/>
          <a:effectLst>
            <a:outerShdw blurRad="101600" dist="38100" dir="2700000" algn="bl" rotWithShape="0">
              <a:srgbClr val="000000">
                <a:alpha val="12000"/>
              </a:srgbClr>
            </a:outerShdw>
          </a:effectLst>
        </p:spPr>
      </p:sp>
      <p:sp>
        <p:nvSpPr>
          <p:cNvPr id="17" name="Shape 13"/>
          <p:cNvSpPr/>
          <p:nvPr/>
        </p:nvSpPr>
        <p:spPr>
          <a:xfrm>
            <a:off x="6144768" y="1143000"/>
            <a:ext cx="502920" cy="502920"/>
          </a:xfrm>
          <a:prstGeom prst="ellipse">
            <a:avLst/>
          </a:prstGeom>
          <a:solidFill>
            <a:srgbClr val="028090"/>
          </a:solidFill>
          <a:ln/>
        </p:spPr>
      </p:sp>
      <p:pic>
        <p:nvPicPr>
          <p:cNvPr id="18" name="Image 2" descr="preencoded.png"/>
          <p:cNvPicPr>
            <a:picLocks noChangeAspect="1"/>
          </p:cNvPicPr>
          <p:nvPr/>
        </p:nvPicPr>
        <p:blipFill>
          <a:blip r:embed="rId5"/>
          <a:stretch>
            <a:fillRect/>
          </a:stretch>
        </p:blipFill>
        <p:spPr>
          <a:xfrm>
            <a:off x="6190488" y="1188720"/>
            <a:ext cx="384048" cy="384048"/>
          </a:xfrm>
          <a:prstGeom prst="rect">
            <a:avLst/>
          </a:prstGeom>
        </p:spPr>
      </p:pic>
      <p:sp>
        <p:nvSpPr>
          <p:cNvPr id="19" name="Text 14"/>
          <p:cNvSpPr/>
          <p:nvPr/>
        </p:nvSpPr>
        <p:spPr>
          <a:xfrm>
            <a:off x="6720840" y="1143000"/>
            <a:ext cx="1920240" cy="320040"/>
          </a:xfrm>
          <a:prstGeom prst="rect">
            <a:avLst/>
          </a:prstGeom>
          <a:noFill/>
          <a:ln/>
        </p:spPr>
        <p:txBody>
          <a:bodyPr wrap="square" rtlCol="0" anchor="ctr"/>
          <a:lstStyle/>
          <a:p>
            <a:pPr marL="0" indent="0">
              <a:buNone/>
            </a:pPr>
            <a:r>
              <a:rPr lang="en-US" sz="1200" b="1" dirty="0">
                <a:solidFill>
                  <a:srgbClr val="1F4E79"/>
                </a:solidFill>
              </a:rPr>
              <a:t>mistral-small-latest</a:t>
            </a:r>
            <a:endParaRPr lang="en-US" sz="1200" dirty="0"/>
          </a:p>
        </p:txBody>
      </p:sp>
      <p:sp>
        <p:nvSpPr>
          <p:cNvPr id="20" name="Text 15"/>
          <p:cNvSpPr/>
          <p:nvPr/>
        </p:nvSpPr>
        <p:spPr>
          <a:xfrm>
            <a:off x="6720840" y="1463040"/>
            <a:ext cx="1920240" cy="274320"/>
          </a:xfrm>
          <a:prstGeom prst="rect">
            <a:avLst/>
          </a:prstGeom>
          <a:noFill/>
          <a:ln/>
        </p:spPr>
        <p:txBody>
          <a:bodyPr wrap="square" rtlCol="0" anchor="ctr"/>
          <a:lstStyle/>
          <a:p>
            <a:pPr marL="0" indent="0">
              <a:buNone/>
            </a:pPr>
            <a:r>
              <a:rPr lang="en-US" sz="1000" i="1" dirty="0">
                <a:solidFill>
                  <a:srgbClr val="5D6D7E"/>
                </a:solidFill>
              </a:rPr>
              <a:t>Modele de generation</a:t>
            </a:r>
            <a:endParaRPr lang="en-US" sz="1000" dirty="0"/>
          </a:p>
        </p:txBody>
      </p:sp>
      <p:sp>
        <p:nvSpPr>
          <p:cNvPr id="21" name="Text 16"/>
          <p:cNvSpPr/>
          <p:nvPr/>
        </p:nvSpPr>
        <p:spPr>
          <a:xfrm>
            <a:off x="6144768" y="1828800"/>
            <a:ext cx="2487168" cy="914400"/>
          </a:xfrm>
          <a:prstGeom prst="rect">
            <a:avLst/>
          </a:prstGeom>
          <a:noFill/>
          <a:ln/>
        </p:spPr>
        <p:txBody>
          <a:bodyPr wrap="square" rtlCol="0" anchor="ctr"/>
          <a:lstStyle/>
          <a:p>
            <a:pPr marL="0" indent="0">
              <a:buNone/>
            </a:pPr>
            <a:r>
              <a:rPr lang="en-US" sz="1000" dirty="0">
                <a:solidFill>
                  <a:srgbClr val="5D6D7E"/>
                </a:solidFill>
              </a:rPr>
              <a:t>Temperature 0,1. Niveau gratuit. Reponses en francais. Prompt systeme strict : zero hallucination.</a:t>
            </a:r>
            <a:endParaRPr lang="en-US" sz="1000" dirty="0"/>
          </a:p>
        </p:txBody>
      </p:sp>
      <p:sp>
        <p:nvSpPr>
          <p:cNvPr id="22" name="Shape 17"/>
          <p:cNvSpPr/>
          <p:nvPr/>
        </p:nvSpPr>
        <p:spPr>
          <a:xfrm>
            <a:off x="274320" y="2971800"/>
            <a:ext cx="2697480" cy="1783080"/>
          </a:xfrm>
          <a:prstGeom prst="roundRect">
            <a:avLst>
              <a:gd name="adj" fmla="val 5128"/>
            </a:avLst>
          </a:prstGeom>
          <a:solidFill>
            <a:srgbClr val="F2F6FA"/>
          </a:solidFill>
          <a:ln/>
          <a:effectLst>
            <a:outerShdw blurRad="101600" dist="38100" dir="2700000" algn="bl" rotWithShape="0">
              <a:srgbClr val="000000">
                <a:alpha val="12000"/>
              </a:srgbClr>
            </a:outerShdw>
          </a:effectLst>
        </p:spPr>
      </p:sp>
      <p:sp>
        <p:nvSpPr>
          <p:cNvPr id="23" name="Shape 18"/>
          <p:cNvSpPr/>
          <p:nvPr/>
        </p:nvSpPr>
        <p:spPr>
          <a:xfrm>
            <a:off x="384048" y="3063240"/>
            <a:ext cx="502920" cy="502920"/>
          </a:xfrm>
          <a:prstGeom prst="ellipse">
            <a:avLst/>
          </a:prstGeom>
          <a:solidFill>
            <a:srgbClr val="1F4E79"/>
          </a:solidFill>
          <a:ln/>
        </p:spPr>
      </p:sp>
      <p:pic>
        <p:nvPicPr>
          <p:cNvPr id="24" name="Image 3" descr="preencoded.png"/>
          <p:cNvPicPr>
            <a:picLocks noChangeAspect="1"/>
          </p:cNvPicPr>
          <p:nvPr/>
        </p:nvPicPr>
        <p:blipFill>
          <a:blip r:embed="rId6"/>
          <a:stretch>
            <a:fillRect/>
          </a:stretch>
        </p:blipFill>
        <p:spPr>
          <a:xfrm>
            <a:off x="429768" y="3108960"/>
            <a:ext cx="384048" cy="384048"/>
          </a:xfrm>
          <a:prstGeom prst="rect">
            <a:avLst/>
          </a:prstGeom>
        </p:spPr>
      </p:pic>
      <p:sp>
        <p:nvSpPr>
          <p:cNvPr id="25" name="Text 19"/>
          <p:cNvSpPr/>
          <p:nvPr/>
        </p:nvSpPr>
        <p:spPr>
          <a:xfrm>
            <a:off x="960120" y="3063240"/>
            <a:ext cx="1920240" cy="320040"/>
          </a:xfrm>
          <a:prstGeom prst="rect">
            <a:avLst/>
          </a:prstGeom>
          <a:noFill/>
          <a:ln/>
        </p:spPr>
        <p:txBody>
          <a:bodyPr wrap="square" rtlCol="0" anchor="ctr"/>
          <a:lstStyle/>
          <a:p>
            <a:pPr marL="0" indent="0">
              <a:buNone/>
            </a:pPr>
            <a:r>
              <a:rPr lang="en-US" sz="1200" b="1" dirty="0">
                <a:solidFill>
                  <a:srgbClr val="1F4E79"/>
                </a:solidFill>
              </a:rPr>
              <a:t>Poetry + Python 3.13</a:t>
            </a:r>
            <a:endParaRPr lang="en-US" sz="1200" dirty="0"/>
          </a:p>
        </p:txBody>
      </p:sp>
      <p:sp>
        <p:nvSpPr>
          <p:cNvPr id="26" name="Text 20"/>
          <p:cNvSpPr/>
          <p:nvPr/>
        </p:nvSpPr>
        <p:spPr>
          <a:xfrm>
            <a:off x="960120" y="3383280"/>
            <a:ext cx="1920240" cy="274320"/>
          </a:xfrm>
          <a:prstGeom prst="rect">
            <a:avLst/>
          </a:prstGeom>
          <a:noFill/>
          <a:ln/>
        </p:spPr>
        <p:txBody>
          <a:bodyPr wrap="square" rtlCol="0" anchor="ctr"/>
          <a:lstStyle/>
          <a:p>
            <a:pPr marL="0" indent="0">
              <a:buNone/>
            </a:pPr>
            <a:r>
              <a:rPr lang="en-US" sz="1000" i="1" dirty="0">
                <a:solidFill>
                  <a:srgbClr val="5D6D7E"/>
                </a:solidFill>
              </a:rPr>
              <a:t>Environnement</a:t>
            </a:r>
            <a:endParaRPr lang="en-US" sz="1000" dirty="0"/>
          </a:p>
        </p:txBody>
      </p:sp>
      <p:sp>
        <p:nvSpPr>
          <p:cNvPr id="27" name="Text 21"/>
          <p:cNvSpPr/>
          <p:nvPr/>
        </p:nvSpPr>
        <p:spPr>
          <a:xfrm>
            <a:off x="384048" y="3749040"/>
            <a:ext cx="2487168" cy="914400"/>
          </a:xfrm>
          <a:prstGeom prst="rect">
            <a:avLst/>
          </a:prstGeom>
          <a:noFill/>
          <a:ln/>
        </p:spPr>
        <p:txBody>
          <a:bodyPr wrap="square" rtlCol="0" anchor="ctr"/>
          <a:lstStyle/>
          <a:p>
            <a:pPr marL="0" indent="0">
              <a:buNone/>
            </a:pPr>
            <a:r>
              <a:rPr lang="en-US" sz="1000" dirty="0">
                <a:solidFill>
                  <a:srgbClr val="5D6D7E"/>
                </a:solidFill>
              </a:rPr>
              <a:t>Lock file pour la reproducibilite. Contrainte Python bornee a 3.13-3.15. mistralai epingle a 1.2.5.</a:t>
            </a:r>
            <a:endParaRPr lang="en-US" sz="1000" dirty="0"/>
          </a:p>
        </p:txBody>
      </p:sp>
      <p:sp>
        <p:nvSpPr>
          <p:cNvPr id="28" name="Shape 22"/>
          <p:cNvSpPr/>
          <p:nvPr/>
        </p:nvSpPr>
        <p:spPr>
          <a:xfrm>
            <a:off x="3154680" y="2971800"/>
            <a:ext cx="2697480" cy="1783080"/>
          </a:xfrm>
          <a:prstGeom prst="roundRect">
            <a:avLst>
              <a:gd name="adj" fmla="val 5128"/>
            </a:avLst>
          </a:prstGeom>
          <a:solidFill>
            <a:srgbClr val="F2F6FA"/>
          </a:solidFill>
          <a:ln/>
          <a:effectLst>
            <a:outerShdw blurRad="101600" dist="38100" dir="2700000" algn="bl" rotWithShape="0">
              <a:srgbClr val="000000">
                <a:alpha val="12000"/>
              </a:srgbClr>
            </a:outerShdw>
          </a:effectLst>
        </p:spPr>
      </p:sp>
      <p:sp>
        <p:nvSpPr>
          <p:cNvPr id="29" name="Shape 23"/>
          <p:cNvSpPr/>
          <p:nvPr/>
        </p:nvSpPr>
        <p:spPr>
          <a:xfrm>
            <a:off x="3264408" y="3063240"/>
            <a:ext cx="502920" cy="502920"/>
          </a:xfrm>
          <a:prstGeom prst="ellipse">
            <a:avLst/>
          </a:prstGeom>
          <a:solidFill>
            <a:srgbClr val="2E75B6"/>
          </a:solidFill>
          <a:ln/>
        </p:spPr>
      </p:sp>
      <p:pic>
        <p:nvPicPr>
          <p:cNvPr id="30" name="Image 4" descr="preencoded.png"/>
          <p:cNvPicPr>
            <a:picLocks noChangeAspect="1"/>
          </p:cNvPicPr>
          <p:nvPr/>
        </p:nvPicPr>
        <p:blipFill>
          <a:blip r:embed="rId7"/>
          <a:stretch>
            <a:fillRect/>
          </a:stretch>
        </p:blipFill>
        <p:spPr>
          <a:xfrm>
            <a:off x="3310128" y="3108960"/>
            <a:ext cx="384048" cy="384048"/>
          </a:xfrm>
          <a:prstGeom prst="rect">
            <a:avLst/>
          </a:prstGeom>
        </p:spPr>
      </p:pic>
      <p:sp>
        <p:nvSpPr>
          <p:cNvPr id="31" name="Text 24"/>
          <p:cNvSpPr/>
          <p:nvPr/>
        </p:nvSpPr>
        <p:spPr>
          <a:xfrm>
            <a:off x="3840480" y="3063240"/>
            <a:ext cx="1920240" cy="320040"/>
          </a:xfrm>
          <a:prstGeom prst="rect">
            <a:avLst/>
          </a:prstGeom>
          <a:noFill/>
          <a:ln/>
        </p:spPr>
        <p:txBody>
          <a:bodyPr wrap="square" rtlCol="0" anchor="ctr"/>
          <a:lstStyle/>
          <a:p>
            <a:pPr marL="0" indent="0">
              <a:buNone/>
            </a:pPr>
            <a:r>
              <a:rPr lang="en-US" sz="1200" b="1" dirty="0">
                <a:solidFill>
                  <a:srgbClr val="1F4E79"/>
                </a:solidFill>
              </a:rPr>
              <a:t>1 chunk par evenement</a:t>
            </a:r>
            <a:endParaRPr lang="en-US" sz="1200" dirty="0"/>
          </a:p>
        </p:txBody>
      </p:sp>
      <p:sp>
        <p:nvSpPr>
          <p:cNvPr id="32" name="Text 25"/>
          <p:cNvSpPr/>
          <p:nvPr/>
        </p:nvSpPr>
        <p:spPr>
          <a:xfrm>
            <a:off x="3840480" y="3383280"/>
            <a:ext cx="1920240" cy="274320"/>
          </a:xfrm>
          <a:prstGeom prst="rect">
            <a:avLst/>
          </a:prstGeom>
          <a:noFill/>
          <a:ln/>
        </p:spPr>
        <p:txBody>
          <a:bodyPr wrap="square" rtlCol="0" anchor="ctr"/>
          <a:lstStyle/>
          <a:p>
            <a:pPr marL="0" indent="0">
              <a:buNone/>
            </a:pPr>
            <a:r>
              <a:rPr lang="en-US" sz="1000" i="1" dirty="0">
                <a:solidFill>
                  <a:srgbClr val="5D6D7E"/>
                </a:solidFill>
              </a:rPr>
              <a:t>Strategie de chunking</a:t>
            </a:r>
            <a:endParaRPr lang="en-US" sz="1000" dirty="0"/>
          </a:p>
        </p:txBody>
      </p:sp>
      <p:sp>
        <p:nvSpPr>
          <p:cNvPr id="33" name="Text 26"/>
          <p:cNvSpPr/>
          <p:nvPr/>
        </p:nvSpPr>
        <p:spPr>
          <a:xfrm>
            <a:off x="3264408" y="3749040"/>
            <a:ext cx="2487168" cy="914400"/>
          </a:xfrm>
          <a:prstGeom prst="rect">
            <a:avLst/>
          </a:prstGeom>
          <a:noFill/>
          <a:ln/>
        </p:spPr>
        <p:txBody>
          <a:bodyPr wrap="square" rtlCol="0" anchor="ctr"/>
          <a:lstStyle/>
          <a:p>
            <a:pPr marL="0" indent="0">
              <a:buNone/>
            </a:pPr>
            <a:r>
              <a:rPr lang="en-US" sz="1000" dirty="0">
                <a:solidFill>
                  <a:srgbClr val="5D6D7E"/>
                </a:solidFill>
              </a:rPr>
              <a:t>Mediane 50 caracteres. Pas de decoupage recursif. Concatenation titre + description + lieu + date.</a:t>
            </a:r>
            <a:endParaRPr lang="en-US" sz="1000" dirty="0"/>
          </a:p>
        </p:txBody>
      </p:sp>
      <p:sp>
        <p:nvSpPr>
          <p:cNvPr id="34" name="Shape 27"/>
          <p:cNvSpPr/>
          <p:nvPr/>
        </p:nvSpPr>
        <p:spPr>
          <a:xfrm>
            <a:off x="6035040" y="2971800"/>
            <a:ext cx="2697480" cy="1783080"/>
          </a:xfrm>
          <a:prstGeom prst="roundRect">
            <a:avLst>
              <a:gd name="adj" fmla="val 5128"/>
            </a:avLst>
          </a:prstGeom>
          <a:solidFill>
            <a:srgbClr val="F2F6FA"/>
          </a:solidFill>
          <a:ln/>
          <a:effectLst>
            <a:outerShdw blurRad="101600" dist="38100" dir="2700000" algn="bl" rotWithShape="0">
              <a:srgbClr val="000000">
                <a:alpha val="12000"/>
              </a:srgbClr>
            </a:outerShdw>
          </a:effectLst>
        </p:spPr>
      </p:sp>
      <p:sp>
        <p:nvSpPr>
          <p:cNvPr id="35" name="Shape 28"/>
          <p:cNvSpPr/>
          <p:nvPr/>
        </p:nvSpPr>
        <p:spPr>
          <a:xfrm>
            <a:off x="6144768" y="3063240"/>
            <a:ext cx="502920" cy="502920"/>
          </a:xfrm>
          <a:prstGeom prst="ellipse">
            <a:avLst/>
          </a:prstGeom>
          <a:solidFill>
            <a:srgbClr val="028090"/>
          </a:solidFill>
          <a:ln/>
        </p:spPr>
      </p:sp>
      <p:pic>
        <p:nvPicPr>
          <p:cNvPr id="36" name="Image 5" descr="preencoded.png"/>
          <p:cNvPicPr>
            <a:picLocks noChangeAspect="1"/>
          </p:cNvPicPr>
          <p:nvPr/>
        </p:nvPicPr>
        <p:blipFill>
          <a:blip r:embed="rId8"/>
          <a:stretch>
            <a:fillRect/>
          </a:stretch>
        </p:blipFill>
        <p:spPr>
          <a:xfrm>
            <a:off x="6190488" y="3108960"/>
            <a:ext cx="384048" cy="384048"/>
          </a:xfrm>
          <a:prstGeom prst="rect">
            <a:avLst/>
          </a:prstGeom>
        </p:spPr>
      </p:pic>
      <p:sp>
        <p:nvSpPr>
          <p:cNvPr id="37" name="Text 29"/>
          <p:cNvSpPr/>
          <p:nvPr/>
        </p:nvSpPr>
        <p:spPr>
          <a:xfrm>
            <a:off x="6720840" y="3063240"/>
            <a:ext cx="1920240" cy="320040"/>
          </a:xfrm>
          <a:prstGeom prst="rect">
            <a:avLst/>
          </a:prstGeom>
          <a:noFill/>
          <a:ln/>
        </p:spPr>
        <p:txBody>
          <a:bodyPr wrap="square" rtlCol="0" anchor="ctr"/>
          <a:lstStyle/>
          <a:p>
            <a:pPr marL="0" indent="0">
              <a:buNone/>
            </a:pPr>
            <a:r>
              <a:rPr lang="en-US" sz="1200" b="1" dirty="0">
                <a:solidFill>
                  <a:srgbClr val="1F4E79"/>
                </a:solidFill>
              </a:rPr>
              <a:t>Streamlit</a:t>
            </a:r>
            <a:endParaRPr lang="en-US" sz="1200" dirty="0"/>
          </a:p>
        </p:txBody>
      </p:sp>
      <p:sp>
        <p:nvSpPr>
          <p:cNvPr id="38" name="Text 30"/>
          <p:cNvSpPr/>
          <p:nvPr/>
        </p:nvSpPr>
        <p:spPr>
          <a:xfrm>
            <a:off x="6720840" y="3383280"/>
            <a:ext cx="1920240" cy="274320"/>
          </a:xfrm>
          <a:prstGeom prst="rect">
            <a:avLst/>
          </a:prstGeom>
          <a:noFill/>
          <a:ln/>
        </p:spPr>
        <p:txBody>
          <a:bodyPr wrap="square" rtlCol="0" anchor="ctr"/>
          <a:lstStyle/>
          <a:p>
            <a:pPr marL="0" indent="0">
              <a:buNone/>
            </a:pPr>
            <a:r>
              <a:rPr lang="en-US" sz="1000" i="1" dirty="0">
                <a:solidFill>
                  <a:srgbClr val="5D6D7E"/>
                </a:solidFill>
              </a:rPr>
              <a:t>Interface</a:t>
            </a:r>
            <a:endParaRPr lang="en-US" sz="1000" dirty="0"/>
          </a:p>
        </p:txBody>
      </p:sp>
      <p:sp>
        <p:nvSpPr>
          <p:cNvPr id="39" name="Text 31"/>
          <p:cNvSpPr/>
          <p:nvPr/>
        </p:nvSpPr>
        <p:spPr>
          <a:xfrm>
            <a:off x="6144768" y="3749040"/>
            <a:ext cx="2487168" cy="914400"/>
          </a:xfrm>
          <a:prstGeom prst="rect">
            <a:avLst/>
          </a:prstGeom>
          <a:noFill/>
          <a:ln/>
        </p:spPr>
        <p:txBody>
          <a:bodyPr wrap="square" rtlCol="0" anchor="ctr"/>
          <a:lstStyle/>
          <a:p>
            <a:pPr marL="0" indent="0">
              <a:buNone/>
            </a:pPr>
            <a:r>
              <a:rPr lang="en-US" sz="1000" dirty="0">
                <a:solidFill>
                  <a:srgbClr val="5D6D7E"/>
                </a:solidFill>
              </a:rPr>
              <a:t>Interface conversationnelle avec panneau de sources. Chargement unique via @st.cache_resource.</a:t>
            </a:r>
            <a:endParaRPr lang="en-US" sz="1000" dirty="0"/>
          </a:p>
        </p:txBody>
      </p:sp>
    </p:spTree>
    <p:extLst>
      <p:ext uri="{BB962C8B-B14F-4D97-AF65-F5344CB8AC3E}">
        <p14:creationId xmlns:p14="http://schemas.microsoft.com/office/powerpoint/2010/main" val="38381022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LangChain">
    <p:bg>
      <p:bgPr>
        <a:solidFill>
          <a:srgbClr val="FFFFFF"/>
        </a:solidFill>
        <a:effectLst/>
      </p:bgPr>
    </p:bg>
    <p:spTree>
      <p:nvGrpSpPr>
        <p:cNvPr id="1" name=""/>
        <p:cNvGrpSpPr/>
        <p:nvPr/>
      </p:nvGrpSpPr>
      <p:grpSpPr>
        <a:xfrm>
          <a:off x="0" y="0"/>
          <a:ext cx="0" cy="0"/>
          <a:chOff x="0" y="0"/>
          <a:chExt cx="0" cy="0"/>
        </a:xfrm>
      </p:grpSpPr>
      <p:sp>
        <p:nvSpPr>
          <p:cNvPr id="2" name="Header"/>
          <p:cNvSpPr/>
          <p:nvPr/>
        </p:nvSpPr>
        <p:spPr>
          <a:xfrm>
            <a:off x="0" y="0"/>
            <a:ext cx="9144000" cy="914400"/>
          </a:xfrm>
          <a:prstGeom prst="rect">
            <a:avLst/>
          </a:prstGeom>
          <a:solidFill>
            <a:srgbClr val="1F4E79"/>
          </a:solidFill>
          <a:ln/>
        </p:spPr>
      </p:sp>
      <p:sp>
        <p:nvSpPr>
          <p:cNvPr id="3" name="HeaderText"/>
          <p:cNvSpPr/>
          <p:nvPr/>
        </p:nvSpPr>
        <p:spPr>
          <a:xfrm>
            <a:off x="365760" y="0"/>
            <a:ext cx="8412480" cy="914400"/>
          </a:xfrm>
          <a:prstGeom prst="rect">
            <a:avLst/>
          </a:prstGeom>
          <a:noFill/>
          <a:ln/>
        </p:spPr>
        <p:txBody>
          <a:bodyPr wrap="square" rtlCol="0" anchor="ctr"/>
          <a:lstStyle/>
          <a:p>
            <a:pPr marL="0" indent="0">
              <a:buNone/>
            </a:pPr>
            <a:r>
              <a:rPr lang="fr-FR" sz="2200" b="1" dirty="0">
                <a:solidFill>
                  <a:srgbClr val="FFFFFF"/>
                </a:solidFill>
              </a:rPr>
              <a:t>POURQUOI LANGCHAIN  |  ORCHESTRATION DU PIPELINE RAG</a:t>
            </a:r>
          </a:p>
        </p:txBody>
      </p:sp>
      <p:sp>
        <p:nvSpPr>
          <p:cNvPr id="10" name="LeftCard"/>
          <p:cNvSpPr/>
          <p:nvPr/>
        </p:nvSpPr>
        <p:spPr>
          <a:xfrm>
            <a:off x="274320" y="1051560"/>
            <a:ext cx="4114800" cy="4100400"/>
          </a:xfrm>
          <a:prstGeom prst="roundRect">
            <a:avLst>
              <a:gd name="adj" fmla="val 8000"/>
            </a:avLst>
          </a:prstGeom>
          <a:solidFill>
            <a:srgbClr val="F2F6FA"/>
          </a:solidFill>
          <a:ln/>
        </p:spPr>
      </p:sp>
      <p:sp>
        <p:nvSpPr>
          <p:cNvPr id="11" name="IconCircle"/>
          <p:cNvSpPr/>
          <p:nvPr/>
        </p:nvSpPr>
        <p:spPr>
          <a:xfrm>
            <a:off x="457200" y="1234440"/>
            <a:ext cx="548640" cy="548640"/>
          </a:xfrm>
          <a:prstGeom prst="ellipse">
            <a:avLst/>
          </a:prstGeom>
          <a:solidFill>
            <a:srgbClr val="028090"/>
          </a:solidFill>
          <a:ln/>
        </p:spPr>
      </p:sp>
      <p:sp>
        <p:nvSpPr>
          <p:cNvPr id="12" name="IconText"/>
          <p:cNvSpPr/>
          <p:nvPr/>
        </p:nvSpPr>
        <p:spPr>
          <a:xfrm>
            <a:off x="457200" y="1234440"/>
            <a:ext cx="548640" cy="548640"/>
          </a:xfrm>
          <a:prstGeom prst="rect">
            <a:avLst/>
          </a:prstGeom>
          <a:noFill/>
          <a:ln/>
        </p:spPr>
        <p:txBody>
          <a:bodyPr wrap="square" lIns="0" tIns="0" rIns="0" bIns="0" rtlCol="0" anchor="ctr"/>
          <a:lstStyle/>
          <a:p>
            <a:pPr marL="0" indent="0" algn="ctr">
              <a:buNone/>
            </a:pPr>
            <a:r>
              <a:rPr lang="fr-FR" sz="1800" b="1" dirty="0">
                <a:solidFill>
                  <a:srgbClr val="FFFFFF"/>
                </a:solidFill>
              </a:rPr>
              <a:t>LC</a:t>
            </a:r>
          </a:p>
        </p:txBody>
      </p:sp>
      <p:sp>
        <p:nvSpPr>
          <p:cNvPr id="13" name="LeftTitle"/>
          <p:cNvSpPr/>
          <p:nvPr/>
        </p:nvSpPr>
        <p:spPr>
          <a:xfrm>
            <a:off x="1097280" y="1270440"/>
            <a:ext cx="3200400" cy="400000"/>
          </a:xfrm>
          <a:prstGeom prst="rect">
            <a:avLst/>
          </a:prstGeom>
          <a:noFill/>
          <a:ln/>
        </p:spPr>
        <p:txBody>
          <a:bodyPr wrap="square" rtlCol="0" anchor="ctr"/>
          <a:lstStyle/>
          <a:p>
            <a:pPr marL="0" indent="0">
              <a:buNone/>
            </a:pPr>
            <a:r>
              <a:rPr lang="fr-FR" sz="1600" b="1" dirty="0">
                <a:solidFill>
                  <a:srgbClr val="1F4E79"/>
                </a:solidFill>
              </a:rPr>
              <a:t>LangChain</a:t>
            </a:r>
          </a:p>
        </p:txBody>
      </p:sp>
      <p:sp>
        <p:nvSpPr>
          <p:cNvPr id="14" name="LeftSub"/>
          <p:cNvSpPr/>
          <p:nvPr/>
        </p:nvSpPr>
        <p:spPr>
          <a:xfrm>
            <a:off x="1097280" y="1620000"/>
            <a:ext cx="3200400" cy="280000"/>
          </a:xfrm>
          <a:prstGeom prst="rect">
            <a:avLst/>
          </a:prstGeom>
          <a:noFill/>
          <a:ln/>
        </p:spPr>
        <p:txBody>
          <a:bodyPr wrap="square" rtlCol="0" anchor="ctr"/>
          <a:lstStyle/>
          <a:p>
            <a:pPr marL="0" indent="0">
              <a:buNone/>
            </a:pPr>
            <a:r>
              <a:rPr lang="fr-FR" sz="1100" i="1" dirty="0">
                <a:solidFill>
                  <a:srgbClr val="5D6D7E"/>
                </a:solidFill>
              </a:rPr>
              <a:t>Framework d'orchestration NLP</a:t>
            </a:r>
          </a:p>
        </p:txBody>
      </p:sp>
      <p:sp>
        <p:nvSpPr>
          <p:cNvPr id="15" name="LeftBody"/>
          <p:cNvSpPr/>
          <p:nvPr/>
        </p:nvSpPr>
        <p:spPr>
          <a:xfrm>
            <a:off x="457200" y="2000000"/>
            <a:ext cx="3840000" cy="3000000"/>
          </a:xfrm>
          <a:prstGeom prst="rect">
            <a:avLst/>
          </a:prstGeom>
          <a:noFill/>
          <a:ln/>
        </p:spPr>
        <p:txBody>
          <a:bodyPr wrap="square" rtlCol="0" anchor="t"/>
          <a:lstStyle/>
          <a:p>
            <a:pPr marL="228600" indent="-228600">
              <a:buChar char="•"/>
            </a:pPr>
            <a:r>
              <a:rPr lang="fr-FR" sz="1100" dirty="0">
                <a:solidFill>
                  <a:srgbClr val="5D6D7E"/>
                </a:solidFill>
              </a:rPr>
              <a:t>Interfaces standardisees pour LLMs et bases vectorielles — changer de fournisseur ne necessite que de modifier une ligne de configuration</a:t>
            </a:r>
          </a:p>
          <a:p>
            <a:pPr marL="228600" indent="-228600">
              <a:buChar char="•"/>
            </a:pPr>
            <a:r>
              <a:rPr lang="fr-FR" sz="1100" dirty="0">
                <a:solidFill>
                  <a:srgbClr val="5D6D7E"/>
                </a:solidFill>
              </a:rPr>
              <a:t>Chaines RAG preconstruites (RetrievalQA) qui orchestrent recuperation et generation en quelques lignes</a:t>
            </a:r>
          </a:p>
          <a:p>
            <a:pPr marL="228600" indent="-228600">
              <a:buChar char="•"/>
            </a:pPr>
            <a:r>
              <a:rPr lang="fr-FR" sz="1100" dirty="0">
                <a:solidFill>
                  <a:srgbClr val="5D6D7E"/>
                </a:solidFill>
              </a:rPr>
              <a:t>Vaste ecosysteme de connecteurs pour dizaines de fournisseurs LLM et bases vectorielles</a:t>
            </a:r>
          </a:p>
          <a:p>
            <a:pPr marL="228600" indent="-228600">
              <a:buChar char="•"/>
            </a:pPr>
            <a:r>
              <a:rPr lang="fr-FR" sz="1100" dirty="0">
                <a:solidFill>
                  <a:srgbClr val="5D6D7E"/>
                </a:solidFill>
              </a:rPr>
              <a:t>Gestion native de l'historique conversationnel pour les versions multi-tours en production</a:t>
            </a:r>
          </a:p>
          <a:p>
            <a:pPr marL="228600" indent="-228600">
              <a:buChar char="•"/>
            </a:pPr>
            <a:r>
              <a:rPr lang="fr-FR" sz="1100" dirty="0">
                <a:solidFill>
                  <a:srgbClr val="5D6D7E"/>
                </a:solidFill>
              </a:rPr>
              <a:t>Chaine unique et partagee : le meme module alimente le chatbot en direct et l'evaluation RAGAS</a:t>
            </a:r>
          </a:p>
        </p:txBody>
      </p:sp>
      <p:sp>
        <p:nvSpPr>
          <p:cNvPr id="20" name="RightCard"/>
          <p:cNvSpPr/>
          <p:nvPr/>
        </p:nvSpPr>
        <p:spPr>
          <a:xfrm>
            <a:off x="4754880" y="1051560"/>
            <a:ext cx="4114800" cy="4100400"/>
          </a:xfrm>
          <a:prstGeom prst="roundRect">
            <a:avLst>
              <a:gd name="adj" fmla="val 8000"/>
            </a:avLst>
          </a:prstGeom>
          <a:solidFill>
            <a:srgbClr val="F2F6FA"/>
          </a:solidFill>
          <a:ln/>
        </p:spPr>
      </p:sp>
      <p:sp>
        <p:nvSpPr>
          <p:cNvPr id="21" name="RightTitle"/>
          <p:cNvSpPr/>
          <p:nvPr/>
        </p:nvSpPr>
        <p:spPr>
          <a:xfrm>
            <a:off x="5029200" y="1270440"/>
            <a:ext cx="3657600" cy="400000"/>
          </a:xfrm>
          <a:prstGeom prst="rect">
            <a:avLst/>
          </a:prstGeom>
          <a:noFill/>
          <a:ln/>
        </p:spPr>
        <p:txBody>
          <a:bodyPr wrap="square" rtlCol="0" anchor="ctr"/>
          <a:lstStyle/>
          <a:p>
            <a:pPr marL="0" indent="0">
              <a:buNone/>
            </a:pPr>
            <a:r>
              <a:rPr lang="fr-FR" sz="1400" b="1" dirty="0">
                <a:solidFill>
                  <a:srgbClr val="1F4E79"/>
                </a:solidFill>
              </a:rPr>
              <a:t>Role dans ce projet</a:t>
            </a:r>
          </a:p>
        </p:txBody>
      </p:sp>
      <p:sp>
        <p:nvSpPr>
          <p:cNvPr id="30" name="BlockA"/>
          <p:cNvSpPr/>
          <p:nvPr/>
        </p:nvSpPr>
        <p:spPr>
          <a:xfrm>
            <a:off x="4937400" y="1828800"/>
            <a:ext cx="3657600" cy="914400"/>
          </a:xfrm>
          <a:prstGeom prst="roundRect">
            <a:avLst>
              <a:gd name="adj" fmla="val 6000"/>
            </a:avLst>
          </a:prstGeom>
          <a:solidFill>
            <a:srgbClr val="FFFFFF"/>
          </a:solidFill>
          <a:ln w="9525">
            <a:solidFill>
              <a:srgbClr val="D3D1C7"/>
            </a:solidFill>
          </a:ln>
        </p:spPr>
      </p:sp>
      <p:sp>
        <p:nvSpPr>
          <p:cNvPr id="31" name="BlockALabel"/>
          <p:cNvSpPr/>
          <p:nvPr/>
        </p:nvSpPr>
        <p:spPr>
          <a:xfrm>
            <a:off x="4937400" y="1828800"/>
            <a:ext cx="548640" cy="914400"/>
          </a:xfrm>
          <a:prstGeom prst="roundRect">
            <a:avLst>
              <a:gd name="adj" fmla="val 6000"/>
            </a:avLst>
          </a:prstGeom>
          <a:solidFill>
            <a:srgbClr val="028090"/>
          </a:solidFill>
          <a:ln/>
        </p:spPr>
      </p:sp>
      <p:sp>
        <p:nvSpPr>
          <p:cNvPr id="32" name="BlockALabelTxt"/>
          <p:cNvSpPr/>
          <p:nvPr/>
        </p:nvSpPr>
        <p:spPr>
          <a:xfrm>
            <a:off x="4937400" y="1828800"/>
            <a:ext cx="548640" cy="914400"/>
          </a:xfrm>
          <a:prstGeom prst="rect">
            <a:avLst/>
          </a:prstGeom>
          <a:noFill/>
          <a:ln/>
        </p:spPr>
        <p:txBody>
          <a:bodyPr wrap="square" lIns="0" tIns="0" rIns="0" bIns="0" rtlCol="0" anchor="ctr"/>
          <a:lstStyle/>
          <a:p>
            <a:pPr marL="0" indent="0" algn="ctr">
              <a:buNone/>
            </a:pPr>
            <a:r>
              <a:rPr lang="fr-FR" sz="800" b="1" dirty="0">
                <a:solidFill>
                  <a:srgbClr val="FFFFFF"/>
                </a:solidFill>
              </a:rPr>
              <a:t>CHATBOT</a:t>
            </a:r>
          </a:p>
        </p:txBody>
      </p:sp>
      <p:sp>
        <p:nvSpPr>
          <p:cNvPr id="33" name="BlockAText"/>
          <p:cNvSpPr/>
          <p:nvPr/>
        </p:nvSpPr>
        <p:spPr>
          <a:xfrm>
            <a:off x="5577480" y="1865880"/>
            <a:ext cx="2926200" cy="840240"/>
          </a:xfrm>
          <a:prstGeom prst="rect">
            <a:avLst/>
          </a:prstGeom>
          <a:noFill/>
          <a:ln/>
        </p:spPr>
        <p:txBody>
          <a:bodyPr wrap="square" rtlCol="0" anchor="ctr"/>
          <a:lstStyle/>
          <a:p>
            <a:pPr marL="0" indent="0">
              <a:buNone/>
            </a:pPr>
            <a:r>
              <a:rPr lang="fr-FR" sz="1100" b="1" dirty="0">
                <a:solidFill>
                  <a:srgbClr val="1F4E79"/>
                </a:solidFill>
              </a:rPr>
              <a:t>Chaine LCEL unique</a:t>
            </a:r>
          </a:p>
          <a:p>
            <a:pPr marL="0" indent="0">
              <a:buNone/>
            </a:pPr>
            <a:r>
              <a:rPr lang="fr-FR" sz="1000" dirty="0">
                <a:solidFill>
                  <a:srgbClr val="5D6D7E"/>
                </a:solidFill>
              </a:rPr>
              <a:t>embed → retrieve → generate — utilisee par le chatbot ET l'evaluation</a:t>
            </a:r>
          </a:p>
        </p:txBody>
      </p:sp>
      <p:sp>
        <p:nvSpPr>
          <p:cNvPr id="40" name="BlockB"/>
          <p:cNvSpPr/>
          <p:nvPr/>
        </p:nvSpPr>
        <p:spPr>
          <a:xfrm>
            <a:off x="4937400" y="2835000"/>
            <a:ext cx="3657600" cy="914400"/>
          </a:xfrm>
          <a:prstGeom prst="roundRect">
            <a:avLst>
              <a:gd name="adj" fmla="val 6000"/>
            </a:avLst>
          </a:prstGeom>
          <a:solidFill>
            <a:srgbClr val="FFFFFF"/>
          </a:solidFill>
          <a:ln w="9525">
            <a:solidFill>
              <a:srgbClr val="D3D1C7"/>
            </a:solidFill>
          </a:ln>
        </p:spPr>
      </p:sp>
      <p:sp>
        <p:nvSpPr>
          <p:cNvPr id="41" name="BlockBLabel"/>
          <p:cNvSpPr/>
          <p:nvPr/>
        </p:nvSpPr>
        <p:spPr>
          <a:xfrm>
            <a:off x="4937400" y="2835000"/>
            <a:ext cx="548640" cy="914400"/>
          </a:xfrm>
          <a:prstGeom prst="roundRect">
            <a:avLst>
              <a:gd name="adj" fmla="val 6000"/>
            </a:avLst>
          </a:prstGeom>
          <a:solidFill>
            <a:srgbClr val="2E75B6"/>
          </a:solidFill>
          <a:ln/>
        </p:spPr>
      </p:sp>
      <p:sp>
        <p:nvSpPr>
          <p:cNvPr id="42" name="BlockBLabelTxt"/>
          <p:cNvSpPr/>
          <p:nvPr/>
        </p:nvSpPr>
        <p:spPr>
          <a:xfrm>
            <a:off x="4937400" y="2835000"/>
            <a:ext cx="548640" cy="914400"/>
          </a:xfrm>
          <a:prstGeom prst="rect">
            <a:avLst/>
          </a:prstGeom>
          <a:noFill/>
          <a:ln/>
        </p:spPr>
        <p:txBody>
          <a:bodyPr wrap="square" lIns="0" tIns="0" rIns="0" bIns="0" rtlCol="0" anchor="ctr"/>
          <a:lstStyle/>
          <a:p>
            <a:pPr marL="0" indent="0" algn="ctr">
              <a:buNone/>
            </a:pPr>
            <a:r>
              <a:rPr lang="fr-FR" sz="650" b="1" dirty="0">
                <a:solidFill>
                  <a:srgbClr val="FFFFFF"/>
                </a:solidFill>
              </a:rPr>
              <a:t>EVALUATION</a:t>
            </a:r>
          </a:p>
        </p:txBody>
      </p:sp>
      <p:sp>
        <p:nvSpPr>
          <p:cNvPr id="43" name="BlockBText"/>
          <p:cNvSpPr/>
          <p:nvPr/>
        </p:nvSpPr>
        <p:spPr>
          <a:xfrm>
            <a:off x="5577480" y="2872080"/>
            <a:ext cx="2926200" cy="840240"/>
          </a:xfrm>
          <a:prstGeom prst="rect">
            <a:avLst/>
          </a:prstGeom>
          <a:noFill/>
          <a:ln/>
        </p:spPr>
        <p:txBody>
          <a:bodyPr wrap="square" rtlCol="0" anchor="ctr"/>
          <a:lstStyle/>
          <a:p>
            <a:pPr marL="0" indent="0">
              <a:buNone/>
            </a:pPr>
            <a:r>
              <a:rPr lang="fr-FR" sz="1100" b="1" dirty="0">
                <a:solidFill>
                  <a:srgbClr val="1F4E79"/>
                </a:solidFill>
              </a:rPr>
              <a:t>Meme chaine RAGAS</a:t>
            </a:r>
          </a:p>
          <a:p>
            <a:pPr marL="0" indent="0">
              <a:buNone/>
            </a:pPr>
            <a:r>
              <a:rPr lang="fr-FR" sz="1000" dirty="0">
                <a:solidFill>
                  <a:srgbClr val="5D6D7E"/>
                </a:solidFill>
              </a:rPr>
              <a:t>30 questions annotees evaluees sur la chaine exacte du chatbot</a:t>
            </a:r>
          </a:p>
        </p:txBody>
      </p:sp>
      <p:sp>
        <p:nvSpPr>
          <p:cNvPr id="50" name="BlockC"/>
          <p:cNvSpPr/>
          <p:nvPr/>
        </p:nvSpPr>
        <p:spPr>
          <a:xfrm>
            <a:off x="4937400" y="3841200"/>
            <a:ext cx="3657600" cy="914400"/>
          </a:xfrm>
          <a:prstGeom prst="roundRect">
            <a:avLst>
              <a:gd name="adj" fmla="val 6000"/>
            </a:avLst>
          </a:prstGeom>
          <a:solidFill>
            <a:srgbClr val="EBF3FB"/>
          </a:solidFill>
          <a:ln w="9525">
            <a:solidFill>
              <a:srgbClr val="185FA5"/>
            </a:solidFill>
          </a:ln>
        </p:spPr>
      </p:sp>
      <p:sp>
        <p:nvSpPr>
          <p:cNvPr id="51" name="BlockCText"/>
          <p:cNvSpPr/>
          <p:nvPr/>
        </p:nvSpPr>
        <p:spPr>
          <a:xfrm>
            <a:off x="5029200" y="3878280"/>
            <a:ext cx="3474720" cy="840240"/>
          </a:xfrm>
          <a:prstGeom prst="rect">
            <a:avLst/>
          </a:prstGeom>
          <a:noFill/>
          <a:ln/>
        </p:spPr>
        <p:txBody>
          <a:bodyPr wrap="square" rtlCol="0" anchor="ctr"/>
          <a:lstStyle/>
          <a:p>
            <a:pPr marL="0" indent="0">
              <a:buNone/>
            </a:pPr>
            <a:r>
              <a:rPr lang="fr-FR" sz="1000" b="1" dirty="0">
                <a:solidFill>
                  <a:srgbClr val="0C447C"/>
                </a:solidFill>
              </a:rPr>
              <a:t>Pourquoi pas l'API Mistral directement ?</a:t>
            </a:r>
          </a:p>
          <a:p>
            <a:pPr marL="0" indent="0">
              <a:buNone/>
            </a:pPr>
            <a:r>
              <a:rPr lang="fr-FR" sz="1000" dirty="0">
                <a:solidFill>
                  <a:srgbClr val="185FA5"/>
                </a:solidFill>
              </a:rPr>
              <a:t>LangChain abstrait le fournisseur : migration vers GPT-4 ou Llama sans reecriture de la logique de recherche</a:t>
            </a:r>
          </a:p>
        </p:txBody>
      </p:sp>
      <p:sp>
        <p:nvSpPr>
          <p:cNvPr id="99" name="Notes"/>
          <p:cNvSpPr>
            <a:spLocks noGrp="1"/>
          </p:cNvSpPr>
          <p:nvPr>
            <p:ph type="body" idx="1"/>
          </p:nvPr>
        </p:nvSpPr>
        <p:spPr/>
        <p:txBody>
          <a:bodyPr/>
          <a:lstStyle/>
          <a:p>
            <a:r>
              <a:t>Jeremy demandera specifiquement pourquoi LangChain. Reponse en 3 points : (1) interfaces standardisees = portabilite entre fournisseurs LLM et bases vectorielles, (2) le chain LCEL orchestre recuperation + generation nativement, (3) ecosysteme communautaire maintenu. Le module src/rag/langchain_chain.py est la source unique utilisee par le chatbot Streamlit et le script d'evaluation RAGAS, garantissant que ce qui est mesure correspond exactement a ce que l'utilisateur experimente.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F4E79"/>
          </a:solidFill>
          <a:ln/>
        </p:spPr>
      </p:sp>
      <p:sp>
        <p:nvSpPr>
          <p:cNvPr id="3" name="Text 1"/>
          <p:cNvSpPr/>
          <p:nvPr/>
        </p:nvSpPr>
        <p:spPr>
          <a:xfrm>
            <a:off x="365760" y="0"/>
            <a:ext cx="8412480" cy="914400"/>
          </a:xfrm>
          <a:prstGeom prst="rect">
            <a:avLst/>
          </a:prstGeom>
          <a:noFill/>
          <a:ln/>
        </p:spPr>
        <p:txBody>
          <a:bodyPr wrap="square" rtlCol="0" anchor="ctr"/>
          <a:lstStyle/>
          <a:p>
            <a:pPr marL="0" indent="0">
              <a:buNone/>
            </a:pPr>
            <a:r>
              <a:rPr lang="en-US" sz="2200" b="1" dirty="0">
                <a:solidFill>
                  <a:srgbClr val="FFFFFF"/>
                </a:solidFill>
              </a:rPr>
              <a:t>PIPELINE AUTOMATISE</a:t>
            </a:r>
            <a:endParaRPr lang="en-US" sz="2200" dirty="0"/>
          </a:p>
        </p:txBody>
      </p:sp>
      <p:pic>
        <p:nvPicPr>
          <p:cNvPr id="38" name="Picture 37">
            <a:extLst>
              <a:ext uri="{FF2B5EF4-FFF2-40B4-BE49-F238E27FC236}">
                <a16:creationId xmlns:a16="http://schemas.microsoft.com/office/drawing/2014/main" id="{F91D484C-D6FB-AD65-6305-B856F3868F9F}"/>
              </a:ext>
            </a:extLst>
          </p:cNvPr>
          <p:cNvPicPr>
            <a:picLocks noChangeAspect="1"/>
          </p:cNvPicPr>
          <p:nvPr/>
        </p:nvPicPr>
        <p:blipFill>
          <a:blip r:embed="rId3"/>
          <a:stretch>
            <a:fillRect/>
          </a:stretch>
        </p:blipFill>
        <p:spPr>
          <a:xfrm>
            <a:off x="941635" y="914400"/>
            <a:ext cx="5221277" cy="4229100"/>
          </a:xfrm>
          <a:prstGeom prst="rect">
            <a:avLst/>
          </a:prstGeom>
        </p:spPr>
      </p:pic>
      <p:sp>
        <p:nvSpPr>
          <p:cNvPr id="40" name="TextBox 39">
            <a:extLst>
              <a:ext uri="{FF2B5EF4-FFF2-40B4-BE49-F238E27FC236}">
                <a16:creationId xmlns:a16="http://schemas.microsoft.com/office/drawing/2014/main" id="{D21F88B7-16E7-D1AB-41FC-31E0890A128D}"/>
              </a:ext>
            </a:extLst>
          </p:cNvPr>
          <p:cNvSpPr txBox="1"/>
          <p:nvPr/>
        </p:nvSpPr>
        <p:spPr>
          <a:xfrm>
            <a:off x="4330205" y="1833086"/>
            <a:ext cx="4572000" cy="1477328"/>
          </a:xfrm>
          <a:prstGeom prst="rect">
            <a:avLst/>
          </a:prstGeom>
          <a:noFill/>
        </p:spPr>
        <p:txBody>
          <a:bodyPr wrap="square">
            <a:spAutoFit/>
          </a:bodyPr>
          <a:lstStyle/>
          <a:p>
            <a:pPr marL="285750" indent="-285750">
              <a:buFont typeface="Arial" panose="020B0604020202020204" pitchFamily="34" charset="0"/>
              <a:buChar char="•"/>
            </a:pPr>
            <a:r>
              <a:rPr lang="en-GB" dirty="0" err="1"/>
              <a:t>Logique</a:t>
            </a:r>
            <a:r>
              <a:rPr lang="en-GB" dirty="0"/>
              <a:t> de saut </a:t>
            </a:r>
            <a:r>
              <a:rPr lang="en-GB" dirty="0" err="1"/>
              <a:t>intelligente</a:t>
            </a:r>
            <a:r>
              <a:rPr lang="en-GB" dirty="0"/>
              <a:t> : </a:t>
            </a:r>
            <a:r>
              <a:rPr lang="en-GB" dirty="0" err="1"/>
              <a:t>chaque</a:t>
            </a:r>
            <a:r>
              <a:rPr lang="en-GB" dirty="0"/>
              <a:t> </a:t>
            </a:r>
            <a:r>
              <a:rPr lang="en-GB" dirty="0" err="1"/>
              <a:t>etape</a:t>
            </a:r>
            <a:r>
              <a:rPr lang="en-GB" dirty="0"/>
              <a:t> est </a:t>
            </a:r>
            <a:r>
              <a:rPr lang="en-GB" dirty="0" err="1"/>
              <a:t>ignoree</a:t>
            </a:r>
            <a:r>
              <a:rPr lang="en-GB" dirty="0"/>
              <a:t> </a:t>
            </a:r>
            <a:r>
              <a:rPr lang="en-GB" dirty="0" err="1"/>
              <a:t>si</a:t>
            </a:r>
            <a:r>
              <a:rPr lang="en-GB" dirty="0"/>
              <a:t> son artefact </a:t>
            </a:r>
            <a:r>
              <a:rPr lang="en-GB" dirty="0" err="1"/>
              <a:t>existe</a:t>
            </a:r>
            <a:r>
              <a:rPr lang="en-GB" dirty="0"/>
              <a:t> </a:t>
            </a:r>
            <a:r>
              <a:rPr lang="en-GB" dirty="0" err="1"/>
              <a:t>deja</a:t>
            </a:r>
            <a:r>
              <a:rPr lang="en-GB" dirty="0"/>
              <a:t>.</a:t>
            </a:r>
            <a:br>
              <a:rPr lang="en-GB" dirty="0"/>
            </a:br>
            <a:endParaRPr lang="en-GB" dirty="0"/>
          </a:p>
          <a:p>
            <a:pPr marL="285750" indent="-285750">
              <a:buFont typeface="Arial" panose="020B0604020202020204" pitchFamily="34" charset="0"/>
              <a:buChar char="•"/>
            </a:pPr>
            <a:r>
              <a:rPr lang="en-GB" dirty="0" err="1"/>
              <a:t>L'indicateur</a:t>
            </a:r>
            <a:r>
              <a:rPr lang="en-GB" dirty="0"/>
              <a:t> --force force la reconstruction complete.</a:t>
            </a:r>
            <a:endParaRPr lang="en-F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F4E79"/>
          </a:solidFill>
          <a:ln/>
        </p:spPr>
      </p:sp>
      <p:sp>
        <p:nvSpPr>
          <p:cNvPr id="3" name="Text 1"/>
          <p:cNvSpPr/>
          <p:nvPr/>
        </p:nvSpPr>
        <p:spPr>
          <a:xfrm>
            <a:off x="365760" y="0"/>
            <a:ext cx="8412480" cy="914400"/>
          </a:xfrm>
          <a:prstGeom prst="rect">
            <a:avLst/>
          </a:prstGeom>
          <a:noFill/>
          <a:ln/>
        </p:spPr>
        <p:txBody>
          <a:bodyPr wrap="square" rtlCol="0" anchor="ctr"/>
          <a:lstStyle/>
          <a:p>
            <a:pPr marL="0" indent="0">
              <a:buNone/>
            </a:pPr>
            <a:r>
              <a:rPr lang="en-US" sz="2200" b="1" dirty="0">
                <a:solidFill>
                  <a:srgbClr val="FFFFFF"/>
                </a:solidFill>
              </a:rPr>
              <a:t>RESULTATS  |  QUALITE DE LA RECUPERATION</a:t>
            </a:r>
            <a:endParaRPr lang="en-US" sz="2200" dirty="0"/>
          </a:p>
        </p:txBody>
      </p:sp>
      <p:sp>
        <p:nvSpPr>
          <p:cNvPr id="4" name="Shape 2"/>
          <p:cNvSpPr/>
          <p:nvPr/>
        </p:nvSpPr>
        <p:spPr>
          <a:xfrm>
            <a:off x="274320" y="1051560"/>
            <a:ext cx="8595360" cy="822960"/>
          </a:xfrm>
          <a:prstGeom prst="roundRect">
            <a:avLst>
              <a:gd name="adj" fmla="val 8889"/>
            </a:avLst>
          </a:prstGeom>
          <a:solidFill>
            <a:srgbClr val="F2F6FA"/>
          </a:solidFill>
          <a:ln/>
        </p:spPr>
      </p:sp>
      <p:sp>
        <p:nvSpPr>
          <p:cNvPr id="5" name="Shape 3"/>
          <p:cNvSpPr/>
          <p:nvPr/>
        </p:nvSpPr>
        <p:spPr>
          <a:xfrm>
            <a:off x="384048" y="1216152"/>
            <a:ext cx="475488" cy="475488"/>
          </a:xfrm>
          <a:prstGeom prst="ellipse">
            <a:avLst/>
          </a:prstGeom>
          <a:solidFill>
            <a:srgbClr val="028090"/>
          </a:solidFill>
          <a:ln/>
        </p:spPr>
      </p:sp>
      <p:sp>
        <p:nvSpPr>
          <p:cNvPr id="6" name="Text 4"/>
          <p:cNvSpPr/>
          <p:nvPr/>
        </p:nvSpPr>
        <p:spPr>
          <a:xfrm>
            <a:off x="384048" y="1216152"/>
            <a:ext cx="475488" cy="475488"/>
          </a:xfrm>
          <a:prstGeom prst="rect">
            <a:avLst/>
          </a:prstGeom>
          <a:noFill/>
          <a:ln/>
        </p:spPr>
        <p:txBody>
          <a:bodyPr wrap="square" lIns="0" tIns="0" rIns="0" bIns="0" rtlCol="0" anchor="ctr"/>
          <a:lstStyle/>
          <a:p>
            <a:pPr marL="0" indent="0" algn="ctr">
              <a:buNone/>
            </a:pPr>
            <a:r>
              <a:rPr lang="en-US" sz="900" b="1" dirty="0">
                <a:solidFill>
                  <a:srgbClr val="FFFFFF"/>
                </a:solidFill>
              </a:rPr>
              <a:t>OK</a:t>
            </a:r>
            <a:endParaRPr lang="en-US" sz="900" dirty="0"/>
          </a:p>
        </p:txBody>
      </p:sp>
      <p:sp>
        <p:nvSpPr>
          <p:cNvPr id="7" name="Text 5"/>
          <p:cNvSpPr/>
          <p:nvPr/>
        </p:nvSpPr>
        <p:spPr>
          <a:xfrm>
            <a:off x="960120" y="1124712"/>
            <a:ext cx="1188720" cy="320040"/>
          </a:xfrm>
          <a:prstGeom prst="rect">
            <a:avLst/>
          </a:prstGeom>
          <a:noFill/>
          <a:ln/>
        </p:spPr>
        <p:txBody>
          <a:bodyPr wrap="square" rtlCol="0" anchor="ctr"/>
          <a:lstStyle/>
          <a:p>
            <a:pPr marL="0" indent="0">
              <a:buNone/>
            </a:pPr>
            <a:r>
              <a:rPr lang="en-US" sz="1000" b="1" dirty="0">
                <a:solidFill>
                  <a:srgbClr val="1F4E79"/>
                </a:solidFill>
              </a:rPr>
              <a:t>Requete :</a:t>
            </a:r>
            <a:endParaRPr lang="en-US" sz="1000" dirty="0"/>
          </a:p>
        </p:txBody>
      </p:sp>
      <p:sp>
        <p:nvSpPr>
          <p:cNvPr id="8" name="Text 6"/>
          <p:cNvSpPr/>
          <p:nvPr/>
        </p:nvSpPr>
        <p:spPr>
          <a:xfrm>
            <a:off x="2103120" y="1124712"/>
            <a:ext cx="6583680" cy="320040"/>
          </a:xfrm>
          <a:prstGeom prst="rect">
            <a:avLst/>
          </a:prstGeom>
          <a:noFill/>
          <a:ln/>
        </p:spPr>
        <p:txBody>
          <a:bodyPr wrap="square" rtlCol="0" anchor="ctr"/>
          <a:lstStyle/>
          <a:p>
            <a:pPr marL="0" indent="0">
              <a:buNone/>
            </a:pPr>
            <a:r>
              <a:rPr lang="en-US" sz="1100" dirty="0">
                <a:solidFill>
                  <a:srgbClr val="1A252F"/>
                </a:solidFill>
              </a:rPr>
              <a:t>Concert de musique classique a Paris</a:t>
            </a:r>
            <a:endParaRPr lang="en-US" sz="1100" dirty="0"/>
          </a:p>
        </p:txBody>
      </p:sp>
      <p:sp>
        <p:nvSpPr>
          <p:cNvPr id="9" name="Text 7"/>
          <p:cNvSpPr/>
          <p:nvPr/>
        </p:nvSpPr>
        <p:spPr>
          <a:xfrm>
            <a:off x="960120" y="1508760"/>
            <a:ext cx="1188720" cy="292608"/>
          </a:xfrm>
          <a:prstGeom prst="rect">
            <a:avLst/>
          </a:prstGeom>
          <a:noFill/>
          <a:ln/>
        </p:spPr>
        <p:txBody>
          <a:bodyPr wrap="square" rtlCol="0" anchor="ctr"/>
          <a:lstStyle/>
          <a:p>
            <a:pPr marL="0" indent="0">
              <a:buNone/>
            </a:pPr>
            <a:r>
              <a:rPr lang="en-US" sz="1000" b="1" dirty="0">
                <a:solidFill>
                  <a:srgbClr val="5D6D7E"/>
                </a:solidFill>
              </a:rPr>
              <a:t>Resultat :</a:t>
            </a:r>
            <a:endParaRPr lang="en-US" sz="1000" dirty="0"/>
          </a:p>
        </p:txBody>
      </p:sp>
      <p:sp>
        <p:nvSpPr>
          <p:cNvPr id="10" name="Text 8"/>
          <p:cNvSpPr/>
          <p:nvPr/>
        </p:nvSpPr>
        <p:spPr>
          <a:xfrm>
            <a:off x="2103120" y="1508760"/>
            <a:ext cx="6400800" cy="292608"/>
          </a:xfrm>
          <a:prstGeom prst="rect">
            <a:avLst/>
          </a:prstGeom>
          <a:noFill/>
          <a:ln/>
        </p:spPr>
        <p:txBody>
          <a:bodyPr wrap="square" rtlCol="0" anchor="ctr"/>
          <a:lstStyle/>
          <a:p>
            <a:pPr marL="0" indent="0">
              <a:buNone/>
            </a:pPr>
            <a:r>
              <a:rPr lang="en-US" sz="1000" i="1" dirty="0">
                <a:solidFill>
                  <a:srgbClr val="5D6D7E"/>
                </a:solidFill>
              </a:rPr>
              <a:t>Les 4 Saisons de Vivaldi  |  Eglise de La Madeleine  |  dist: 0,43</a:t>
            </a:r>
            <a:endParaRPr lang="en-US" sz="1000" dirty="0"/>
          </a:p>
        </p:txBody>
      </p:sp>
      <p:sp>
        <p:nvSpPr>
          <p:cNvPr id="11" name="Shape 9"/>
          <p:cNvSpPr/>
          <p:nvPr/>
        </p:nvSpPr>
        <p:spPr>
          <a:xfrm>
            <a:off x="274320" y="2011680"/>
            <a:ext cx="8595360" cy="822960"/>
          </a:xfrm>
          <a:prstGeom prst="roundRect">
            <a:avLst>
              <a:gd name="adj" fmla="val 8889"/>
            </a:avLst>
          </a:prstGeom>
          <a:solidFill>
            <a:srgbClr val="F2F6FA"/>
          </a:solidFill>
          <a:ln/>
        </p:spPr>
      </p:sp>
      <p:sp>
        <p:nvSpPr>
          <p:cNvPr id="12" name="Shape 10"/>
          <p:cNvSpPr/>
          <p:nvPr/>
        </p:nvSpPr>
        <p:spPr>
          <a:xfrm>
            <a:off x="384048" y="2176272"/>
            <a:ext cx="475488" cy="475488"/>
          </a:xfrm>
          <a:prstGeom prst="ellipse">
            <a:avLst/>
          </a:prstGeom>
          <a:solidFill>
            <a:srgbClr val="028090"/>
          </a:solidFill>
          <a:ln/>
        </p:spPr>
      </p:sp>
      <p:sp>
        <p:nvSpPr>
          <p:cNvPr id="13" name="Text 11"/>
          <p:cNvSpPr/>
          <p:nvPr/>
        </p:nvSpPr>
        <p:spPr>
          <a:xfrm>
            <a:off x="384048" y="2176272"/>
            <a:ext cx="475488" cy="475488"/>
          </a:xfrm>
          <a:prstGeom prst="rect">
            <a:avLst/>
          </a:prstGeom>
          <a:noFill/>
          <a:ln/>
        </p:spPr>
        <p:txBody>
          <a:bodyPr wrap="square" lIns="0" tIns="0" rIns="0" bIns="0" rtlCol="0" anchor="ctr"/>
          <a:lstStyle/>
          <a:p>
            <a:pPr marL="0" indent="0" algn="ctr">
              <a:buNone/>
            </a:pPr>
            <a:r>
              <a:rPr lang="en-US" sz="900" b="1" dirty="0">
                <a:solidFill>
                  <a:srgbClr val="FFFFFF"/>
                </a:solidFill>
              </a:rPr>
              <a:t>OK</a:t>
            </a:r>
            <a:endParaRPr lang="en-US" sz="900" dirty="0"/>
          </a:p>
        </p:txBody>
      </p:sp>
      <p:sp>
        <p:nvSpPr>
          <p:cNvPr id="14" name="Text 12"/>
          <p:cNvSpPr/>
          <p:nvPr/>
        </p:nvSpPr>
        <p:spPr>
          <a:xfrm>
            <a:off x="960120" y="2084832"/>
            <a:ext cx="1188720" cy="320040"/>
          </a:xfrm>
          <a:prstGeom prst="rect">
            <a:avLst/>
          </a:prstGeom>
          <a:noFill/>
          <a:ln/>
        </p:spPr>
        <p:txBody>
          <a:bodyPr wrap="square" rtlCol="0" anchor="ctr"/>
          <a:lstStyle/>
          <a:p>
            <a:pPr marL="0" indent="0">
              <a:buNone/>
            </a:pPr>
            <a:r>
              <a:rPr lang="en-US" sz="1000" b="1" dirty="0">
                <a:solidFill>
                  <a:srgbClr val="1F4E79"/>
                </a:solidFill>
              </a:rPr>
              <a:t>Requete :</a:t>
            </a:r>
            <a:endParaRPr lang="en-US" sz="1000" dirty="0"/>
          </a:p>
        </p:txBody>
      </p:sp>
      <p:sp>
        <p:nvSpPr>
          <p:cNvPr id="15" name="Text 13"/>
          <p:cNvSpPr/>
          <p:nvPr/>
        </p:nvSpPr>
        <p:spPr>
          <a:xfrm>
            <a:off x="2103120" y="2084832"/>
            <a:ext cx="6583680" cy="320040"/>
          </a:xfrm>
          <a:prstGeom prst="rect">
            <a:avLst/>
          </a:prstGeom>
          <a:noFill/>
          <a:ln/>
        </p:spPr>
        <p:txBody>
          <a:bodyPr wrap="square" rtlCol="0" anchor="ctr"/>
          <a:lstStyle/>
          <a:p>
            <a:pPr marL="0" indent="0">
              <a:buNone/>
            </a:pPr>
            <a:r>
              <a:rPr lang="en-US" sz="1100" dirty="0">
                <a:solidFill>
                  <a:srgbClr val="1A252F"/>
                </a:solidFill>
              </a:rPr>
              <a:t>Evenements a l'Eglise de La Madeleine</a:t>
            </a:r>
            <a:endParaRPr lang="en-US" sz="1100" dirty="0"/>
          </a:p>
        </p:txBody>
      </p:sp>
      <p:sp>
        <p:nvSpPr>
          <p:cNvPr id="16" name="Text 14"/>
          <p:cNvSpPr/>
          <p:nvPr/>
        </p:nvSpPr>
        <p:spPr>
          <a:xfrm>
            <a:off x="960120" y="2468880"/>
            <a:ext cx="1188720" cy="292608"/>
          </a:xfrm>
          <a:prstGeom prst="rect">
            <a:avLst/>
          </a:prstGeom>
          <a:noFill/>
          <a:ln/>
        </p:spPr>
        <p:txBody>
          <a:bodyPr wrap="square" rtlCol="0" anchor="ctr"/>
          <a:lstStyle/>
          <a:p>
            <a:pPr marL="0" indent="0">
              <a:buNone/>
            </a:pPr>
            <a:r>
              <a:rPr lang="en-US" sz="1000" b="1" dirty="0">
                <a:solidFill>
                  <a:srgbClr val="5D6D7E"/>
                </a:solidFill>
              </a:rPr>
              <a:t>Resultat :</a:t>
            </a:r>
            <a:endParaRPr lang="en-US" sz="1000" dirty="0"/>
          </a:p>
        </p:txBody>
      </p:sp>
      <p:sp>
        <p:nvSpPr>
          <p:cNvPr id="17" name="Text 15"/>
          <p:cNvSpPr/>
          <p:nvPr/>
        </p:nvSpPr>
        <p:spPr>
          <a:xfrm>
            <a:off x="2103120" y="2468880"/>
            <a:ext cx="6400800" cy="292608"/>
          </a:xfrm>
          <a:prstGeom prst="rect">
            <a:avLst/>
          </a:prstGeom>
          <a:noFill/>
          <a:ln/>
        </p:spPr>
        <p:txBody>
          <a:bodyPr wrap="square" rtlCol="0" anchor="ctr"/>
          <a:lstStyle/>
          <a:p>
            <a:pPr marL="0" indent="0">
              <a:buNone/>
            </a:pPr>
            <a:r>
              <a:rPr lang="en-US" sz="1000" i="1" dirty="0">
                <a:solidFill>
                  <a:srgbClr val="5D6D7E"/>
                </a:solidFill>
              </a:rPr>
              <a:t>Concert Onestage  |  Vendredi 27 mars, 16h00  |  dist: 0,38</a:t>
            </a:r>
            <a:endParaRPr lang="en-US" sz="1000" dirty="0"/>
          </a:p>
        </p:txBody>
      </p:sp>
      <p:sp>
        <p:nvSpPr>
          <p:cNvPr id="18" name="Shape 16"/>
          <p:cNvSpPr/>
          <p:nvPr/>
        </p:nvSpPr>
        <p:spPr>
          <a:xfrm>
            <a:off x="274320" y="2971800"/>
            <a:ext cx="8595360" cy="822960"/>
          </a:xfrm>
          <a:prstGeom prst="roundRect">
            <a:avLst>
              <a:gd name="adj" fmla="val 8889"/>
            </a:avLst>
          </a:prstGeom>
          <a:solidFill>
            <a:srgbClr val="F2F6FA"/>
          </a:solidFill>
          <a:ln/>
        </p:spPr>
      </p:sp>
      <p:sp>
        <p:nvSpPr>
          <p:cNvPr id="19" name="Shape 17"/>
          <p:cNvSpPr/>
          <p:nvPr/>
        </p:nvSpPr>
        <p:spPr>
          <a:xfrm>
            <a:off x="384048" y="3136392"/>
            <a:ext cx="475488" cy="475488"/>
          </a:xfrm>
          <a:prstGeom prst="ellipse">
            <a:avLst/>
          </a:prstGeom>
          <a:solidFill>
            <a:srgbClr val="028090"/>
          </a:solidFill>
          <a:ln/>
        </p:spPr>
      </p:sp>
      <p:sp>
        <p:nvSpPr>
          <p:cNvPr id="20" name="Text 18"/>
          <p:cNvSpPr/>
          <p:nvPr/>
        </p:nvSpPr>
        <p:spPr>
          <a:xfrm>
            <a:off x="384048" y="3136392"/>
            <a:ext cx="475488" cy="475488"/>
          </a:xfrm>
          <a:prstGeom prst="rect">
            <a:avLst/>
          </a:prstGeom>
          <a:noFill/>
          <a:ln/>
        </p:spPr>
        <p:txBody>
          <a:bodyPr wrap="square" lIns="0" tIns="0" rIns="0" bIns="0" rtlCol="0" anchor="ctr"/>
          <a:lstStyle/>
          <a:p>
            <a:pPr marL="0" indent="0" algn="ctr">
              <a:buNone/>
            </a:pPr>
            <a:r>
              <a:rPr lang="en-US" sz="900" b="1" dirty="0">
                <a:solidFill>
                  <a:srgbClr val="FFFFFF"/>
                </a:solidFill>
              </a:rPr>
              <a:t>OK</a:t>
            </a:r>
            <a:endParaRPr lang="en-US" sz="900" dirty="0"/>
          </a:p>
        </p:txBody>
      </p:sp>
      <p:sp>
        <p:nvSpPr>
          <p:cNvPr id="21" name="Text 19"/>
          <p:cNvSpPr/>
          <p:nvPr/>
        </p:nvSpPr>
        <p:spPr>
          <a:xfrm>
            <a:off x="960120" y="3044952"/>
            <a:ext cx="1188720" cy="320040"/>
          </a:xfrm>
          <a:prstGeom prst="rect">
            <a:avLst/>
          </a:prstGeom>
          <a:noFill/>
          <a:ln/>
        </p:spPr>
        <p:txBody>
          <a:bodyPr wrap="square" rtlCol="0" anchor="ctr"/>
          <a:lstStyle/>
          <a:p>
            <a:pPr marL="0" indent="0">
              <a:buNone/>
            </a:pPr>
            <a:r>
              <a:rPr lang="en-US" sz="1000" b="1" dirty="0">
                <a:solidFill>
                  <a:srgbClr val="1F4E79"/>
                </a:solidFill>
              </a:rPr>
              <a:t>Requete :</a:t>
            </a:r>
            <a:endParaRPr lang="en-US" sz="1000" dirty="0"/>
          </a:p>
        </p:txBody>
      </p:sp>
      <p:sp>
        <p:nvSpPr>
          <p:cNvPr id="22" name="Text 20"/>
          <p:cNvSpPr/>
          <p:nvPr/>
        </p:nvSpPr>
        <p:spPr>
          <a:xfrm>
            <a:off x="2103120" y="3044952"/>
            <a:ext cx="6583680" cy="320040"/>
          </a:xfrm>
          <a:prstGeom prst="rect">
            <a:avLst/>
          </a:prstGeom>
          <a:noFill/>
          <a:ln/>
        </p:spPr>
        <p:txBody>
          <a:bodyPr wrap="square" rtlCol="0" anchor="ctr"/>
          <a:lstStyle/>
          <a:p>
            <a:pPr marL="0" indent="0">
              <a:buNone/>
            </a:pPr>
            <a:r>
              <a:rPr lang="en-US" sz="1100" dirty="0">
                <a:solidFill>
                  <a:srgbClr val="1A252F"/>
                </a:solidFill>
              </a:rPr>
              <a:t>Que faire ce weekend a Paris</a:t>
            </a:r>
            <a:endParaRPr lang="en-US" sz="1100" dirty="0"/>
          </a:p>
        </p:txBody>
      </p:sp>
      <p:sp>
        <p:nvSpPr>
          <p:cNvPr id="23" name="Text 21"/>
          <p:cNvSpPr/>
          <p:nvPr/>
        </p:nvSpPr>
        <p:spPr>
          <a:xfrm>
            <a:off x="960120" y="3429000"/>
            <a:ext cx="1188720" cy="292608"/>
          </a:xfrm>
          <a:prstGeom prst="rect">
            <a:avLst/>
          </a:prstGeom>
          <a:noFill/>
          <a:ln/>
        </p:spPr>
        <p:txBody>
          <a:bodyPr wrap="square" rtlCol="0" anchor="ctr"/>
          <a:lstStyle/>
          <a:p>
            <a:pPr marL="0" indent="0">
              <a:buNone/>
            </a:pPr>
            <a:r>
              <a:rPr lang="en-US" sz="1000" b="1" dirty="0">
                <a:solidFill>
                  <a:srgbClr val="5D6D7E"/>
                </a:solidFill>
              </a:rPr>
              <a:t>Resultat :</a:t>
            </a:r>
            <a:endParaRPr lang="en-US" sz="1000" dirty="0"/>
          </a:p>
        </p:txBody>
      </p:sp>
      <p:sp>
        <p:nvSpPr>
          <p:cNvPr id="24" name="Text 22"/>
          <p:cNvSpPr/>
          <p:nvPr/>
        </p:nvSpPr>
        <p:spPr>
          <a:xfrm>
            <a:off x="2103120" y="3429000"/>
            <a:ext cx="6400800" cy="292608"/>
          </a:xfrm>
          <a:prstGeom prst="rect">
            <a:avLst/>
          </a:prstGeom>
          <a:noFill/>
          <a:ln/>
        </p:spPr>
        <p:txBody>
          <a:bodyPr wrap="square" rtlCol="0" anchor="ctr"/>
          <a:lstStyle/>
          <a:p>
            <a:pPr marL="0" indent="0">
              <a:buNone/>
            </a:pPr>
            <a:r>
              <a:rPr lang="en-US" sz="1000" i="1" dirty="0">
                <a:solidFill>
                  <a:srgbClr val="5D6D7E"/>
                </a:solidFill>
              </a:rPr>
              <a:t>Soiree de partage pour les jeunes  |  Salle de La Madeleine  |  dist: 0,41</a:t>
            </a:r>
            <a:endParaRPr lang="en-US" sz="1000" dirty="0"/>
          </a:p>
        </p:txBody>
      </p:sp>
      <p:sp>
        <p:nvSpPr>
          <p:cNvPr id="25" name="Shape 23"/>
          <p:cNvSpPr/>
          <p:nvPr/>
        </p:nvSpPr>
        <p:spPr>
          <a:xfrm>
            <a:off x="274320" y="3931920"/>
            <a:ext cx="8595360" cy="822960"/>
          </a:xfrm>
          <a:prstGeom prst="roundRect">
            <a:avLst>
              <a:gd name="adj" fmla="val 8889"/>
            </a:avLst>
          </a:prstGeom>
          <a:solidFill>
            <a:srgbClr val="F2F6FA"/>
          </a:solidFill>
          <a:ln/>
        </p:spPr>
      </p:sp>
      <p:sp>
        <p:nvSpPr>
          <p:cNvPr id="26" name="Shape 24"/>
          <p:cNvSpPr/>
          <p:nvPr/>
        </p:nvSpPr>
        <p:spPr>
          <a:xfrm>
            <a:off x="384048" y="4096512"/>
            <a:ext cx="475488" cy="475488"/>
          </a:xfrm>
          <a:prstGeom prst="ellipse">
            <a:avLst/>
          </a:prstGeom>
          <a:solidFill>
            <a:srgbClr val="F39C12"/>
          </a:solidFill>
          <a:ln/>
        </p:spPr>
      </p:sp>
      <p:sp>
        <p:nvSpPr>
          <p:cNvPr id="27" name="Text 25"/>
          <p:cNvSpPr/>
          <p:nvPr/>
        </p:nvSpPr>
        <p:spPr>
          <a:xfrm>
            <a:off x="384048" y="4096512"/>
            <a:ext cx="475488" cy="475488"/>
          </a:xfrm>
          <a:prstGeom prst="rect">
            <a:avLst/>
          </a:prstGeom>
          <a:noFill/>
          <a:ln/>
        </p:spPr>
        <p:txBody>
          <a:bodyPr wrap="square" lIns="0" tIns="0" rIns="0" bIns="0" rtlCol="0" anchor="ctr"/>
          <a:lstStyle/>
          <a:p>
            <a:pPr marL="0" indent="0" algn="ctr">
              <a:buNone/>
            </a:pPr>
            <a:r>
              <a:rPr lang="en-US" sz="900" b="1" dirty="0">
                <a:solidFill>
                  <a:srgbClr val="FFFFFF"/>
                </a:solidFill>
              </a:rPr>
              <a:t>HC</a:t>
            </a:r>
            <a:endParaRPr lang="en-US" sz="900" dirty="0"/>
          </a:p>
        </p:txBody>
      </p:sp>
      <p:sp>
        <p:nvSpPr>
          <p:cNvPr id="28" name="Text 26"/>
          <p:cNvSpPr/>
          <p:nvPr/>
        </p:nvSpPr>
        <p:spPr>
          <a:xfrm>
            <a:off x="960120" y="4005072"/>
            <a:ext cx="1188720" cy="320040"/>
          </a:xfrm>
          <a:prstGeom prst="rect">
            <a:avLst/>
          </a:prstGeom>
          <a:noFill/>
          <a:ln/>
        </p:spPr>
        <p:txBody>
          <a:bodyPr wrap="square" rtlCol="0" anchor="ctr"/>
          <a:lstStyle/>
          <a:p>
            <a:pPr marL="0" indent="0">
              <a:buNone/>
            </a:pPr>
            <a:r>
              <a:rPr lang="en-US" sz="1000" b="1" dirty="0">
                <a:solidFill>
                  <a:srgbClr val="1F4E79"/>
                </a:solidFill>
              </a:rPr>
              <a:t>Requete :</a:t>
            </a:r>
            <a:endParaRPr lang="en-US" sz="1000" dirty="0"/>
          </a:p>
        </p:txBody>
      </p:sp>
      <p:sp>
        <p:nvSpPr>
          <p:cNvPr id="29" name="Text 27"/>
          <p:cNvSpPr/>
          <p:nvPr/>
        </p:nvSpPr>
        <p:spPr>
          <a:xfrm>
            <a:off x="2103120" y="4005072"/>
            <a:ext cx="6583680" cy="320040"/>
          </a:xfrm>
          <a:prstGeom prst="rect">
            <a:avLst/>
          </a:prstGeom>
          <a:noFill/>
          <a:ln/>
        </p:spPr>
        <p:txBody>
          <a:bodyPr wrap="square" rtlCol="0" anchor="ctr"/>
          <a:lstStyle/>
          <a:p>
            <a:pPr marL="0" indent="0">
              <a:buNone/>
            </a:pPr>
            <a:r>
              <a:rPr lang="en-US" sz="1100" dirty="0">
                <a:solidFill>
                  <a:srgbClr val="1A252F"/>
                </a:solidFill>
              </a:rPr>
              <a:t>Quel est le meilleur restaurant a Paris</a:t>
            </a:r>
            <a:endParaRPr lang="en-US" sz="1100" dirty="0"/>
          </a:p>
        </p:txBody>
      </p:sp>
      <p:sp>
        <p:nvSpPr>
          <p:cNvPr id="30" name="Text 28"/>
          <p:cNvSpPr/>
          <p:nvPr/>
        </p:nvSpPr>
        <p:spPr>
          <a:xfrm>
            <a:off x="960120" y="4389120"/>
            <a:ext cx="1188720" cy="292608"/>
          </a:xfrm>
          <a:prstGeom prst="rect">
            <a:avLst/>
          </a:prstGeom>
          <a:noFill/>
          <a:ln/>
        </p:spPr>
        <p:txBody>
          <a:bodyPr wrap="square" rtlCol="0" anchor="ctr"/>
          <a:lstStyle/>
          <a:p>
            <a:pPr marL="0" indent="0">
              <a:buNone/>
            </a:pPr>
            <a:r>
              <a:rPr lang="en-US" sz="1000" b="1" dirty="0">
                <a:solidFill>
                  <a:srgbClr val="5D6D7E"/>
                </a:solidFill>
              </a:rPr>
              <a:t>Resultat :</a:t>
            </a:r>
            <a:endParaRPr lang="en-US" sz="1000" dirty="0"/>
          </a:p>
        </p:txBody>
      </p:sp>
      <p:sp>
        <p:nvSpPr>
          <p:cNvPr id="31" name="Text 29"/>
          <p:cNvSpPr/>
          <p:nvPr/>
        </p:nvSpPr>
        <p:spPr>
          <a:xfrm>
            <a:off x="2103120" y="4389120"/>
            <a:ext cx="6400800" cy="292608"/>
          </a:xfrm>
          <a:prstGeom prst="rect">
            <a:avLst/>
          </a:prstGeom>
          <a:noFill/>
          <a:ln/>
        </p:spPr>
        <p:txBody>
          <a:bodyPr wrap="square" rtlCol="0" anchor="ctr"/>
          <a:lstStyle/>
          <a:p>
            <a:pPr marL="0" indent="0">
              <a:buNone/>
            </a:pPr>
            <a:r>
              <a:rPr lang="en-US" sz="1000" i="1" dirty="0">
                <a:solidFill>
                  <a:srgbClr val="5D6D7E"/>
                </a:solidFill>
              </a:rPr>
              <a:t>Refus correct : Je ne sais pas  |  (dist: 0,61 hors perimetre)</a:t>
            </a:r>
            <a:endParaRPr lang="en-US" sz="1000" dirty="0"/>
          </a:p>
        </p:txBody>
      </p:sp>
      <p:sp>
        <p:nvSpPr>
          <p:cNvPr id="32" name="Text 30"/>
          <p:cNvSpPr/>
          <p:nvPr/>
        </p:nvSpPr>
        <p:spPr>
          <a:xfrm>
            <a:off x="274320" y="4800600"/>
            <a:ext cx="8595360" cy="274320"/>
          </a:xfrm>
          <a:prstGeom prst="rect">
            <a:avLst/>
          </a:prstGeom>
          <a:noFill/>
          <a:ln/>
        </p:spPr>
        <p:txBody>
          <a:bodyPr wrap="square" rtlCol="0" anchor="ctr"/>
          <a:lstStyle/>
          <a:p>
            <a:pPr marL="0" indent="0" algn="ctr">
              <a:buNone/>
            </a:pPr>
            <a:r>
              <a:rPr lang="en-US" sz="1000" i="1" dirty="0">
                <a:solidFill>
                  <a:srgbClr val="2E75B6"/>
                </a:solidFill>
              </a:rPr>
              <a:t>Distance L2 &lt; 0,50 = pertinent  |  Distance L2 &gt; 0,60 = hors perimetre detecte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1F4E79"/>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F4E79"/>
          </a:solidFill>
          <a:ln/>
        </p:spPr>
      </p:sp>
      <p:sp>
        <p:nvSpPr>
          <p:cNvPr id="3" name="Text 1"/>
          <p:cNvSpPr/>
          <p:nvPr/>
        </p:nvSpPr>
        <p:spPr>
          <a:xfrm>
            <a:off x="457200" y="457200"/>
            <a:ext cx="8229600" cy="640080"/>
          </a:xfrm>
          <a:prstGeom prst="rect">
            <a:avLst/>
          </a:prstGeom>
          <a:noFill/>
          <a:ln/>
        </p:spPr>
        <p:txBody>
          <a:bodyPr wrap="square" rtlCol="0" anchor="ctr"/>
          <a:lstStyle/>
          <a:p>
            <a:pPr marL="0" indent="0" algn="ctr">
              <a:buNone/>
            </a:pPr>
            <a:r>
              <a:rPr lang="en-US" sz="1300" b="1" kern="0" spc="400" dirty="0">
                <a:solidFill>
                  <a:srgbClr val="F39C12"/>
                </a:solidFill>
              </a:rPr>
              <a:t>DEMONSTRATION EN DIRECT</a:t>
            </a:r>
            <a:endParaRPr lang="en-US" sz="1300" dirty="0"/>
          </a:p>
        </p:txBody>
      </p:sp>
      <p:sp>
        <p:nvSpPr>
          <p:cNvPr id="4" name="Shape 2"/>
          <p:cNvSpPr/>
          <p:nvPr/>
        </p:nvSpPr>
        <p:spPr>
          <a:xfrm>
            <a:off x="2286000" y="1188720"/>
            <a:ext cx="6583680" cy="3749040"/>
          </a:xfrm>
          <a:prstGeom prst="roundRect">
            <a:avLst>
              <a:gd name="adj" fmla="val 3659"/>
            </a:avLst>
          </a:prstGeom>
          <a:solidFill>
            <a:srgbClr val="FFFFFF"/>
          </a:solidFill>
          <a:ln/>
          <a:effectLst>
            <a:outerShdw blurRad="101600" dist="38100" dir="2700000" algn="bl" rotWithShape="0">
              <a:srgbClr val="000000">
                <a:alpha val="12000"/>
              </a:srgbClr>
            </a:outerShdw>
          </a:effectLst>
        </p:spPr>
      </p:sp>
      <p:sp>
        <p:nvSpPr>
          <p:cNvPr id="5" name="Shape 3"/>
          <p:cNvSpPr/>
          <p:nvPr/>
        </p:nvSpPr>
        <p:spPr>
          <a:xfrm>
            <a:off x="2286000" y="1188720"/>
            <a:ext cx="6583680" cy="502920"/>
          </a:xfrm>
          <a:prstGeom prst="roundRect">
            <a:avLst>
              <a:gd name="adj" fmla="val 14545"/>
            </a:avLst>
          </a:prstGeom>
          <a:solidFill>
            <a:srgbClr val="2E75B6"/>
          </a:solidFill>
          <a:ln/>
        </p:spPr>
      </p:sp>
      <p:sp>
        <p:nvSpPr>
          <p:cNvPr id="6" name="Text 4"/>
          <p:cNvSpPr/>
          <p:nvPr/>
        </p:nvSpPr>
        <p:spPr>
          <a:xfrm>
            <a:off x="2468880" y="1188720"/>
            <a:ext cx="6400800" cy="502920"/>
          </a:xfrm>
          <a:prstGeom prst="rect">
            <a:avLst/>
          </a:prstGeom>
          <a:noFill/>
          <a:ln/>
        </p:spPr>
        <p:txBody>
          <a:bodyPr wrap="square" rtlCol="0" anchor="ctr"/>
          <a:lstStyle/>
          <a:p>
            <a:pPr marL="0" indent="0">
              <a:buNone/>
            </a:pPr>
            <a:r>
              <a:rPr lang="en-US" sz="1100" b="1" dirty="0">
                <a:solidFill>
                  <a:srgbClr val="FFFFFF"/>
                </a:solidFill>
              </a:rPr>
              <a:t>Puls-Events  |  Assistant Culturel Paris</a:t>
            </a:r>
            <a:endParaRPr lang="en-US" sz="1100" dirty="0"/>
          </a:p>
        </p:txBody>
      </p:sp>
      <p:sp>
        <p:nvSpPr>
          <p:cNvPr id="7" name="Shape 5"/>
          <p:cNvSpPr/>
          <p:nvPr/>
        </p:nvSpPr>
        <p:spPr>
          <a:xfrm>
            <a:off x="5029200" y="1920240"/>
            <a:ext cx="3566160" cy="502920"/>
          </a:xfrm>
          <a:prstGeom prst="roundRect">
            <a:avLst>
              <a:gd name="adj" fmla="val 18182"/>
            </a:avLst>
          </a:prstGeom>
          <a:solidFill>
            <a:srgbClr val="2E75B6"/>
          </a:solidFill>
          <a:ln/>
        </p:spPr>
      </p:sp>
      <p:sp>
        <p:nvSpPr>
          <p:cNvPr id="8" name="Text 6"/>
          <p:cNvSpPr/>
          <p:nvPr/>
        </p:nvSpPr>
        <p:spPr>
          <a:xfrm>
            <a:off x="5120640" y="1920240"/>
            <a:ext cx="3383280" cy="502920"/>
          </a:xfrm>
          <a:prstGeom prst="rect">
            <a:avLst/>
          </a:prstGeom>
          <a:noFill/>
          <a:ln/>
        </p:spPr>
        <p:txBody>
          <a:bodyPr wrap="square" rtlCol="0" anchor="ctr"/>
          <a:lstStyle/>
          <a:p>
            <a:pPr marL="0" indent="0">
              <a:buNone/>
            </a:pPr>
            <a:r>
              <a:rPr lang="en-US" sz="1000" dirty="0">
                <a:solidFill>
                  <a:srgbClr val="FFFFFF"/>
                </a:solidFill>
              </a:rPr>
              <a:t>Quels concerts classiques ce mois ?</a:t>
            </a:r>
            <a:endParaRPr lang="en-US" sz="1000" dirty="0"/>
          </a:p>
        </p:txBody>
      </p:sp>
      <p:sp>
        <p:nvSpPr>
          <p:cNvPr id="11" name="Shape 9"/>
          <p:cNvSpPr/>
          <p:nvPr/>
        </p:nvSpPr>
        <p:spPr>
          <a:xfrm>
            <a:off x="274320" y="1188720"/>
            <a:ext cx="1828800" cy="3749040"/>
          </a:xfrm>
          <a:prstGeom prst="roundRect">
            <a:avLst>
              <a:gd name="adj" fmla="val 5000"/>
            </a:avLst>
          </a:prstGeom>
          <a:solidFill>
            <a:srgbClr val="1A252F"/>
          </a:solidFill>
          <a:ln/>
        </p:spPr>
      </p:sp>
      <p:sp>
        <p:nvSpPr>
          <p:cNvPr id="12" name="Text 10"/>
          <p:cNvSpPr/>
          <p:nvPr/>
        </p:nvSpPr>
        <p:spPr>
          <a:xfrm>
            <a:off x="365760" y="1280160"/>
            <a:ext cx="1645920" cy="365760"/>
          </a:xfrm>
          <a:prstGeom prst="rect">
            <a:avLst/>
          </a:prstGeom>
          <a:noFill/>
          <a:ln/>
        </p:spPr>
        <p:txBody>
          <a:bodyPr wrap="square" rtlCol="0" anchor="ctr"/>
          <a:lstStyle/>
          <a:p>
            <a:pPr marL="0" indent="0" algn="ctr">
              <a:buNone/>
            </a:pPr>
            <a:r>
              <a:rPr lang="en-US" sz="1100" b="1" dirty="0">
                <a:solidFill>
                  <a:srgbClr val="F39C12"/>
                </a:solidFill>
              </a:rPr>
              <a:t>Sources</a:t>
            </a:r>
            <a:endParaRPr lang="en-US" sz="1100" dirty="0"/>
          </a:p>
        </p:txBody>
      </p:sp>
      <p:sp>
        <p:nvSpPr>
          <p:cNvPr id="13" name="Text 11"/>
          <p:cNvSpPr/>
          <p:nvPr/>
        </p:nvSpPr>
        <p:spPr>
          <a:xfrm>
            <a:off x="365760" y="1691640"/>
            <a:ext cx="1645920" cy="3108960"/>
          </a:xfrm>
          <a:prstGeom prst="rect">
            <a:avLst/>
          </a:prstGeom>
          <a:noFill/>
          <a:ln/>
        </p:spPr>
        <p:txBody>
          <a:bodyPr wrap="square" rtlCol="0" anchor="ctr"/>
          <a:lstStyle/>
          <a:p>
            <a:pPr marL="0" indent="0">
              <a:buNone/>
            </a:pPr>
            <a:r>
              <a:rPr lang="en-US" sz="900" dirty="0">
                <a:solidFill>
                  <a:srgbClr val="CADCFC"/>
                </a:solidFill>
              </a:rPr>
              <a:t>1. Les 4 Saisons...</a:t>
            </a:r>
            <a:endParaRPr lang="en-US" sz="900" dirty="0"/>
          </a:p>
          <a:p>
            <a:pPr marL="0" indent="0">
              <a:buNone/>
            </a:pPr>
            <a:r>
              <a:rPr lang="en-US" sz="900" dirty="0">
                <a:solidFill>
                  <a:srgbClr val="CADCFC"/>
                </a:solidFill>
              </a:rPr>
              <a:t>11 mars, 20h00</a:t>
            </a:r>
            <a:endParaRPr lang="en-US" sz="900" dirty="0"/>
          </a:p>
          <a:p>
            <a:pPr marL="0" indent="0">
              <a:buNone/>
            </a:pPr>
            <a:r>
              <a:rPr lang="en-US" sz="900" dirty="0">
                <a:solidFill>
                  <a:srgbClr val="CADCFC"/>
                </a:solidFill>
              </a:rPr>
              <a:t>La Madeleine</a:t>
            </a:r>
            <a:endParaRPr lang="en-US" sz="900" dirty="0"/>
          </a:p>
          <a:p>
            <a:pPr marL="0" indent="0">
              <a:buNone/>
            </a:pPr>
            <a:r>
              <a:rPr lang="en-US" sz="900" dirty="0">
                <a:solidFill>
                  <a:srgbClr val="CADCFC"/>
                </a:solidFill>
              </a:rPr>
              <a:t> </a:t>
            </a:r>
            <a:endParaRPr lang="en-US" sz="900" dirty="0"/>
          </a:p>
          <a:p>
            <a:pPr marL="0" indent="0">
              <a:buNone/>
            </a:pPr>
            <a:r>
              <a:rPr lang="en-US" sz="900" dirty="0">
                <a:solidFill>
                  <a:srgbClr val="CADCFC"/>
                </a:solidFill>
              </a:rPr>
              <a:t>2. Concert Aria...</a:t>
            </a:r>
            <a:endParaRPr lang="en-US" sz="900" dirty="0"/>
          </a:p>
          <a:p>
            <a:pPr marL="0" indent="0">
              <a:buNone/>
            </a:pPr>
            <a:r>
              <a:rPr lang="en-US" sz="900" dirty="0">
                <a:solidFill>
                  <a:srgbClr val="CADCFC"/>
                </a:solidFill>
              </a:rPr>
              <a:t>14 mars, 16h00</a:t>
            </a:r>
            <a:endParaRPr lang="en-US" sz="900" dirty="0"/>
          </a:p>
          <a:p>
            <a:pPr marL="0" indent="0">
              <a:buNone/>
            </a:pPr>
            <a:r>
              <a:rPr lang="en-US" sz="900" dirty="0">
                <a:solidFill>
                  <a:srgbClr val="CADCFC"/>
                </a:solidFill>
              </a:rPr>
              <a:t>Ste-Elisabeth</a:t>
            </a:r>
            <a:endParaRPr lang="en-US" sz="900" dirty="0"/>
          </a:p>
        </p:txBody>
      </p:sp>
      <p:pic>
        <p:nvPicPr>
          <p:cNvPr id="16" name="Picture 15">
            <a:extLst>
              <a:ext uri="{FF2B5EF4-FFF2-40B4-BE49-F238E27FC236}">
                <a16:creationId xmlns:a16="http://schemas.microsoft.com/office/drawing/2014/main" id="{E45C2EFC-2D18-AD72-36CA-3920B31CC3EF}"/>
              </a:ext>
            </a:extLst>
          </p:cNvPr>
          <p:cNvPicPr>
            <a:picLocks noChangeAspect="1"/>
          </p:cNvPicPr>
          <p:nvPr/>
        </p:nvPicPr>
        <p:blipFill>
          <a:blip r:embed="rId3"/>
          <a:stretch>
            <a:fillRect/>
          </a:stretch>
        </p:blipFill>
        <p:spPr>
          <a:xfrm>
            <a:off x="2277030" y="1730968"/>
            <a:ext cx="6583679" cy="3406140"/>
          </a:xfrm>
          <a:prstGeom prst="rect">
            <a:avLst/>
          </a:prstGeom>
        </p:spPr>
      </p:pic>
      <p:sp>
        <p:nvSpPr>
          <p:cNvPr id="10" name="Text 8"/>
          <p:cNvSpPr/>
          <p:nvPr/>
        </p:nvSpPr>
        <p:spPr>
          <a:xfrm>
            <a:off x="6189772" y="2458556"/>
            <a:ext cx="4023360" cy="1920240"/>
          </a:xfrm>
          <a:prstGeom prst="rect">
            <a:avLst/>
          </a:prstGeom>
          <a:noFill/>
          <a:ln/>
        </p:spPr>
        <p:txBody>
          <a:bodyPr wrap="square" rtlCol="0" anchor="ctr"/>
          <a:lstStyle/>
          <a:p>
            <a:pPr marL="0" indent="0">
              <a:buNone/>
            </a:pPr>
            <a:r>
              <a:rPr lang="en-US" sz="1000" b="1" dirty="0">
                <a:solidFill>
                  <a:srgbClr val="FF0000"/>
                </a:solidFill>
              </a:rPr>
              <a:t>Voici les concerts disponibles :</a:t>
            </a:r>
            <a:endParaRPr lang="en-US" sz="1000" dirty="0">
              <a:solidFill>
                <a:srgbClr val="FF0000"/>
              </a:solidFill>
            </a:endParaRPr>
          </a:p>
          <a:p>
            <a:pPr marL="0" indent="0">
              <a:buNone/>
            </a:pPr>
            <a:r>
              <a:rPr lang="en-US" sz="1000" dirty="0">
                <a:solidFill>
                  <a:srgbClr val="FF0000"/>
                </a:solidFill>
              </a:rPr>
              <a:t> </a:t>
            </a:r>
          </a:p>
          <a:p>
            <a:pPr marL="0" indent="0">
              <a:buNone/>
            </a:pPr>
            <a:r>
              <a:rPr lang="en-US" sz="1000" b="1" dirty="0">
                <a:solidFill>
                  <a:srgbClr val="FF0000"/>
                </a:solidFill>
              </a:rPr>
              <a:t>1. Les 4 Saisons de Vivaldi</a:t>
            </a:r>
            <a:endParaRPr lang="en-US" sz="1000" dirty="0">
              <a:solidFill>
                <a:srgbClr val="FF0000"/>
              </a:solidFill>
            </a:endParaRPr>
          </a:p>
          <a:p>
            <a:pPr marL="0" indent="0">
              <a:buNone/>
            </a:pPr>
            <a:r>
              <a:rPr lang="en-US" sz="1000" dirty="0">
                <a:solidFill>
                  <a:srgbClr val="FF0000"/>
                </a:solidFill>
              </a:rPr>
              <a:t>   Mercredi 11 mars, 20h00</a:t>
            </a:r>
          </a:p>
          <a:p>
            <a:pPr marL="0" indent="0">
              <a:buNone/>
            </a:pPr>
            <a:r>
              <a:rPr lang="en-US" sz="1000" dirty="0">
                <a:solidFill>
                  <a:srgbClr val="FF0000"/>
                </a:solidFill>
              </a:rPr>
              <a:t>   Eglise de La Madeleine, Paris</a:t>
            </a:r>
          </a:p>
          <a:p>
            <a:pPr marL="0" indent="0">
              <a:buNone/>
            </a:pPr>
            <a:r>
              <a:rPr lang="en-US" sz="1000" dirty="0">
                <a:solidFill>
                  <a:srgbClr val="FF0000"/>
                </a:solidFill>
              </a:rPr>
              <a:t> </a:t>
            </a:r>
          </a:p>
          <a:p>
            <a:pPr marL="0" indent="0">
              <a:buNone/>
            </a:pPr>
            <a:r>
              <a:rPr lang="en-US" sz="1000" b="1" dirty="0">
                <a:solidFill>
                  <a:srgbClr val="FF0000"/>
                </a:solidFill>
              </a:rPr>
              <a:t>2. Concert Aria Baroque</a:t>
            </a:r>
            <a:endParaRPr lang="en-US" sz="1000" dirty="0">
              <a:solidFill>
                <a:srgbClr val="FF0000"/>
              </a:solidFill>
            </a:endParaRPr>
          </a:p>
          <a:p>
            <a:pPr marL="0" indent="0">
              <a:buNone/>
            </a:pPr>
            <a:r>
              <a:rPr lang="en-US" sz="1000" dirty="0">
                <a:solidFill>
                  <a:srgbClr val="FF0000"/>
                </a:solidFill>
              </a:rPr>
              <a:t>   Samedi 14 mars, 16h00</a:t>
            </a:r>
          </a:p>
          <a:p>
            <a:pPr marL="0" indent="0">
              <a:buNone/>
            </a:pPr>
            <a:r>
              <a:rPr lang="en-US" sz="1000" dirty="0">
                <a:solidFill>
                  <a:srgbClr val="FF0000"/>
                </a:solidFill>
              </a:rPr>
              <a:t>   Eglise Sainte-Elisabeth de Hongrie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F4E79"/>
          </a:solidFill>
          <a:ln/>
        </p:spPr>
      </p:sp>
      <p:sp>
        <p:nvSpPr>
          <p:cNvPr id="3" name="Text 1"/>
          <p:cNvSpPr/>
          <p:nvPr/>
        </p:nvSpPr>
        <p:spPr>
          <a:xfrm>
            <a:off x="365760" y="0"/>
            <a:ext cx="8412480" cy="914400"/>
          </a:xfrm>
          <a:prstGeom prst="rect">
            <a:avLst/>
          </a:prstGeom>
          <a:noFill/>
          <a:ln/>
        </p:spPr>
        <p:txBody>
          <a:bodyPr wrap="square" rtlCol="0" anchor="ctr"/>
          <a:lstStyle/>
          <a:p>
            <a:pPr marL="0" indent="0">
              <a:buNone/>
            </a:pPr>
            <a:r>
              <a:rPr lang="en-US" sz="2200" b="1" dirty="0">
                <a:solidFill>
                  <a:srgbClr val="FFFFFF"/>
                </a:solidFill>
              </a:rPr>
              <a:t>TESTS UNITAIRES  |  25 / 25 REUSSIS</a:t>
            </a:r>
            <a:endParaRPr lang="en-US" sz="2200" dirty="0"/>
          </a:p>
        </p:txBody>
      </p:sp>
      <p:sp>
        <p:nvSpPr>
          <p:cNvPr id="4" name="Shape 2"/>
          <p:cNvSpPr/>
          <p:nvPr/>
        </p:nvSpPr>
        <p:spPr>
          <a:xfrm>
            <a:off x="274320" y="1051560"/>
            <a:ext cx="8595360" cy="685800"/>
          </a:xfrm>
          <a:prstGeom prst="roundRect">
            <a:avLst>
              <a:gd name="adj" fmla="val 10667"/>
            </a:avLst>
          </a:prstGeom>
          <a:solidFill>
            <a:srgbClr val="F2F6FA"/>
          </a:solidFill>
          <a:ln/>
        </p:spPr>
      </p:sp>
      <p:sp>
        <p:nvSpPr>
          <p:cNvPr id="5" name="Shape 3"/>
          <p:cNvSpPr/>
          <p:nvPr/>
        </p:nvSpPr>
        <p:spPr>
          <a:xfrm>
            <a:off x="384048" y="1143000"/>
            <a:ext cx="457200" cy="502920"/>
          </a:xfrm>
          <a:prstGeom prst="roundRect">
            <a:avLst>
              <a:gd name="adj" fmla="val 12000"/>
            </a:avLst>
          </a:prstGeom>
          <a:solidFill>
            <a:srgbClr val="1F4E79"/>
          </a:solidFill>
          <a:ln/>
        </p:spPr>
      </p:sp>
      <p:sp>
        <p:nvSpPr>
          <p:cNvPr id="6" name="Text 4"/>
          <p:cNvSpPr/>
          <p:nvPr/>
        </p:nvSpPr>
        <p:spPr>
          <a:xfrm>
            <a:off x="384048" y="1143000"/>
            <a:ext cx="457200" cy="502920"/>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7" name="Text 5"/>
          <p:cNvSpPr/>
          <p:nvPr/>
        </p:nvSpPr>
        <p:spPr>
          <a:xfrm>
            <a:off x="932688" y="1124712"/>
            <a:ext cx="2743200" cy="320040"/>
          </a:xfrm>
          <a:prstGeom prst="rect">
            <a:avLst/>
          </a:prstGeom>
          <a:noFill/>
          <a:ln/>
        </p:spPr>
        <p:txBody>
          <a:bodyPr wrap="square" rtlCol="0" anchor="ctr"/>
          <a:lstStyle/>
          <a:p>
            <a:pPr marL="0" indent="0">
              <a:buNone/>
            </a:pPr>
            <a:r>
              <a:rPr lang="en-US" sz="1200" b="1" dirty="0">
                <a:solidFill>
                  <a:srgbClr val="1F4E79"/>
                </a:solidFill>
              </a:rPr>
              <a:t>TestRawData</a:t>
            </a:r>
            <a:endParaRPr lang="en-US" sz="1200" dirty="0"/>
          </a:p>
        </p:txBody>
      </p:sp>
      <p:sp>
        <p:nvSpPr>
          <p:cNvPr id="8" name="Text 6"/>
          <p:cNvSpPr/>
          <p:nvPr/>
        </p:nvSpPr>
        <p:spPr>
          <a:xfrm>
            <a:off x="932688" y="1435608"/>
            <a:ext cx="7772400" cy="256032"/>
          </a:xfrm>
          <a:prstGeom prst="rect">
            <a:avLst/>
          </a:prstGeom>
          <a:noFill/>
          <a:ln/>
        </p:spPr>
        <p:txBody>
          <a:bodyPr wrap="square" rtlCol="0" anchor="ctr"/>
          <a:lstStyle/>
          <a:p>
            <a:pPr marL="0" indent="0">
              <a:buNone/>
            </a:pPr>
            <a:r>
              <a:rPr lang="en-US" sz="1000" dirty="0">
                <a:solidFill>
                  <a:srgbClr val="5D6D7E"/>
                </a:solidFill>
              </a:rPr>
              <a:t>Fichier present, non vide, titres et descriptions non nuls, dates presentes</a:t>
            </a:r>
            <a:endParaRPr lang="en-US" sz="1000" dirty="0"/>
          </a:p>
        </p:txBody>
      </p:sp>
      <p:sp>
        <p:nvSpPr>
          <p:cNvPr id="9" name="Text 7"/>
          <p:cNvSpPr/>
          <p:nvPr/>
        </p:nvSpPr>
        <p:spPr>
          <a:xfrm>
            <a:off x="7772400" y="1216152"/>
            <a:ext cx="1005840" cy="320040"/>
          </a:xfrm>
          <a:prstGeom prst="rect">
            <a:avLst/>
          </a:prstGeom>
          <a:solidFill>
            <a:srgbClr val="028090"/>
          </a:solidFill>
          <a:ln/>
        </p:spPr>
        <p:txBody>
          <a:bodyPr wrap="square" lIns="38100" tIns="38100" rIns="38100" bIns="38100" rtlCol="0" anchor="ctr"/>
          <a:lstStyle/>
          <a:p>
            <a:pPr marL="0" indent="0" algn="ctr">
              <a:buNone/>
            </a:pPr>
            <a:r>
              <a:rPr lang="en-US" sz="1000" b="1" dirty="0">
                <a:solidFill>
                  <a:srgbClr val="FFFFFF"/>
                </a:solidFill>
              </a:rPr>
              <a:t>REUSSI</a:t>
            </a:r>
            <a:endParaRPr lang="en-US" sz="1000" dirty="0"/>
          </a:p>
        </p:txBody>
      </p:sp>
      <p:sp>
        <p:nvSpPr>
          <p:cNvPr id="10" name="Shape 8"/>
          <p:cNvSpPr/>
          <p:nvPr/>
        </p:nvSpPr>
        <p:spPr>
          <a:xfrm>
            <a:off x="274320" y="1837944"/>
            <a:ext cx="8595360" cy="685800"/>
          </a:xfrm>
          <a:prstGeom prst="roundRect">
            <a:avLst>
              <a:gd name="adj" fmla="val 10667"/>
            </a:avLst>
          </a:prstGeom>
          <a:solidFill>
            <a:srgbClr val="F2F6FA"/>
          </a:solidFill>
          <a:ln/>
        </p:spPr>
      </p:sp>
      <p:sp>
        <p:nvSpPr>
          <p:cNvPr id="11" name="Shape 9"/>
          <p:cNvSpPr/>
          <p:nvPr/>
        </p:nvSpPr>
        <p:spPr>
          <a:xfrm>
            <a:off x="384048" y="1929384"/>
            <a:ext cx="457200" cy="502920"/>
          </a:xfrm>
          <a:prstGeom prst="roundRect">
            <a:avLst>
              <a:gd name="adj" fmla="val 12000"/>
            </a:avLst>
          </a:prstGeom>
          <a:solidFill>
            <a:srgbClr val="2E75B6"/>
          </a:solidFill>
          <a:ln/>
        </p:spPr>
      </p:sp>
      <p:sp>
        <p:nvSpPr>
          <p:cNvPr id="12" name="Text 10"/>
          <p:cNvSpPr/>
          <p:nvPr/>
        </p:nvSpPr>
        <p:spPr>
          <a:xfrm>
            <a:off x="384048" y="1929384"/>
            <a:ext cx="457200" cy="502920"/>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3" name="Text 11"/>
          <p:cNvSpPr/>
          <p:nvPr/>
        </p:nvSpPr>
        <p:spPr>
          <a:xfrm>
            <a:off x="932688" y="1911096"/>
            <a:ext cx="2743200" cy="320040"/>
          </a:xfrm>
          <a:prstGeom prst="rect">
            <a:avLst/>
          </a:prstGeom>
          <a:noFill/>
          <a:ln/>
        </p:spPr>
        <p:txBody>
          <a:bodyPr wrap="square" rtlCol="0" anchor="ctr"/>
          <a:lstStyle/>
          <a:p>
            <a:pPr marL="0" indent="0">
              <a:buNone/>
            </a:pPr>
            <a:r>
              <a:rPr lang="en-US" sz="1200" b="1" dirty="0">
                <a:solidFill>
                  <a:srgbClr val="1F4E79"/>
                </a:solidFill>
              </a:rPr>
              <a:t>TestDateFilter</a:t>
            </a:r>
            <a:endParaRPr lang="en-US" sz="1200" dirty="0"/>
          </a:p>
        </p:txBody>
      </p:sp>
      <p:sp>
        <p:nvSpPr>
          <p:cNvPr id="14" name="Text 12"/>
          <p:cNvSpPr/>
          <p:nvPr/>
        </p:nvSpPr>
        <p:spPr>
          <a:xfrm>
            <a:off x="932688" y="2221992"/>
            <a:ext cx="7772400" cy="256032"/>
          </a:xfrm>
          <a:prstGeom prst="rect">
            <a:avLst/>
          </a:prstGeom>
          <a:noFill/>
          <a:ln/>
        </p:spPr>
        <p:txBody>
          <a:bodyPr wrap="square" rtlCol="0" anchor="ctr"/>
          <a:lstStyle/>
          <a:p>
            <a:pPr marL="0" indent="0">
              <a:buNone/>
            </a:pPr>
            <a:r>
              <a:rPr lang="en-US" sz="1000" dirty="0">
                <a:solidFill>
                  <a:srgbClr val="5D6D7E"/>
                </a:solidFill>
              </a:rPr>
              <a:t>Tous les evenements dans les 12 mois, aucun a plus de 2 ans dans le futur, plage de dates &gt; 30 jours</a:t>
            </a:r>
            <a:endParaRPr lang="en-US" sz="1000" dirty="0"/>
          </a:p>
        </p:txBody>
      </p:sp>
      <p:sp>
        <p:nvSpPr>
          <p:cNvPr id="15" name="Text 13"/>
          <p:cNvSpPr/>
          <p:nvPr/>
        </p:nvSpPr>
        <p:spPr>
          <a:xfrm>
            <a:off x="7772400" y="2002536"/>
            <a:ext cx="1005840" cy="320040"/>
          </a:xfrm>
          <a:prstGeom prst="rect">
            <a:avLst/>
          </a:prstGeom>
          <a:solidFill>
            <a:srgbClr val="028090"/>
          </a:solidFill>
          <a:ln/>
        </p:spPr>
        <p:txBody>
          <a:bodyPr wrap="square" lIns="38100" tIns="38100" rIns="38100" bIns="38100" rtlCol="0" anchor="ctr"/>
          <a:lstStyle/>
          <a:p>
            <a:pPr marL="0" indent="0" algn="ctr">
              <a:buNone/>
            </a:pPr>
            <a:r>
              <a:rPr lang="en-US" sz="1000" b="1" dirty="0">
                <a:solidFill>
                  <a:srgbClr val="FFFFFF"/>
                </a:solidFill>
              </a:rPr>
              <a:t>REUSSI</a:t>
            </a:r>
            <a:endParaRPr lang="en-US" sz="1000" dirty="0"/>
          </a:p>
        </p:txBody>
      </p:sp>
      <p:sp>
        <p:nvSpPr>
          <p:cNvPr id="16" name="Shape 14"/>
          <p:cNvSpPr/>
          <p:nvPr/>
        </p:nvSpPr>
        <p:spPr>
          <a:xfrm>
            <a:off x="274320" y="2624328"/>
            <a:ext cx="8595360" cy="685800"/>
          </a:xfrm>
          <a:prstGeom prst="roundRect">
            <a:avLst>
              <a:gd name="adj" fmla="val 10667"/>
            </a:avLst>
          </a:prstGeom>
          <a:solidFill>
            <a:srgbClr val="F2F6FA"/>
          </a:solidFill>
          <a:ln/>
        </p:spPr>
      </p:sp>
      <p:sp>
        <p:nvSpPr>
          <p:cNvPr id="17" name="Shape 15"/>
          <p:cNvSpPr/>
          <p:nvPr/>
        </p:nvSpPr>
        <p:spPr>
          <a:xfrm>
            <a:off x="384048" y="2715768"/>
            <a:ext cx="457200" cy="502920"/>
          </a:xfrm>
          <a:prstGeom prst="roundRect">
            <a:avLst>
              <a:gd name="adj" fmla="val 12000"/>
            </a:avLst>
          </a:prstGeom>
          <a:solidFill>
            <a:srgbClr val="028090"/>
          </a:solidFill>
          <a:ln/>
        </p:spPr>
      </p:sp>
      <p:sp>
        <p:nvSpPr>
          <p:cNvPr id="18" name="Text 16"/>
          <p:cNvSpPr/>
          <p:nvPr/>
        </p:nvSpPr>
        <p:spPr>
          <a:xfrm>
            <a:off x="384048" y="2715768"/>
            <a:ext cx="457200" cy="502920"/>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9" name="Text 17"/>
          <p:cNvSpPr/>
          <p:nvPr/>
        </p:nvSpPr>
        <p:spPr>
          <a:xfrm>
            <a:off x="932688" y="2697480"/>
            <a:ext cx="2743200" cy="320040"/>
          </a:xfrm>
          <a:prstGeom prst="rect">
            <a:avLst/>
          </a:prstGeom>
          <a:noFill/>
          <a:ln/>
        </p:spPr>
        <p:txBody>
          <a:bodyPr wrap="square" rtlCol="0" anchor="ctr"/>
          <a:lstStyle/>
          <a:p>
            <a:pPr marL="0" indent="0">
              <a:buNone/>
            </a:pPr>
            <a:r>
              <a:rPr lang="en-US" sz="1200" b="1" dirty="0">
                <a:solidFill>
                  <a:srgbClr val="1F4E79"/>
                </a:solidFill>
              </a:rPr>
              <a:t>TestLocationFilter</a:t>
            </a:r>
            <a:endParaRPr lang="en-US" sz="1200" dirty="0"/>
          </a:p>
        </p:txBody>
      </p:sp>
      <p:sp>
        <p:nvSpPr>
          <p:cNvPr id="20" name="Text 18"/>
          <p:cNvSpPr/>
          <p:nvPr/>
        </p:nvSpPr>
        <p:spPr>
          <a:xfrm>
            <a:off x="932688" y="3008376"/>
            <a:ext cx="7772400" cy="256032"/>
          </a:xfrm>
          <a:prstGeom prst="rect">
            <a:avLst/>
          </a:prstGeom>
          <a:noFill/>
          <a:ln/>
        </p:spPr>
        <p:txBody>
          <a:bodyPr wrap="square" rtlCol="0" anchor="ctr"/>
          <a:lstStyle/>
          <a:p>
            <a:pPr marL="0" indent="0">
              <a:buNone/>
            </a:pPr>
            <a:r>
              <a:rPr lang="en-US" sz="1000" dirty="0">
                <a:solidFill>
                  <a:srgbClr val="5D6D7E"/>
                </a:solidFill>
              </a:rPr>
              <a:t>Plus de 90 % des evenements a Paris, champ ville non nul, aucun code postal residuel</a:t>
            </a:r>
            <a:endParaRPr lang="en-US" sz="1000" dirty="0"/>
          </a:p>
        </p:txBody>
      </p:sp>
      <p:sp>
        <p:nvSpPr>
          <p:cNvPr id="21" name="Text 19"/>
          <p:cNvSpPr/>
          <p:nvPr/>
        </p:nvSpPr>
        <p:spPr>
          <a:xfrm>
            <a:off x="7772400" y="2788920"/>
            <a:ext cx="1005840" cy="320040"/>
          </a:xfrm>
          <a:prstGeom prst="rect">
            <a:avLst/>
          </a:prstGeom>
          <a:solidFill>
            <a:srgbClr val="028090"/>
          </a:solidFill>
          <a:ln/>
        </p:spPr>
        <p:txBody>
          <a:bodyPr wrap="square" lIns="38100" tIns="38100" rIns="38100" bIns="38100" rtlCol="0" anchor="ctr"/>
          <a:lstStyle/>
          <a:p>
            <a:pPr marL="0" indent="0" algn="ctr">
              <a:buNone/>
            </a:pPr>
            <a:r>
              <a:rPr lang="en-US" sz="1000" b="1" dirty="0">
                <a:solidFill>
                  <a:srgbClr val="FFFFFF"/>
                </a:solidFill>
              </a:rPr>
              <a:t>REUSSI</a:t>
            </a:r>
            <a:endParaRPr lang="en-US" sz="1000" dirty="0"/>
          </a:p>
        </p:txBody>
      </p:sp>
      <p:sp>
        <p:nvSpPr>
          <p:cNvPr id="22" name="Shape 20"/>
          <p:cNvSpPr/>
          <p:nvPr/>
        </p:nvSpPr>
        <p:spPr>
          <a:xfrm>
            <a:off x="274320" y="3410712"/>
            <a:ext cx="8595360" cy="685800"/>
          </a:xfrm>
          <a:prstGeom prst="roundRect">
            <a:avLst>
              <a:gd name="adj" fmla="val 10667"/>
            </a:avLst>
          </a:prstGeom>
          <a:solidFill>
            <a:srgbClr val="F2F6FA"/>
          </a:solidFill>
          <a:ln/>
        </p:spPr>
      </p:sp>
      <p:sp>
        <p:nvSpPr>
          <p:cNvPr id="23" name="Shape 21"/>
          <p:cNvSpPr/>
          <p:nvPr/>
        </p:nvSpPr>
        <p:spPr>
          <a:xfrm>
            <a:off x="384048" y="3502152"/>
            <a:ext cx="457200" cy="502920"/>
          </a:xfrm>
          <a:prstGeom prst="roundRect">
            <a:avLst>
              <a:gd name="adj" fmla="val 12000"/>
            </a:avLst>
          </a:prstGeom>
          <a:solidFill>
            <a:srgbClr val="1F4E79"/>
          </a:solidFill>
          <a:ln/>
        </p:spPr>
      </p:sp>
      <p:sp>
        <p:nvSpPr>
          <p:cNvPr id="24" name="Text 22"/>
          <p:cNvSpPr/>
          <p:nvPr/>
        </p:nvSpPr>
        <p:spPr>
          <a:xfrm>
            <a:off x="384048" y="3502152"/>
            <a:ext cx="457200" cy="502920"/>
          </a:xfrm>
          <a:prstGeom prst="rect">
            <a:avLst/>
          </a:prstGeom>
          <a:noFill/>
          <a:ln/>
        </p:spPr>
        <p:txBody>
          <a:bodyPr wrap="square" lIns="0" tIns="0" rIns="0" bIns="0" rtlCol="0" anchor="ctr"/>
          <a:lstStyle/>
          <a:p>
            <a:pPr marL="0" indent="0" algn="ctr">
              <a:buNone/>
            </a:pPr>
            <a:r>
              <a:rPr lang="en-US" sz="1400" b="1" dirty="0">
                <a:solidFill>
                  <a:srgbClr val="FFFFFF"/>
                </a:solidFill>
              </a:rPr>
              <a:t>10</a:t>
            </a:r>
            <a:endParaRPr lang="en-US" sz="1400" dirty="0"/>
          </a:p>
        </p:txBody>
      </p:sp>
      <p:sp>
        <p:nvSpPr>
          <p:cNvPr id="25" name="Text 23"/>
          <p:cNvSpPr/>
          <p:nvPr/>
        </p:nvSpPr>
        <p:spPr>
          <a:xfrm>
            <a:off x="932688" y="3483864"/>
            <a:ext cx="2743200" cy="320040"/>
          </a:xfrm>
          <a:prstGeom prst="rect">
            <a:avLst/>
          </a:prstGeom>
          <a:noFill/>
          <a:ln/>
        </p:spPr>
        <p:txBody>
          <a:bodyPr wrap="square" rtlCol="0" anchor="ctr"/>
          <a:lstStyle/>
          <a:p>
            <a:pPr marL="0" indent="0">
              <a:buNone/>
            </a:pPr>
            <a:r>
              <a:rPr lang="en-US" sz="1200" b="1" dirty="0">
                <a:solidFill>
                  <a:srgbClr val="1F4E79"/>
                </a:solidFill>
              </a:rPr>
              <a:t>TestVectorDatabase</a:t>
            </a:r>
            <a:endParaRPr lang="en-US" sz="1200" dirty="0"/>
          </a:p>
        </p:txBody>
      </p:sp>
      <p:sp>
        <p:nvSpPr>
          <p:cNvPr id="26" name="Text 24"/>
          <p:cNvSpPr/>
          <p:nvPr/>
        </p:nvSpPr>
        <p:spPr>
          <a:xfrm>
            <a:off x="932688" y="3794760"/>
            <a:ext cx="7772400" cy="256032"/>
          </a:xfrm>
          <a:prstGeom prst="rect">
            <a:avLst/>
          </a:prstGeom>
          <a:noFill/>
          <a:ln/>
        </p:spPr>
        <p:txBody>
          <a:bodyPr wrap="square" rtlCol="0" anchor="ctr"/>
          <a:lstStyle/>
          <a:p>
            <a:pPr marL="0" indent="0">
              <a:buNone/>
            </a:pPr>
            <a:r>
              <a:rPr lang="en-US" sz="1000" dirty="0">
                <a:solidFill>
                  <a:srgbClr val="5D6D7E"/>
                </a:solidFill>
              </a:rPr>
              <a:t>Dimension 1024, index non vide, synchronisation index/metadonnees, dtype float32, recherche valide</a:t>
            </a:r>
            <a:endParaRPr lang="en-US" sz="1000" dirty="0"/>
          </a:p>
        </p:txBody>
      </p:sp>
      <p:sp>
        <p:nvSpPr>
          <p:cNvPr id="27" name="Text 25"/>
          <p:cNvSpPr/>
          <p:nvPr/>
        </p:nvSpPr>
        <p:spPr>
          <a:xfrm>
            <a:off x="7772400" y="3575304"/>
            <a:ext cx="1005840" cy="320040"/>
          </a:xfrm>
          <a:prstGeom prst="rect">
            <a:avLst/>
          </a:prstGeom>
          <a:solidFill>
            <a:srgbClr val="028090"/>
          </a:solidFill>
          <a:ln/>
        </p:spPr>
        <p:txBody>
          <a:bodyPr wrap="square" lIns="38100" tIns="38100" rIns="38100" bIns="38100" rtlCol="0" anchor="ctr"/>
          <a:lstStyle/>
          <a:p>
            <a:pPr marL="0" indent="0" algn="ctr">
              <a:buNone/>
            </a:pPr>
            <a:r>
              <a:rPr lang="en-US" sz="1000" b="1" dirty="0">
                <a:solidFill>
                  <a:srgbClr val="FFFFFF"/>
                </a:solidFill>
              </a:rPr>
              <a:t>REUSSI</a:t>
            </a:r>
            <a:endParaRPr lang="en-US" sz="1000" dirty="0"/>
          </a:p>
        </p:txBody>
      </p:sp>
      <p:sp>
        <p:nvSpPr>
          <p:cNvPr id="28" name="Shape 26"/>
          <p:cNvSpPr/>
          <p:nvPr/>
        </p:nvSpPr>
        <p:spPr>
          <a:xfrm>
            <a:off x="274320" y="4197096"/>
            <a:ext cx="8595360" cy="685800"/>
          </a:xfrm>
          <a:prstGeom prst="roundRect">
            <a:avLst>
              <a:gd name="adj" fmla="val 10667"/>
            </a:avLst>
          </a:prstGeom>
          <a:solidFill>
            <a:srgbClr val="F2F6FA"/>
          </a:solidFill>
          <a:ln/>
        </p:spPr>
      </p:sp>
      <p:sp>
        <p:nvSpPr>
          <p:cNvPr id="29" name="Shape 27"/>
          <p:cNvSpPr/>
          <p:nvPr/>
        </p:nvSpPr>
        <p:spPr>
          <a:xfrm>
            <a:off x="384048" y="4288536"/>
            <a:ext cx="457200" cy="502920"/>
          </a:xfrm>
          <a:prstGeom prst="roundRect">
            <a:avLst>
              <a:gd name="adj" fmla="val 12000"/>
            </a:avLst>
          </a:prstGeom>
          <a:solidFill>
            <a:srgbClr val="2E75B6"/>
          </a:solidFill>
          <a:ln/>
        </p:spPr>
      </p:sp>
      <p:sp>
        <p:nvSpPr>
          <p:cNvPr id="30" name="Text 28"/>
          <p:cNvSpPr/>
          <p:nvPr/>
        </p:nvSpPr>
        <p:spPr>
          <a:xfrm>
            <a:off x="384048" y="4288536"/>
            <a:ext cx="457200" cy="502920"/>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31" name="Text 29"/>
          <p:cNvSpPr/>
          <p:nvPr/>
        </p:nvSpPr>
        <p:spPr>
          <a:xfrm>
            <a:off x="932688" y="4270248"/>
            <a:ext cx="2743200" cy="320040"/>
          </a:xfrm>
          <a:prstGeom prst="rect">
            <a:avLst/>
          </a:prstGeom>
          <a:noFill/>
          <a:ln/>
        </p:spPr>
        <p:txBody>
          <a:bodyPr wrap="square" rtlCol="0" anchor="ctr"/>
          <a:lstStyle/>
          <a:p>
            <a:pPr marL="0" indent="0">
              <a:buNone/>
            </a:pPr>
            <a:r>
              <a:rPr lang="en-US" sz="1200" b="1" dirty="0">
                <a:solidFill>
                  <a:srgbClr val="1F4E79"/>
                </a:solidFill>
              </a:rPr>
              <a:t>TestChunkQuality</a:t>
            </a:r>
            <a:endParaRPr lang="en-US" sz="1200" dirty="0"/>
          </a:p>
        </p:txBody>
      </p:sp>
      <p:sp>
        <p:nvSpPr>
          <p:cNvPr id="32" name="Text 30"/>
          <p:cNvSpPr/>
          <p:nvPr/>
        </p:nvSpPr>
        <p:spPr>
          <a:xfrm>
            <a:off x="932688" y="4581144"/>
            <a:ext cx="7772400" cy="256032"/>
          </a:xfrm>
          <a:prstGeom prst="rect">
            <a:avLst/>
          </a:prstGeom>
          <a:noFill/>
          <a:ln/>
        </p:spPr>
        <p:txBody>
          <a:bodyPr wrap="square" rtlCol="0" anchor="ctr"/>
          <a:lstStyle/>
          <a:p>
            <a:pPr marL="0" indent="0">
              <a:buNone/>
            </a:pPr>
            <a:r>
              <a:rPr lang="en-US" sz="1000" dirty="0">
                <a:solidFill>
                  <a:srgbClr val="5D6D7E"/>
                </a:solidFill>
              </a:rPr>
              <a:t>Texte de chunk non vide, marqueur Evenement present, URL non vide</a:t>
            </a:r>
            <a:endParaRPr lang="en-US" sz="1000" dirty="0"/>
          </a:p>
        </p:txBody>
      </p:sp>
      <p:sp>
        <p:nvSpPr>
          <p:cNvPr id="33" name="Text 31"/>
          <p:cNvSpPr/>
          <p:nvPr/>
        </p:nvSpPr>
        <p:spPr>
          <a:xfrm>
            <a:off x="7772400" y="4361688"/>
            <a:ext cx="1005840" cy="320040"/>
          </a:xfrm>
          <a:prstGeom prst="rect">
            <a:avLst/>
          </a:prstGeom>
          <a:solidFill>
            <a:srgbClr val="028090"/>
          </a:solidFill>
          <a:ln/>
        </p:spPr>
        <p:txBody>
          <a:bodyPr wrap="square" lIns="38100" tIns="38100" rIns="38100" bIns="38100" rtlCol="0" anchor="ctr"/>
          <a:lstStyle/>
          <a:p>
            <a:pPr marL="0" indent="0" algn="ctr">
              <a:buNone/>
            </a:pPr>
            <a:r>
              <a:rPr lang="en-US" sz="1000" b="1" dirty="0">
                <a:solidFill>
                  <a:srgbClr val="FFFFFF"/>
                </a:solidFill>
              </a:rPr>
              <a:t>REUSSI</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F4E79"/>
          </a:solidFill>
          <a:ln/>
        </p:spPr>
      </p:sp>
      <p:sp>
        <p:nvSpPr>
          <p:cNvPr id="3" name="Text 1"/>
          <p:cNvSpPr/>
          <p:nvPr/>
        </p:nvSpPr>
        <p:spPr>
          <a:xfrm>
            <a:off x="365760" y="0"/>
            <a:ext cx="8412480" cy="914400"/>
          </a:xfrm>
          <a:prstGeom prst="rect">
            <a:avLst/>
          </a:prstGeom>
          <a:noFill/>
          <a:ln/>
        </p:spPr>
        <p:txBody>
          <a:bodyPr wrap="square" rtlCol="0" anchor="ctr"/>
          <a:lstStyle/>
          <a:p>
            <a:pPr marL="0" indent="0">
              <a:buNone/>
            </a:pPr>
            <a:r>
              <a:rPr lang="en-US" sz="2200" b="1" dirty="0">
                <a:solidFill>
                  <a:srgbClr val="FFFFFF"/>
                </a:solidFill>
              </a:rPr>
              <a:t>EVALUATION  |  JEU DE TEST ANNOTE</a:t>
            </a:r>
            <a:endParaRPr lang="en-US" sz="2200" dirty="0"/>
          </a:p>
        </p:txBody>
      </p:sp>
      <p:sp>
        <p:nvSpPr>
          <p:cNvPr id="4" name="Shape 2"/>
          <p:cNvSpPr/>
          <p:nvPr/>
        </p:nvSpPr>
        <p:spPr>
          <a:xfrm>
            <a:off x="274320" y="1051560"/>
            <a:ext cx="2697480" cy="914400"/>
          </a:xfrm>
          <a:prstGeom prst="roundRect">
            <a:avLst>
              <a:gd name="adj" fmla="val 10000"/>
            </a:avLst>
          </a:prstGeom>
          <a:solidFill>
            <a:srgbClr val="F2F6FA"/>
          </a:solidFill>
          <a:ln/>
          <a:effectLst>
            <a:outerShdw blurRad="101600" dist="38100" dir="2700000" algn="bl" rotWithShape="0">
              <a:srgbClr val="000000">
                <a:alpha val="12000"/>
              </a:srgbClr>
            </a:outerShdw>
          </a:effectLst>
        </p:spPr>
      </p:sp>
      <p:sp>
        <p:nvSpPr>
          <p:cNvPr id="5" name="Shape 3"/>
          <p:cNvSpPr/>
          <p:nvPr/>
        </p:nvSpPr>
        <p:spPr>
          <a:xfrm>
            <a:off x="384048" y="1216152"/>
            <a:ext cx="548640" cy="548640"/>
          </a:xfrm>
          <a:prstGeom prst="ellipse">
            <a:avLst/>
          </a:prstGeom>
          <a:solidFill>
            <a:srgbClr val="1F4E79"/>
          </a:solidFill>
          <a:ln/>
        </p:spPr>
      </p:sp>
      <p:sp>
        <p:nvSpPr>
          <p:cNvPr id="6" name="Text 4"/>
          <p:cNvSpPr/>
          <p:nvPr/>
        </p:nvSpPr>
        <p:spPr>
          <a:xfrm>
            <a:off x="384048" y="1216152"/>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rPr>
              <a:t>6</a:t>
            </a:r>
            <a:endParaRPr lang="en-US" sz="1800" dirty="0"/>
          </a:p>
        </p:txBody>
      </p:sp>
      <p:sp>
        <p:nvSpPr>
          <p:cNvPr id="7" name="Text 5"/>
          <p:cNvSpPr/>
          <p:nvPr/>
        </p:nvSpPr>
        <p:spPr>
          <a:xfrm>
            <a:off x="1024128" y="1280160"/>
            <a:ext cx="1828800" cy="457200"/>
          </a:xfrm>
          <a:prstGeom prst="rect">
            <a:avLst/>
          </a:prstGeom>
          <a:noFill/>
          <a:ln/>
        </p:spPr>
        <p:txBody>
          <a:bodyPr wrap="square" rtlCol="0" anchor="ctr"/>
          <a:lstStyle/>
          <a:p>
            <a:pPr marL="0" indent="0">
              <a:buNone/>
            </a:pPr>
            <a:r>
              <a:rPr lang="en-US" sz="1100" dirty="0">
                <a:solidFill>
                  <a:srgbClr val="1F4E79"/>
                </a:solidFill>
              </a:rPr>
              <a:t>Evenements specifiques</a:t>
            </a:r>
            <a:endParaRPr lang="en-US" sz="1100" dirty="0"/>
          </a:p>
        </p:txBody>
      </p:sp>
      <p:sp>
        <p:nvSpPr>
          <p:cNvPr id="8" name="Shape 6"/>
          <p:cNvSpPr/>
          <p:nvPr/>
        </p:nvSpPr>
        <p:spPr>
          <a:xfrm>
            <a:off x="3154680" y="1051560"/>
            <a:ext cx="2697480" cy="914400"/>
          </a:xfrm>
          <a:prstGeom prst="roundRect">
            <a:avLst>
              <a:gd name="adj" fmla="val 10000"/>
            </a:avLst>
          </a:prstGeom>
          <a:solidFill>
            <a:srgbClr val="F2F6FA"/>
          </a:solidFill>
          <a:ln/>
          <a:effectLst>
            <a:outerShdw blurRad="101600" dist="38100" dir="2700000" algn="bl" rotWithShape="0">
              <a:srgbClr val="000000">
                <a:alpha val="12000"/>
              </a:srgbClr>
            </a:outerShdw>
          </a:effectLst>
        </p:spPr>
      </p:sp>
      <p:sp>
        <p:nvSpPr>
          <p:cNvPr id="9" name="Shape 7"/>
          <p:cNvSpPr/>
          <p:nvPr/>
        </p:nvSpPr>
        <p:spPr>
          <a:xfrm>
            <a:off x="3264408" y="1216152"/>
            <a:ext cx="548640" cy="548640"/>
          </a:xfrm>
          <a:prstGeom prst="ellipse">
            <a:avLst/>
          </a:prstGeom>
          <a:solidFill>
            <a:srgbClr val="2E75B6"/>
          </a:solidFill>
          <a:ln/>
        </p:spPr>
      </p:sp>
      <p:sp>
        <p:nvSpPr>
          <p:cNvPr id="10" name="Text 8"/>
          <p:cNvSpPr/>
          <p:nvPr/>
        </p:nvSpPr>
        <p:spPr>
          <a:xfrm>
            <a:off x="3264408" y="1216152"/>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rPr>
              <a:t>5</a:t>
            </a:r>
            <a:endParaRPr lang="en-US" sz="1800" dirty="0"/>
          </a:p>
        </p:txBody>
      </p:sp>
      <p:sp>
        <p:nvSpPr>
          <p:cNvPr id="11" name="Text 9"/>
          <p:cNvSpPr/>
          <p:nvPr/>
        </p:nvSpPr>
        <p:spPr>
          <a:xfrm>
            <a:off x="3904488" y="1280160"/>
            <a:ext cx="1828800" cy="457200"/>
          </a:xfrm>
          <a:prstGeom prst="rect">
            <a:avLst/>
          </a:prstGeom>
          <a:noFill/>
          <a:ln/>
        </p:spPr>
        <p:txBody>
          <a:bodyPr wrap="square" rtlCol="0" anchor="ctr"/>
          <a:lstStyle/>
          <a:p>
            <a:pPr marL="0" indent="0">
              <a:buNone/>
            </a:pPr>
            <a:r>
              <a:rPr lang="en-US" sz="1100" dirty="0">
                <a:solidFill>
                  <a:srgbClr val="1F4E79"/>
                </a:solidFill>
              </a:rPr>
              <a:t>Requetes par date</a:t>
            </a:r>
            <a:endParaRPr lang="en-US" sz="1100" dirty="0"/>
          </a:p>
        </p:txBody>
      </p:sp>
      <p:sp>
        <p:nvSpPr>
          <p:cNvPr id="12" name="Shape 10"/>
          <p:cNvSpPr/>
          <p:nvPr/>
        </p:nvSpPr>
        <p:spPr>
          <a:xfrm>
            <a:off x="6035040" y="1051560"/>
            <a:ext cx="2697480" cy="914400"/>
          </a:xfrm>
          <a:prstGeom prst="roundRect">
            <a:avLst>
              <a:gd name="adj" fmla="val 10000"/>
            </a:avLst>
          </a:prstGeom>
          <a:solidFill>
            <a:srgbClr val="F2F6FA"/>
          </a:solidFill>
          <a:ln/>
          <a:effectLst>
            <a:outerShdw blurRad="101600" dist="38100" dir="2700000" algn="bl" rotWithShape="0">
              <a:srgbClr val="000000">
                <a:alpha val="12000"/>
              </a:srgbClr>
            </a:outerShdw>
          </a:effectLst>
        </p:spPr>
      </p:sp>
      <p:sp>
        <p:nvSpPr>
          <p:cNvPr id="13" name="Shape 11"/>
          <p:cNvSpPr/>
          <p:nvPr/>
        </p:nvSpPr>
        <p:spPr>
          <a:xfrm>
            <a:off x="6144768" y="1216152"/>
            <a:ext cx="548640" cy="548640"/>
          </a:xfrm>
          <a:prstGeom prst="ellipse">
            <a:avLst/>
          </a:prstGeom>
          <a:solidFill>
            <a:srgbClr val="028090"/>
          </a:solidFill>
          <a:ln/>
        </p:spPr>
      </p:sp>
      <p:sp>
        <p:nvSpPr>
          <p:cNvPr id="14" name="Text 12"/>
          <p:cNvSpPr/>
          <p:nvPr/>
        </p:nvSpPr>
        <p:spPr>
          <a:xfrm>
            <a:off x="6144768" y="1216152"/>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rPr>
              <a:t>5</a:t>
            </a:r>
            <a:endParaRPr lang="en-US" sz="1800" dirty="0"/>
          </a:p>
        </p:txBody>
      </p:sp>
      <p:sp>
        <p:nvSpPr>
          <p:cNvPr id="15" name="Text 13"/>
          <p:cNvSpPr/>
          <p:nvPr/>
        </p:nvSpPr>
        <p:spPr>
          <a:xfrm>
            <a:off x="6784848" y="1280160"/>
            <a:ext cx="1828800" cy="457200"/>
          </a:xfrm>
          <a:prstGeom prst="rect">
            <a:avLst/>
          </a:prstGeom>
          <a:noFill/>
          <a:ln/>
        </p:spPr>
        <p:txBody>
          <a:bodyPr wrap="square" rtlCol="0" anchor="ctr"/>
          <a:lstStyle/>
          <a:p>
            <a:pPr marL="0" indent="0">
              <a:buNone/>
            </a:pPr>
            <a:r>
              <a:rPr lang="en-US" sz="1100" dirty="0">
                <a:solidFill>
                  <a:srgbClr val="1F4E79"/>
                </a:solidFill>
              </a:rPr>
              <a:t>Requetes par categorie</a:t>
            </a:r>
            <a:endParaRPr lang="en-US" sz="1100" dirty="0"/>
          </a:p>
        </p:txBody>
      </p:sp>
      <p:sp>
        <p:nvSpPr>
          <p:cNvPr id="16" name="Shape 14"/>
          <p:cNvSpPr/>
          <p:nvPr/>
        </p:nvSpPr>
        <p:spPr>
          <a:xfrm>
            <a:off x="274320" y="2103120"/>
            <a:ext cx="2697480" cy="914400"/>
          </a:xfrm>
          <a:prstGeom prst="roundRect">
            <a:avLst>
              <a:gd name="adj" fmla="val 10000"/>
            </a:avLst>
          </a:prstGeom>
          <a:solidFill>
            <a:srgbClr val="F2F6FA"/>
          </a:solidFill>
          <a:ln/>
          <a:effectLst>
            <a:outerShdw blurRad="101600" dist="38100" dir="2700000" algn="bl" rotWithShape="0">
              <a:srgbClr val="000000">
                <a:alpha val="12000"/>
              </a:srgbClr>
            </a:outerShdw>
          </a:effectLst>
        </p:spPr>
      </p:sp>
      <p:sp>
        <p:nvSpPr>
          <p:cNvPr id="17" name="Shape 15"/>
          <p:cNvSpPr/>
          <p:nvPr/>
        </p:nvSpPr>
        <p:spPr>
          <a:xfrm>
            <a:off x="384048" y="2267712"/>
            <a:ext cx="548640" cy="548640"/>
          </a:xfrm>
          <a:prstGeom prst="ellipse">
            <a:avLst/>
          </a:prstGeom>
          <a:solidFill>
            <a:srgbClr val="1F4E79"/>
          </a:solidFill>
          <a:ln/>
        </p:spPr>
      </p:sp>
      <p:sp>
        <p:nvSpPr>
          <p:cNvPr id="18" name="Text 16"/>
          <p:cNvSpPr/>
          <p:nvPr/>
        </p:nvSpPr>
        <p:spPr>
          <a:xfrm>
            <a:off x="384048" y="2267712"/>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rPr>
              <a:t>4</a:t>
            </a:r>
            <a:endParaRPr lang="en-US" sz="1800" dirty="0"/>
          </a:p>
        </p:txBody>
      </p:sp>
      <p:sp>
        <p:nvSpPr>
          <p:cNvPr id="19" name="Text 17"/>
          <p:cNvSpPr/>
          <p:nvPr/>
        </p:nvSpPr>
        <p:spPr>
          <a:xfrm>
            <a:off x="1024128" y="2331720"/>
            <a:ext cx="1828800" cy="457200"/>
          </a:xfrm>
          <a:prstGeom prst="rect">
            <a:avLst/>
          </a:prstGeom>
          <a:noFill/>
          <a:ln/>
        </p:spPr>
        <p:txBody>
          <a:bodyPr wrap="square" rtlCol="0" anchor="ctr"/>
          <a:lstStyle/>
          <a:p>
            <a:pPr marL="0" indent="0">
              <a:buNone/>
            </a:pPr>
            <a:r>
              <a:rPr lang="en-US" sz="1100" dirty="0">
                <a:solidFill>
                  <a:srgbClr val="1F4E79"/>
                </a:solidFill>
              </a:rPr>
              <a:t>Requetes par lieu</a:t>
            </a:r>
            <a:endParaRPr lang="en-US" sz="1100" dirty="0"/>
          </a:p>
        </p:txBody>
      </p:sp>
      <p:sp>
        <p:nvSpPr>
          <p:cNvPr id="20" name="Shape 18"/>
          <p:cNvSpPr/>
          <p:nvPr/>
        </p:nvSpPr>
        <p:spPr>
          <a:xfrm>
            <a:off x="3154680" y="2103120"/>
            <a:ext cx="2697480" cy="914400"/>
          </a:xfrm>
          <a:prstGeom prst="roundRect">
            <a:avLst>
              <a:gd name="adj" fmla="val 10000"/>
            </a:avLst>
          </a:prstGeom>
          <a:solidFill>
            <a:srgbClr val="F2F6FA"/>
          </a:solidFill>
          <a:ln/>
          <a:effectLst>
            <a:outerShdw blurRad="101600" dist="38100" dir="2700000" algn="bl" rotWithShape="0">
              <a:srgbClr val="000000">
                <a:alpha val="12000"/>
              </a:srgbClr>
            </a:outerShdw>
          </a:effectLst>
        </p:spPr>
      </p:sp>
      <p:sp>
        <p:nvSpPr>
          <p:cNvPr id="21" name="Shape 19"/>
          <p:cNvSpPr/>
          <p:nvPr/>
        </p:nvSpPr>
        <p:spPr>
          <a:xfrm>
            <a:off x="3264408" y="2267712"/>
            <a:ext cx="548640" cy="548640"/>
          </a:xfrm>
          <a:prstGeom prst="ellipse">
            <a:avLst/>
          </a:prstGeom>
          <a:solidFill>
            <a:srgbClr val="2E75B6"/>
          </a:solidFill>
          <a:ln/>
        </p:spPr>
      </p:sp>
      <p:sp>
        <p:nvSpPr>
          <p:cNvPr id="22" name="Text 20"/>
          <p:cNvSpPr/>
          <p:nvPr/>
        </p:nvSpPr>
        <p:spPr>
          <a:xfrm>
            <a:off x="3264408" y="2267712"/>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rPr>
              <a:t>5</a:t>
            </a:r>
            <a:endParaRPr lang="en-US" sz="1800" dirty="0"/>
          </a:p>
        </p:txBody>
      </p:sp>
      <p:sp>
        <p:nvSpPr>
          <p:cNvPr id="23" name="Text 21"/>
          <p:cNvSpPr/>
          <p:nvPr/>
        </p:nvSpPr>
        <p:spPr>
          <a:xfrm>
            <a:off x="3904488" y="2331720"/>
            <a:ext cx="1828800" cy="457200"/>
          </a:xfrm>
          <a:prstGeom prst="rect">
            <a:avLst/>
          </a:prstGeom>
          <a:noFill/>
          <a:ln/>
        </p:spPr>
        <p:txBody>
          <a:bodyPr wrap="square" rtlCol="0" anchor="ctr"/>
          <a:lstStyle/>
          <a:p>
            <a:pPr marL="0" indent="0">
              <a:buNone/>
            </a:pPr>
            <a:r>
              <a:rPr lang="en-US" sz="1100" dirty="0">
                <a:solidFill>
                  <a:srgbClr val="1F4E79"/>
                </a:solidFill>
              </a:rPr>
              <a:t>Hors perimetre</a:t>
            </a:r>
            <a:endParaRPr lang="en-US" sz="1100" dirty="0"/>
          </a:p>
        </p:txBody>
      </p:sp>
      <p:sp>
        <p:nvSpPr>
          <p:cNvPr id="24" name="Shape 22"/>
          <p:cNvSpPr/>
          <p:nvPr/>
        </p:nvSpPr>
        <p:spPr>
          <a:xfrm>
            <a:off x="6035040" y="2103120"/>
            <a:ext cx="2697480" cy="914400"/>
          </a:xfrm>
          <a:prstGeom prst="roundRect">
            <a:avLst>
              <a:gd name="adj" fmla="val 10000"/>
            </a:avLst>
          </a:prstGeom>
          <a:solidFill>
            <a:srgbClr val="F2F6FA"/>
          </a:solidFill>
          <a:ln/>
          <a:effectLst>
            <a:outerShdw blurRad="101600" dist="38100" dir="2700000" algn="bl" rotWithShape="0">
              <a:srgbClr val="000000">
                <a:alpha val="12000"/>
              </a:srgbClr>
            </a:outerShdw>
          </a:effectLst>
        </p:spPr>
      </p:sp>
      <p:sp>
        <p:nvSpPr>
          <p:cNvPr id="25" name="Shape 23"/>
          <p:cNvSpPr/>
          <p:nvPr/>
        </p:nvSpPr>
        <p:spPr>
          <a:xfrm>
            <a:off x="6144768" y="2267712"/>
            <a:ext cx="548640" cy="548640"/>
          </a:xfrm>
          <a:prstGeom prst="ellipse">
            <a:avLst/>
          </a:prstGeom>
          <a:solidFill>
            <a:srgbClr val="028090"/>
          </a:solidFill>
          <a:ln/>
        </p:spPr>
      </p:sp>
      <p:sp>
        <p:nvSpPr>
          <p:cNvPr id="26" name="Text 24"/>
          <p:cNvSpPr/>
          <p:nvPr/>
        </p:nvSpPr>
        <p:spPr>
          <a:xfrm>
            <a:off x="6144768" y="2267712"/>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rPr>
              <a:t>5</a:t>
            </a:r>
            <a:endParaRPr lang="en-US" sz="1800" dirty="0"/>
          </a:p>
        </p:txBody>
      </p:sp>
      <p:sp>
        <p:nvSpPr>
          <p:cNvPr id="27" name="Text 25"/>
          <p:cNvSpPr/>
          <p:nvPr/>
        </p:nvSpPr>
        <p:spPr>
          <a:xfrm>
            <a:off x="6784848" y="2331720"/>
            <a:ext cx="1828800" cy="457200"/>
          </a:xfrm>
          <a:prstGeom prst="rect">
            <a:avLst/>
          </a:prstGeom>
          <a:noFill/>
          <a:ln/>
        </p:spPr>
        <p:txBody>
          <a:bodyPr wrap="square" rtlCol="0" anchor="ctr"/>
          <a:lstStyle/>
          <a:p>
            <a:pPr marL="0" indent="0">
              <a:buNone/>
            </a:pPr>
            <a:r>
              <a:rPr lang="en-US" sz="1100" dirty="0">
                <a:solidFill>
                  <a:srgbClr val="1F4E79"/>
                </a:solidFill>
              </a:rPr>
              <a:t>Sans correspondance</a:t>
            </a:r>
            <a:endParaRPr lang="en-US" sz="1100" dirty="0"/>
          </a:p>
        </p:txBody>
      </p:sp>
      <p:sp>
        <p:nvSpPr>
          <p:cNvPr id="28" name="Shape 26"/>
          <p:cNvSpPr/>
          <p:nvPr/>
        </p:nvSpPr>
        <p:spPr>
          <a:xfrm>
            <a:off x="274320" y="3246120"/>
            <a:ext cx="8595360" cy="1691640"/>
          </a:xfrm>
          <a:prstGeom prst="roundRect">
            <a:avLst>
              <a:gd name="adj" fmla="val 5405"/>
            </a:avLst>
          </a:prstGeom>
          <a:solidFill>
            <a:srgbClr val="F2F6FA"/>
          </a:solidFill>
          <a:ln/>
          <a:effectLst>
            <a:outerShdw blurRad="101600" dist="38100" dir="2700000" algn="bl" rotWithShape="0">
              <a:srgbClr val="000000">
                <a:alpha val="12000"/>
              </a:srgbClr>
            </a:outerShdw>
          </a:effectLst>
        </p:spPr>
      </p:sp>
      <p:sp>
        <p:nvSpPr>
          <p:cNvPr id="29" name="Text 27"/>
          <p:cNvSpPr/>
          <p:nvPr/>
        </p:nvSpPr>
        <p:spPr>
          <a:xfrm>
            <a:off x="457200" y="3337560"/>
            <a:ext cx="8229600" cy="320040"/>
          </a:xfrm>
          <a:prstGeom prst="rect">
            <a:avLst/>
          </a:prstGeom>
          <a:noFill/>
          <a:ln/>
        </p:spPr>
        <p:txBody>
          <a:bodyPr wrap="square" rtlCol="0" anchor="ctr"/>
          <a:lstStyle/>
          <a:p>
            <a:pPr marL="0" indent="0">
              <a:buNone/>
            </a:pPr>
            <a:r>
              <a:rPr lang="en-US" sz="1200" b="1" kern="0" spc="200" dirty="0">
                <a:solidFill>
                  <a:srgbClr val="1F4E79"/>
                </a:solidFill>
              </a:rPr>
              <a:t>METRIQUES RAGAS</a:t>
            </a:r>
            <a:endParaRPr lang="en-US" sz="1200" dirty="0"/>
          </a:p>
        </p:txBody>
      </p:sp>
      <p:sp>
        <p:nvSpPr>
          <p:cNvPr id="30" name="Shape 28"/>
          <p:cNvSpPr/>
          <p:nvPr/>
        </p:nvSpPr>
        <p:spPr>
          <a:xfrm>
            <a:off x="457200" y="3703320"/>
            <a:ext cx="1965960" cy="1097280"/>
          </a:xfrm>
          <a:prstGeom prst="roundRect">
            <a:avLst>
              <a:gd name="adj" fmla="val 6667"/>
            </a:avLst>
          </a:prstGeom>
          <a:solidFill>
            <a:srgbClr val="FFFFFF"/>
          </a:solidFill>
          <a:ln/>
        </p:spPr>
      </p:sp>
      <p:sp>
        <p:nvSpPr>
          <p:cNvPr id="31" name="Text 29"/>
          <p:cNvSpPr/>
          <p:nvPr/>
        </p:nvSpPr>
        <p:spPr>
          <a:xfrm>
            <a:off x="457200" y="3749040"/>
            <a:ext cx="1965960" cy="320040"/>
          </a:xfrm>
          <a:prstGeom prst="rect">
            <a:avLst/>
          </a:prstGeom>
          <a:noFill/>
          <a:ln/>
        </p:spPr>
        <p:txBody>
          <a:bodyPr wrap="square" rtlCol="0" anchor="ctr"/>
          <a:lstStyle/>
          <a:p>
            <a:pPr marL="0" indent="0" algn="ctr">
              <a:buNone/>
            </a:pPr>
            <a:r>
              <a:rPr lang="en-US" sz="1000" b="1" dirty="0">
                <a:solidFill>
                  <a:srgbClr val="2E75B6"/>
                </a:solidFill>
              </a:rPr>
              <a:t>faithfulness</a:t>
            </a:r>
            <a:endParaRPr lang="en-US" sz="1000" dirty="0"/>
          </a:p>
        </p:txBody>
      </p:sp>
      <p:sp>
        <p:nvSpPr>
          <p:cNvPr id="32" name="Text 30"/>
          <p:cNvSpPr/>
          <p:nvPr/>
        </p:nvSpPr>
        <p:spPr>
          <a:xfrm>
            <a:off x="457200" y="4096512"/>
            <a:ext cx="1965960" cy="411480"/>
          </a:xfrm>
          <a:prstGeom prst="rect">
            <a:avLst/>
          </a:prstGeom>
          <a:noFill/>
          <a:ln/>
        </p:spPr>
        <p:txBody>
          <a:bodyPr wrap="square" rtlCol="0" anchor="ctr"/>
          <a:lstStyle/>
          <a:p>
            <a:pPr marL="0" indent="0" algn="ctr">
              <a:buNone/>
            </a:pPr>
            <a:r>
              <a:rPr lang="en-US" sz="900" dirty="0">
                <a:solidFill>
                  <a:srgbClr val="5D6D7E"/>
                </a:solidFill>
              </a:rPr>
              <a:t>Reponse ancree dans le contexte ?</a:t>
            </a:r>
            <a:endParaRPr lang="en-US" sz="900" dirty="0"/>
          </a:p>
        </p:txBody>
      </p:sp>
      <p:sp>
        <p:nvSpPr>
          <p:cNvPr id="33" name="Text 31"/>
          <p:cNvSpPr/>
          <p:nvPr/>
        </p:nvSpPr>
        <p:spPr>
          <a:xfrm>
            <a:off x="457200" y="4544568"/>
            <a:ext cx="1965960" cy="228600"/>
          </a:xfrm>
          <a:prstGeom prst="rect">
            <a:avLst/>
          </a:prstGeom>
          <a:noFill/>
          <a:ln/>
        </p:spPr>
        <p:txBody>
          <a:bodyPr wrap="square" rtlCol="0" anchor="ctr"/>
          <a:lstStyle/>
          <a:p>
            <a:pPr marL="0" indent="0" algn="ctr">
              <a:buNone/>
            </a:pPr>
            <a:r>
              <a:rPr lang="en-US" sz="1000" b="1" dirty="0">
                <a:solidFill>
                  <a:srgbClr val="028090"/>
                </a:solidFill>
              </a:rPr>
              <a:t>&gt; 0,80</a:t>
            </a:r>
            <a:endParaRPr lang="en-US" sz="1000" dirty="0"/>
          </a:p>
        </p:txBody>
      </p:sp>
      <p:sp>
        <p:nvSpPr>
          <p:cNvPr id="34" name="Shape 32"/>
          <p:cNvSpPr/>
          <p:nvPr/>
        </p:nvSpPr>
        <p:spPr>
          <a:xfrm>
            <a:off x="2578608" y="3703320"/>
            <a:ext cx="1965960" cy="1097280"/>
          </a:xfrm>
          <a:prstGeom prst="roundRect">
            <a:avLst>
              <a:gd name="adj" fmla="val 6667"/>
            </a:avLst>
          </a:prstGeom>
          <a:solidFill>
            <a:srgbClr val="FFFFFF"/>
          </a:solidFill>
          <a:ln/>
        </p:spPr>
      </p:sp>
      <p:sp>
        <p:nvSpPr>
          <p:cNvPr id="35" name="Text 33"/>
          <p:cNvSpPr/>
          <p:nvPr/>
        </p:nvSpPr>
        <p:spPr>
          <a:xfrm>
            <a:off x="2578608" y="3749040"/>
            <a:ext cx="1965960" cy="320040"/>
          </a:xfrm>
          <a:prstGeom prst="rect">
            <a:avLst/>
          </a:prstGeom>
          <a:noFill/>
          <a:ln/>
        </p:spPr>
        <p:txBody>
          <a:bodyPr wrap="square" rtlCol="0" anchor="ctr"/>
          <a:lstStyle/>
          <a:p>
            <a:pPr marL="0" indent="0" algn="ctr">
              <a:buNone/>
            </a:pPr>
            <a:r>
              <a:rPr lang="en-US" sz="1000" b="1" dirty="0">
                <a:solidFill>
                  <a:srgbClr val="2E75B6"/>
                </a:solidFill>
              </a:rPr>
              <a:t>answer_relevancy</a:t>
            </a:r>
            <a:endParaRPr lang="en-US" sz="1000" dirty="0"/>
          </a:p>
        </p:txBody>
      </p:sp>
      <p:sp>
        <p:nvSpPr>
          <p:cNvPr id="36" name="Text 34"/>
          <p:cNvSpPr/>
          <p:nvPr/>
        </p:nvSpPr>
        <p:spPr>
          <a:xfrm>
            <a:off x="2578608" y="4096512"/>
            <a:ext cx="1965960" cy="411480"/>
          </a:xfrm>
          <a:prstGeom prst="rect">
            <a:avLst/>
          </a:prstGeom>
          <a:noFill/>
          <a:ln/>
        </p:spPr>
        <p:txBody>
          <a:bodyPr wrap="square" rtlCol="0" anchor="ctr"/>
          <a:lstStyle/>
          <a:p>
            <a:pPr marL="0" indent="0" algn="ctr">
              <a:buNone/>
            </a:pPr>
            <a:r>
              <a:rPr lang="en-US" sz="900" dirty="0">
                <a:solidFill>
                  <a:srgbClr val="5D6D7E"/>
                </a:solidFill>
              </a:rPr>
              <a:t>Reponse pertinente par rapport a la question ?</a:t>
            </a:r>
            <a:endParaRPr lang="en-US" sz="900" dirty="0"/>
          </a:p>
        </p:txBody>
      </p:sp>
      <p:sp>
        <p:nvSpPr>
          <p:cNvPr id="37" name="Text 35"/>
          <p:cNvSpPr/>
          <p:nvPr/>
        </p:nvSpPr>
        <p:spPr>
          <a:xfrm>
            <a:off x="2578608" y="4544568"/>
            <a:ext cx="1965960" cy="228600"/>
          </a:xfrm>
          <a:prstGeom prst="rect">
            <a:avLst/>
          </a:prstGeom>
          <a:noFill/>
          <a:ln/>
        </p:spPr>
        <p:txBody>
          <a:bodyPr wrap="square" rtlCol="0" anchor="ctr"/>
          <a:lstStyle/>
          <a:p>
            <a:pPr marL="0" indent="0" algn="ctr">
              <a:buNone/>
            </a:pPr>
            <a:r>
              <a:rPr lang="en-US" sz="1000" b="1" dirty="0">
                <a:solidFill>
                  <a:srgbClr val="028090"/>
                </a:solidFill>
              </a:rPr>
              <a:t>&gt; 0,75</a:t>
            </a:r>
            <a:endParaRPr lang="en-US" sz="1000" dirty="0"/>
          </a:p>
        </p:txBody>
      </p:sp>
      <p:sp>
        <p:nvSpPr>
          <p:cNvPr id="38" name="Shape 36"/>
          <p:cNvSpPr/>
          <p:nvPr/>
        </p:nvSpPr>
        <p:spPr>
          <a:xfrm>
            <a:off x="4700016" y="3703320"/>
            <a:ext cx="1965960" cy="1097280"/>
          </a:xfrm>
          <a:prstGeom prst="roundRect">
            <a:avLst>
              <a:gd name="adj" fmla="val 6667"/>
            </a:avLst>
          </a:prstGeom>
          <a:solidFill>
            <a:srgbClr val="FFFFFF"/>
          </a:solidFill>
          <a:ln/>
        </p:spPr>
      </p:sp>
      <p:sp>
        <p:nvSpPr>
          <p:cNvPr id="39" name="Text 37"/>
          <p:cNvSpPr/>
          <p:nvPr/>
        </p:nvSpPr>
        <p:spPr>
          <a:xfrm>
            <a:off x="4700016" y="3749040"/>
            <a:ext cx="1965960" cy="320040"/>
          </a:xfrm>
          <a:prstGeom prst="rect">
            <a:avLst/>
          </a:prstGeom>
          <a:noFill/>
          <a:ln/>
        </p:spPr>
        <p:txBody>
          <a:bodyPr wrap="square" rtlCol="0" anchor="ctr"/>
          <a:lstStyle/>
          <a:p>
            <a:pPr marL="0" indent="0" algn="ctr">
              <a:buNone/>
            </a:pPr>
            <a:r>
              <a:rPr lang="en-US" sz="1000" b="1" dirty="0">
                <a:solidFill>
                  <a:srgbClr val="2E75B6"/>
                </a:solidFill>
              </a:rPr>
              <a:t>context_precision</a:t>
            </a:r>
            <a:endParaRPr lang="en-US" sz="1000" dirty="0"/>
          </a:p>
        </p:txBody>
      </p:sp>
      <p:sp>
        <p:nvSpPr>
          <p:cNvPr id="40" name="Text 38"/>
          <p:cNvSpPr/>
          <p:nvPr/>
        </p:nvSpPr>
        <p:spPr>
          <a:xfrm>
            <a:off x="4700016" y="4096512"/>
            <a:ext cx="1965960" cy="411480"/>
          </a:xfrm>
          <a:prstGeom prst="rect">
            <a:avLst/>
          </a:prstGeom>
          <a:noFill/>
          <a:ln/>
        </p:spPr>
        <p:txBody>
          <a:bodyPr wrap="square" rtlCol="0" anchor="ctr"/>
          <a:lstStyle/>
          <a:p>
            <a:pPr marL="0" indent="0" algn="ctr">
              <a:buNone/>
            </a:pPr>
            <a:r>
              <a:rPr lang="en-US" sz="900" dirty="0">
                <a:solidFill>
                  <a:srgbClr val="5D6D7E"/>
                </a:solidFill>
              </a:rPr>
              <a:t>Chunks recuperes sans bruit ?</a:t>
            </a:r>
            <a:endParaRPr lang="en-US" sz="900" dirty="0"/>
          </a:p>
        </p:txBody>
      </p:sp>
      <p:sp>
        <p:nvSpPr>
          <p:cNvPr id="41" name="Text 39"/>
          <p:cNvSpPr/>
          <p:nvPr/>
        </p:nvSpPr>
        <p:spPr>
          <a:xfrm>
            <a:off x="4700016" y="4544568"/>
            <a:ext cx="1965960" cy="228600"/>
          </a:xfrm>
          <a:prstGeom prst="rect">
            <a:avLst/>
          </a:prstGeom>
          <a:noFill/>
          <a:ln/>
        </p:spPr>
        <p:txBody>
          <a:bodyPr wrap="square" rtlCol="0" anchor="ctr"/>
          <a:lstStyle/>
          <a:p>
            <a:pPr marL="0" indent="0" algn="ctr">
              <a:buNone/>
            </a:pPr>
            <a:r>
              <a:rPr lang="en-US" sz="1000" b="1" dirty="0">
                <a:solidFill>
                  <a:srgbClr val="028090"/>
                </a:solidFill>
              </a:rPr>
              <a:t>&gt; 0,70</a:t>
            </a:r>
            <a:endParaRPr lang="en-US" sz="1000" dirty="0"/>
          </a:p>
        </p:txBody>
      </p:sp>
      <p:sp>
        <p:nvSpPr>
          <p:cNvPr id="42" name="Shape 40"/>
          <p:cNvSpPr/>
          <p:nvPr/>
        </p:nvSpPr>
        <p:spPr>
          <a:xfrm>
            <a:off x="6821424" y="3703320"/>
            <a:ext cx="1965960" cy="1097280"/>
          </a:xfrm>
          <a:prstGeom prst="roundRect">
            <a:avLst>
              <a:gd name="adj" fmla="val 6667"/>
            </a:avLst>
          </a:prstGeom>
          <a:solidFill>
            <a:srgbClr val="FFFFFF"/>
          </a:solidFill>
          <a:ln/>
        </p:spPr>
      </p:sp>
      <p:sp>
        <p:nvSpPr>
          <p:cNvPr id="43" name="Text 41"/>
          <p:cNvSpPr/>
          <p:nvPr/>
        </p:nvSpPr>
        <p:spPr>
          <a:xfrm>
            <a:off x="6821424" y="3749040"/>
            <a:ext cx="1965960" cy="320040"/>
          </a:xfrm>
          <a:prstGeom prst="rect">
            <a:avLst/>
          </a:prstGeom>
          <a:noFill/>
          <a:ln/>
        </p:spPr>
        <p:txBody>
          <a:bodyPr wrap="square" rtlCol="0" anchor="ctr"/>
          <a:lstStyle/>
          <a:p>
            <a:pPr marL="0" indent="0" algn="ctr">
              <a:buNone/>
            </a:pPr>
            <a:r>
              <a:rPr lang="en-US" sz="1000" b="1" dirty="0">
                <a:solidFill>
                  <a:srgbClr val="2E75B6"/>
                </a:solidFill>
              </a:rPr>
              <a:t>context_recall</a:t>
            </a:r>
            <a:endParaRPr lang="en-US" sz="1000" dirty="0"/>
          </a:p>
        </p:txBody>
      </p:sp>
      <p:sp>
        <p:nvSpPr>
          <p:cNvPr id="44" name="Text 42"/>
          <p:cNvSpPr/>
          <p:nvPr/>
        </p:nvSpPr>
        <p:spPr>
          <a:xfrm>
            <a:off x="6821424" y="4096512"/>
            <a:ext cx="1965960" cy="411480"/>
          </a:xfrm>
          <a:prstGeom prst="rect">
            <a:avLst/>
          </a:prstGeom>
          <a:noFill/>
          <a:ln/>
        </p:spPr>
        <p:txBody>
          <a:bodyPr wrap="square" rtlCol="0" anchor="ctr"/>
          <a:lstStyle/>
          <a:p>
            <a:pPr marL="0" indent="0" algn="ctr">
              <a:buNone/>
            </a:pPr>
            <a:r>
              <a:rPr lang="en-US" sz="900" dirty="0">
                <a:solidFill>
                  <a:srgbClr val="5D6D7E"/>
                </a:solidFill>
              </a:rPr>
              <a:t>Toutes les infos necessaires recuperees ?</a:t>
            </a:r>
            <a:endParaRPr lang="en-US" sz="900" dirty="0"/>
          </a:p>
        </p:txBody>
      </p:sp>
      <p:sp>
        <p:nvSpPr>
          <p:cNvPr id="45" name="Text 43"/>
          <p:cNvSpPr/>
          <p:nvPr/>
        </p:nvSpPr>
        <p:spPr>
          <a:xfrm>
            <a:off x="6821424" y="4544568"/>
            <a:ext cx="1965960" cy="228600"/>
          </a:xfrm>
          <a:prstGeom prst="rect">
            <a:avLst/>
          </a:prstGeom>
          <a:noFill/>
          <a:ln/>
        </p:spPr>
        <p:txBody>
          <a:bodyPr wrap="square" rtlCol="0" anchor="ctr"/>
          <a:lstStyle/>
          <a:p>
            <a:pPr marL="0" indent="0" algn="ctr">
              <a:buNone/>
            </a:pPr>
            <a:r>
              <a:rPr lang="en-US" sz="1000" b="1" dirty="0">
                <a:solidFill>
                  <a:srgbClr val="028090"/>
                </a:solidFill>
              </a:rPr>
              <a:t>&gt; 0,70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F4E79"/>
          </a:solidFill>
          <a:ln/>
        </p:spPr>
      </p:sp>
      <p:sp>
        <p:nvSpPr>
          <p:cNvPr id="3" name="Text 1"/>
          <p:cNvSpPr/>
          <p:nvPr/>
        </p:nvSpPr>
        <p:spPr>
          <a:xfrm>
            <a:off x="365760" y="0"/>
            <a:ext cx="8412480" cy="914400"/>
          </a:xfrm>
          <a:prstGeom prst="rect">
            <a:avLst/>
          </a:prstGeom>
          <a:noFill/>
          <a:ln/>
        </p:spPr>
        <p:txBody>
          <a:bodyPr wrap="square" rtlCol="0" anchor="ctr"/>
          <a:lstStyle/>
          <a:p>
            <a:pPr marL="0" indent="0">
              <a:buNone/>
            </a:pPr>
            <a:r>
              <a:rPr lang="en-US" sz="2000" b="1" dirty="0">
                <a:solidFill>
                  <a:srgbClr val="FFFFFF"/>
                </a:solidFill>
              </a:rPr>
              <a:t>LIMITES DU POC  &amp;  RECOMMANDATIONS PRODUCTION</a:t>
            </a:r>
            <a:endParaRPr lang="en-US" sz="2000" dirty="0"/>
          </a:p>
        </p:txBody>
      </p:sp>
      <p:sp>
        <p:nvSpPr>
          <p:cNvPr id="4" name="Shape 2"/>
          <p:cNvSpPr/>
          <p:nvPr/>
        </p:nvSpPr>
        <p:spPr>
          <a:xfrm>
            <a:off x="274320" y="1005840"/>
            <a:ext cx="4023360" cy="3931920"/>
          </a:xfrm>
          <a:prstGeom prst="roundRect">
            <a:avLst>
              <a:gd name="adj" fmla="val 2791"/>
            </a:avLst>
          </a:prstGeom>
          <a:solidFill>
            <a:srgbClr val="F2F6FA"/>
          </a:solidFill>
          <a:ln/>
          <a:effectLst>
            <a:outerShdw blurRad="101600" dist="38100" dir="2700000" algn="bl" rotWithShape="0">
              <a:srgbClr val="000000">
                <a:alpha val="12000"/>
              </a:srgbClr>
            </a:outerShdw>
          </a:effectLst>
        </p:spPr>
      </p:sp>
      <p:sp>
        <p:nvSpPr>
          <p:cNvPr id="5" name="Text 3"/>
          <p:cNvSpPr/>
          <p:nvPr/>
        </p:nvSpPr>
        <p:spPr>
          <a:xfrm>
            <a:off x="457200" y="1097280"/>
            <a:ext cx="3657600" cy="411480"/>
          </a:xfrm>
          <a:prstGeom prst="rect">
            <a:avLst/>
          </a:prstGeom>
          <a:noFill/>
          <a:ln/>
        </p:spPr>
        <p:txBody>
          <a:bodyPr wrap="square" rtlCol="0" anchor="ctr"/>
          <a:lstStyle/>
          <a:p>
            <a:pPr marL="0" indent="0">
              <a:buNone/>
            </a:pPr>
            <a:r>
              <a:rPr lang="en-US" sz="1400" b="1" dirty="0">
                <a:solidFill>
                  <a:srgbClr val="1F4E79"/>
                </a:solidFill>
              </a:rPr>
              <a:t>Limites actuelles</a:t>
            </a:r>
            <a:endParaRPr lang="en-US" sz="1400" dirty="0"/>
          </a:p>
        </p:txBody>
      </p:sp>
      <p:sp>
        <p:nvSpPr>
          <p:cNvPr id="6" name="Text 4"/>
          <p:cNvSpPr/>
          <p:nvPr/>
        </p:nvSpPr>
        <p:spPr>
          <a:xfrm>
            <a:off x="457200" y="1554480"/>
            <a:ext cx="3657600" cy="3200400"/>
          </a:xfrm>
          <a:prstGeom prst="rect">
            <a:avLst/>
          </a:prstGeom>
          <a:noFill/>
          <a:ln/>
        </p:spPr>
        <p:txBody>
          <a:bodyPr wrap="square" rtlCol="0" anchor="ctr"/>
          <a:lstStyle/>
          <a:p>
            <a:pPr marL="342900" indent="-342900">
              <a:buSzPct val="100000"/>
              <a:buChar char="•"/>
            </a:pPr>
            <a:r>
              <a:rPr lang="en-US" sz="1100" dirty="0">
                <a:solidFill>
                  <a:srgbClr val="5D6D7E"/>
                </a:solidFill>
              </a:rPr>
              <a:t>Source unique (un seul agenda Open Agenda)</a:t>
            </a:r>
            <a:endParaRPr lang="en-US" sz="1100" dirty="0"/>
          </a:p>
          <a:p>
            <a:pPr marL="342900" indent="-342900">
              <a:buSzPct val="100000"/>
              <a:buChar char="•"/>
            </a:pPr>
            <a:r>
              <a:rPr lang="en-US" sz="1100" dirty="0">
                <a:solidFill>
                  <a:srgbClr val="5D6D7E"/>
                </a:solidFill>
              </a:rPr>
              <a:t>Pipeline manuel, pas de rafraichissement programme</a:t>
            </a:r>
            <a:endParaRPr lang="en-US" sz="1100" dirty="0"/>
          </a:p>
          <a:p>
            <a:pPr marL="342900" indent="-342900">
              <a:buSzPct val="100000"/>
              <a:buChar char="•"/>
            </a:pPr>
            <a:r>
              <a:rPr lang="en-US" sz="1100" dirty="0">
                <a:solidFill>
                  <a:srgbClr val="5D6D7E"/>
                </a:solidFill>
              </a:rPr>
              <a:t>Embedding 1 740 evenements : 17 min (niveau gratuit)</a:t>
            </a:r>
            <a:endParaRPr lang="en-US" sz="1100" dirty="0"/>
          </a:p>
          <a:p>
            <a:pPr marL="342900" indent="-342900">
              <a:buSzPct val="100000"/>
              <a:buChar char="•"/>
            </a:pPr>
            <a:r>
              <a:rPr lang="en-US" sz="1100" dirty="0">
                <a:solidFill>
                  <a:srgbClr val="5D6D7E"/>
                </a:solidFill>
              </a:rPr>
              <a:t>FAISS IndexFlatL2 : non scalable au-dela de 100k vecteurs</a:t>
            </a:r>
            <a:endParaRPr lang="en-US" sz="1100" dirty="0"/>
          </a:p>
          <a:p>
            <a:pPr marL="342900" indent="-342900">
              <a:buSzPct val="100000"/>
              <a:buChar char="•"/>
            </a:pPr>
            <a:r>
              <a:rPr lang="en-US" sz="1100" dirty="0">
                <a:solidFill>
                  <a:srgbClr val="5D6D7E"/>
                </a:solidFill>
              </a:rPr>
              <a:t>Pas d'historique conversationnel dans le contexte RAG</a:t>
            </a:r>
            <a:endParaRPr lang="en-US" sz="1100" dirty="0"/>
          </a:p>
          <a:p>
            <a:pPr marL="342900" indent="-342900">
              <a:buSzPct val="100000"/>
              <a:buChar char="•"/>
            </a:pPr>
            <a:r>
              <a:rPr lang="en-US" sz="1100" dirty="0">
                <a:solidFill>
                  <a:srgbClr val="5D6D7E"/>
                </a:solidFill>
              </a:rPr>
              <a:t>Base de connaissances statique entre les reconstructions</a:t>
            </a:r>
            <a:endParaRPr lang="en-US" sz="1100" dirty="0"/>
          </a:p>
        </p:txBody>
      </p:sp>
      <p:sp>
        <p:nvSpPr>
          <p:cNvPr id="7" name="Shape 5"/>
          <p:cNvSpPr/>
          <p:nvPr/>
        </p:nvSpPr>
        <p:spPr>
          <a:xfrm>
            <a:off x="4846320" y="1005840"/>
            <a:ext cx="4023360" cy="3931920"/>
          </a:xfrm>
          <a:prstGeom prst="roundRect">
            <a:avLst>
              <a:gd name="adj" fmla="val 2791"/>
            </a:avLst>
          </a:prstGeom>
          <a:solidFill>
            <a:srgbClr val="F2F6FA"/>
          </a:solidFill>
          <a:ln/>
          <a:effectLst>
            <a:outerShdw blurRad="101600" dist="38100" dir="2700000" algn="bl" rotWithShape="0">
              <a:srgbClr val="000000">
                <a:alpha val="12000"/>
              </a:srgbClr>
            </a:outerShdw>
          </a:effectLst>
        </p:spPr>
      </p:sp>
      <p:sp>
        <p:nvSpPr>
          <p:cNvPr id="8" name="Text 6"/>
          <p:cNvSpPr/>
          <p:nvPr/>
        </p:nvSpPr>
        <p:spPr>
          <a:xfrm>
            <a:off x="5029200" y="1097280"/>
            <a:ext cx="3657600" cy="411480"/>
          </a:xfrm>
          <a:prstGeom prst="rect">
            <a:avLst/>
          </a:prstGeom>
          <a:noFill/>
          <a:ln/>
        </p:spPr>
        <p:txBody>
          <a:bodyPr wrap="square" rtlCol="0" anchor="ctr"/>
          <a:lstStyle/>
          <a:p>
            <a:pPr marL="0" indent="0">
              <a:buNone/>
            </a:pPr>
            <a:r>
              <a:rPr lang="en-US" sz="1400" b="1" dirty="0">
                <a:solidFill>
                  <a:srgbClr val="028090"/>
                </a:solidFill>
              </a:rPr>
              <a:t>Pour la production</a:t>
            </a:r>
            <a:endParaRPr lang="en-US" sz="1400" dirty="0"/>
          </a:p>
        </p:txBody>
      </p:sp>
      <p:sp>
        <p:nvSpPr>
          <p:cNvPr id="9" name="Text 7"/>
          <p:cNvSpPr/>
          <p:nvPr/>
        </p:nvSpPr>
        <p:spPr>
          <a:xfrm>
            <a:off x="5029200" y="1554480"/>
            <a:ext cx="3657600" cy="3200400"/>
          </a:xfrm>
          <a:prstGeom prst="rect">
            <a:avLst/>
          </a:prstGeom>
          <a:noFill/>
          <a:ln/>
        </p:spPr>
        <p:txBody>
          <a:bodyPr wrap="square" rtlCol="0" anchor="ctr"/>
          <a:lstStyle/>
          <a:p>
            <a:pPr marL="342900" indent="-342900">
              <a:buSzPct val="100000"/>
              <a:buChar char="•"/>
            </a:pPr>
            <a:r>
              <a:rPr lang="en-US" sz="1100" dirty="0">
                <a:solidFill>
                  <a:srgbClr val="5D6D7E"/>
                </a:solidFill>
              </a:rPr>
              <a:t>Pipeline programme (Airflow ou Kestra) : refresh quotidien</a:t>
            </a:r>
            <a:endParaRPr lang="en-US" sz="1100" dirty="0"/>
          </a:p>
          <a:p>
            <a:pPr marL="342900" indent="-342900">
              <a:buSzPct val="100000"/>
              <a:buChar char="•"/>
            </a:pPr>
            <a:r>
              <a:rPr lang="en-US" sz="1100" dirty="0">
                <a:solidFill>
                  <a:srgbClr val="5D6D7E"/>
                </a:solidFill>
              </a:rPr>
              <a:t>Base vectorielle geree (Pinecone, Qdrant) : persistance et filtrage</a:t>
            </a:r>
            <a:endParaRPr lang="en-US" sz="1100" dirty="0"/>
          </a:p>
          <a:p>
            <a:pPr marL="342900" indent="-342900">
              <a:buSzPct val="100000"/>
              <a:buChar char="•"/>
            </a:pPr>
            <a:r>
              <a:rPr lang="en-US" sz="1100" dirty="0">
                <a:solidFill>
                  <a:srgbClr val="5D6D7E"/>
                </a:solidFill>
              </a:rPr>
              <a:t>Niveau payant Mistral : elimination des limites de debit</a:t>
            </a:r>
            <a:endParaRPr lang="en-US" sz="1100" dirty="0"/>
          </a:p>
          <a:p>
            <a:pPr marL="342900" indent="-342900">
              <a:buSzPct val="100000"/>
              <a:buChar char="•"/>
            </a:pPr>
            <a:r>
              <a:rPr lang="en-US" sz="1100" dirty="0">
                <a:solidFill>
                  <a:srgbClr val="5D6D7E"/>
                </a:solidFill>
              </a:rPr>
              <a:t>Agregation multi-agendas : musees, theatres, mairies</a:t>
            </a:r>
            <a:endParaRPr lang="en-US" sz="1100" dirty="0"/>
          </a:p>
          <a:p>
            <a:pPr marL="342900" indent="-342900">
              <a:buSzPct val="100000"/>
              <a:buChar char="•"/>
            </a:pPr>
            <a:r>
              <a:rPr lang="en-US" sz="1100" dirty="0">
                <a:solidFill>
                  <a:srgbClr val="5D6D7E"/>
                </a:solidFill>
              </a:rPr>
              <a:t>Indexation incrementale : re-embedding des seuls nouveaux evenements</a:t>
            </a:r>
            <a:endParaRPr lang="en-US" sz="1100" dirty="0"/>
          </a:p>
          <a:p>
            <a:pPr marL="342900" indent="-342900">
              <a:buSzPct val="100000"/>
              <a:buChar char="•"/>
            </a:pPr>
            <a:r>
              <a:rPr lang="en-US" sz="1100" dirty="0">
                <a:solidFill>
                  <a:srgbClr val="5D6D7E"/>
                </a:solidFill>
              </a:rPr>
              <a:t>Monitoring : taux de refus, age de l'index, retours utilisateurs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1F4E79"/>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F4E79"/>
          </a:solidFill>
          <a:ln/>
        </p:spPr>
      </p:sp>
      <p:sp>
        <p:nvSpPr>
          <p:cNvPr id="3" name="Text 1"/>
          <p:cNvSpPr/>
          <p:nvPr/>
        </p:nvSpPr>
        <p:spPr>
          <a:xfrm>
            <a:off x="457200" y="365760"/>
            <a:ext cx="8229600" cy="548640"/>
          </a:xfrm>
          <a:prstGeom prst="rect">
            <a:avLst/>
          </a:prstGeom>
          <a:noFill/>
          <a:ln/>
        </p:spPr>
        <p:txBody>
          <a:bodyPr wrap="square" rtlCol="0" anchor="ctr"/>
          <a:lstStyle/>
          <a:p>
            <a:pPr marL="0" indent="0" algn="ctr">
              <a:buNone/>
            </a:pPr>
            <a:r>
              <a:rPr lang="en-US" sz="1300" b="1" kern="0" spc="400" dirty="0">
                <a:solidFill>
                  <a:srgbClr val="F39C12"/>
                </a:solidFill>
              </a:rPr>
              <a:t>BILAN &amp; PROCHAINES ETAPES</a:t>
            </a:r>
            <a:endParaRPr lang="en-US" sz="1300" dirty="0"/>
          </a:p>
        </p:txBody>
      </p:sp>
      <p:sp>
        <p:nvSpPr>
          <p:cNvPr id="4" name="Shape 2"/>
          <p:cNvSpPr/>
          <p:nvPr/>
        </p:nvSpPr>
        <p:spPr>
          <a:xfrm>
            <a:off x="365760" y="1097280"/>
            <a:ext cx="411480" cy="411480"/>
          </a:xfrm>
          <a:prstGeom prst="ellipse">
            <a:avLst/>
          </a:prstGeom>
          <a:solidFill>
            <a:srgbClr val="028090"/>
          </a:solidFill>
          <a:ln/>
        </p:spPr>
      </p:sp>
      <p:sp>
        <p:nvSpPr>
          <p:cNvPr id="5" name="Text 3"/>
          <p:cNvSpPr/>
          <p:nvPr/>
        </p:nvSpPr>
        <p:spPr>
          <a:xfrm>
            <a:off x="365760" y="109728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rPr>
              <a:t>✓</a:t>
            </a:r>
            <a:endParaRPr lang="en-US" sz="1400" dirty="0"/>
          </a:p>
        </p:txBody>
      </p:sp>
      <p:sp>
        <p:nvSpPr>
          <p:cNvPr id="6" name="Text 4"/>
          <p:cNvSpPr/>
          <p:nvPr/>
        </p:nvSpPr>
        <p:spPr>
          <a:xfrm>
            <a:off x="914400" y="1051560"/>
            <a:ext cx="7955280" cy="502920"/>
          </a:xfrm>
          <a:prstGeom prst="rect">
            <a:avLst/>
          </a:prstGeom>
          <a:noFill/>
          <a:ln/>
        </p:spPr>
        <p:txBody>
          <a:bodyPr wrap="square" rtlCol="0" anchor="ctr"/>
          <a:lstStyle/>
          <a:p>
            <a:pPr marL="0" indent="0">
              <a:buNone/>
            </a:pPr>
            <a:r>
              <a:rPr lang="en-US" sz="1300" dirty="0">
                <a:solidFill>
                  <a:srgbClr val="FFFFFF"/>
                </a:solidFill>
              </a:rPr>
              <a:t>Architecture RAG validee pour la recommandation d'evenements culturels</a:t>
            </a:r>
            <a:endParaRPr lang="en-US" sz="1300" dirty="0"/>
          </a:p>
        </p:txBody>
      </p:sp>
      <p:sp>
        <p:nvSpPr>
          <p:cNvPr id="7" name="Shape 5"/>
          <p:cNvSpPr/>
          <p:nvPr/>
        </p:nvSpPr>
        <p:spPr>
          <a:xfrm>
            <a:off x="365760" y="1719072"/>
            <a:ext cx="411480" cy="411480"/>
          </a:xfrm>
          <a:prstGeom prst="ellipse">
            <a:avLst/>
          </a:prstGeom>
          <a:solidFill>
            <a:srgbClr val="028090"/>
          </a:solidFill>
          <a:ln/>
        </p:spPr>
      </p:sp>
      <p:sp>
        <p:nvSpPr>
          <p:cNvPr id="8" name="Text 6"/>
          <p:cNvSpPr/>
          <p:nvPr/>
        </p:nvSpPr>
        <p:spPr>
          <a:xfrm>
            <a:off x="365760" y="1719072"/>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rPr>
              <a:t>✓</a:t>
            </a:r>
            <a:endParaRPr lang="en-US" sz="1400" dirty="0"/>
          </a:p>
        </p:txBody>
      </p:sp>
      <p:sp>
        <p:nvSpPr>
          <p:cNvPr id="9" name="Text 7"/>
          <p:cNvSpPr/>
          <p:nvPr/>
        </p:nvSpPr>
        <p:spPr>
          <a:xfrm>
            <a:off x="914400" y="1673352"/>
            <a:ext cx="7955280" cy="502920"/>
          </a:xfrm>
          <a:prstGeom prst="rect">
            <a:avLst/>
          </a:prstGeom>
          <a:noFill/>
          <a:ln/>
        </p:spPr>
        <p:txBody>
          <a:bodyPr wrap="square" rtlCol="0" anchor="ctr"/>
          <a:lstStyle/>
          <a:p>
            <a:pPr marL="0" indent="0">
              <a:buNone/>
            </a:pPr>
            <a:r>
              <a:rPr lang="en-US" sz="1300" dirty="0">
                <a:solidFill>
                  <a:srgbClr val="FFFFFF"/>
                </a:solidFill>
              </a:rPr>
              <a:t>1 740 evenements parisiens indexes et interrogeables semantiquement</a:t>
            </a:r>
            <a:endParaRPr lang="en-US" sz="1300" dirty="0"/>
          </a:p>
        </p:txBody>
      </p:sp>
      <p:sp>
        <p:nvSpPr>
          <p:cNvPr id="10" name="Shape 8"/>
          <p:cNvSpPr/>
          <p:nvPr/>
        </p:nvSpPr>
        <p:spPr>
          <a:xfrm>
            <a:off x="365760" y="2340864"/>
            <a:ext cx="411480" cy="411480"/>
          </a:xfrm>
          <a:prstGeom prst="ellipse">
            <a:avLst/>
          </a:prstGeom>
          <a:solidFill>
            <a:srgbClr val="028090"/>
          </a:solidFill>
          <a:ln/>
        </p:spPr>
      </p:sp>
      <p:sp>
        <p:nvSpPr>
          <p:cNvPr id="11" name="Text 9"/>
          <p:cNvSpPr/>
          <p:nvPr/>
        </p:nvSpPr>
        <p:spPr>
          <a:xfrm>
            <a:off x="365760" y="2340864"/>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rPr>
              <a:t>✓</a:t>
            </a:r>
            <a:endParaRPr lang="en-US" sz="1400" dirty="0"/>
          </a:p>
        </p:txBody>
      </p:sp>
      <p:sp>
        <p:nvSpPr>
          <p:cNvPr id="12" name="Text 10"/>
          <p:cNvSpPr/>
          <p:nvPr/>
        </p:nvSpPr>
        <p:spPr>
          <a:xfrm>
            <a:off x="914400" y="2295144"/>
            <a:ext cx="7955280" cy="502920"/>
          </a:xfrm>
          <a:prstGeom prst="rect">
            <a:avLst/>
          </a:prstGeom>
          <a:noFill/>
          <a:ln/>
        </p:spPr>
        <p:txBody>
          <a:bodyPr wrap="square" rtlCol="0" anchor="ctr"/>
          <a:lstStyle/>
          <a:p>
            <a:pPr marL="0" indent="0">
              <a:buNone/>
            </a:pPr>
            <a:r>
              <a:rPr lang="en-US" sz="1300" dirty="0">
                <a:solidFill>
                  <a:srgbClr val="FFFFFF"/>
                </a:solidFill>
              </a:rPr>
              <a:t>Zero hallucination confirmee sur tous les types de requetes testes</a:t>
            </a:r>
            <a:endParaRPr lang="en-US" sz="1300" dirty="0"/>
          </a:p>
        </p:txBody>
      </p:sp>
      <p:sp>
        <p:nvSpPr>
          <p:cNvPr id="13" name="Shape 11"/>
          <p:cNvSpPr/>
          <p:nvPr/>
        </p:nvSpPr>
        <p:spPr>
          <a:xfrm>
            <a:off x="365760" y="2962656"/>
            <a:ext cx="411480" cy="411480"/>
          </a:xfrm>
          <a:prstGeom prst="ellipse">
            <a:avLst/>
          </a:prstGeom>
          <a:solidFill>
            <a:srgbClr val="028090"/>
          </a:solidFill>
          <a:ln/>
        </p:spPr>
      </p:sp>
      <p:sp>
        <p:nvSpPr>
          <p:cNvPr id="14" name="Text 12"/>
          <p:cNvSpPr/>
          <p:nvPr/>
        </p:nvSpPr>
        <p:spPr>
          <a:xfrm>
            <a:off x="365760" y="2962656"/>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rPr>
              <a:t>✓</a:t>
            </a:r>
            <a:endParaRPr lang="en-US" sz="1400" dirty="0"/>
          </a:p>
        </p:txBody>
      </p:sp>
      <p:sp>
        <p:nvSpPr>
          <p:cNvPr id="15" name="Text 13"/>
          <p:cNvSpPr/>
          <p:nvPr/>
        </p:nvSpPr>
        <p:spPr>
          <a:xfrm>
            <a:off x="914400" y="2916936"/>
            <a:ext cx="7955280" cy="502920"/>
          </a:xfrm>
          <a:prstGeom prst="rect">
            <a:avLst/>
          </a:prstGeom>
          <a:noFill/>
          <a:ln/>
        </p:spPr>
        <p:txBody>
          <a:bodyPr wrap="square" rtlCol="0" anchor="ctr"/>
          <a:lstStyle/>
          <a:p>
            <a:pPr marL="0" indent="0">
              <a:buNone/>
            </a:pPr>
            <a:r>
              <a:rPr lang="en-US" sz="1300" dirty="0">
                <a:solidFill>
                  <a:srgbClr val="FFFFFF"/>
                </a:solidFill>
              </a:rPr>
              <a:t>24 / 24 tests unitaires passes, pipeline reproductible en une commande</a:t>
            </a:r>
            <a:endParaRPr lang="en-US" sz="1300" dirty="0"/>
          </a:p>
        </p:txBody>
      </p:sp>
      <p:sp>
        <p:nvSpPr>
          <p:cNvPr id="16" name="Shape 14"/>
          <p:cNvSpPr/>
          <p:nvPr/>
        </p:nvSpPr>
        <p:spPr>
          <a:xfrm>
            <a:off x="365760" y="3584448"/>
            <a:ext cx="411480" cy="411480"/>
          </a:xfrm>
          <a:prstGeom prst="ellipse">
            <a:avLst/>
          </a:prstGeom>
          <a:solidFill>
            <a:srgbClr val="028090"/>
          </a:solidFill>
          <a:ln/>
        </p:spPr>
      </p:sp>
      <p:sp>
        <p:nvSpPr>
          <p:cNvPr id="17" name="Text 15"/>
          <p:cNvSpPr/>
          <p:nvPr/>
        </p:nvSpPr>
        <p:spPr>
          <a:xfrm>
            <a:off x="365760" y="3584448"/>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rPr>
              <a:t>✓</a:t>
            </a:r>
            <a:endParaRPr lang="en-US" sz="1400" dirty="0"/>
          </a:p>
        </p:txBody>
      </p:sp>
      <p:sp>
        <p:nvSpPr>
          <p:cNvPr id="18" name="Text 16"/>
          <p:cNvSpPr/>
          <p:nvPr/>
        </p:nvSpPr>
        <p:spPr>
          <a:xfrm>
            <a:off x="914400" y="3538728"/>
            <a:ext cx="7955280" cy="502920"/>
          </a:xfrm>
          <a:prstGeom prst="rect">
            <a:avLst/>
          </a:prstGeom>
          <a:noFill/>
          <a:ln/>
        </p:spPr>
        <p:txBody>
          <a:bodyPr wrap="square" rtlCol="0" anchor="ctr"/>
          <a:lstStyle/>
          <a:p>
            <a:pPr marL="0" indent="0">
              <a:buNone/>
            </a:pPr>
            <a:r>
              <a:rPr lang="en-US" sz="1300" dirty="0">
                <a:solidFill>
                  <a:srgbClr val="FFFFFF"/>
                </a:solidFill>
              </a:rPr>
              <a:t>Jeu de test annote de 30 questions, evaluation RAGAS executee</a:t>
            </a:r>
            <a:endParaRPr lang="en-US" sz="1300" dirty="0"/>
          </a:p>
        </p:txBody>
      </p:sp>
      <p:sp>
        <p:nvSpPr>
          <p:cNvPr id="19" name="Shape 17"/>
          <p:cNvSpPr/>
          <p:nvPr/>
        </p:nvSpPr>
        <p:spPr>
          <a:xfrm>
            <a:off x="1371600" y="4297680"/>
            <a:ext cx="6400800" cy="640080"/>
          </a:xfrm>
          <a:prstGeom prst="roundRect">
            <a:avLst>
              <a:gd name="adj" fmla="val 17143"/>
            </a:avLst>
          </a:prstGeom>
          <a:solidFill>
            <a:srgbClr val="028090"/>
          </a:solidFill>
          <a:ln/>
        </p:spPr>
      </p:sp>
      <p:sp>
        <p:nvSpPr>
          <p:cNvPr id="20" name="Text 18"/>
          <p:cNvSpPr/>
          <p:nvPr/>
        </p:nvSpPr>
        <p:spPr>
          <a:xfrm>
            <a:off x="1371600" y="4297680"/>
            <a:ext cx="6400800" cy="640080"/>
          </a:xfrm>
          <a:prstGeom prst="rect">
            <a:avLst/>
          </a:prstGeom>
          <a:noFill/>
          <a:ln/>
        </p:spPr>
        <p:txBody>
          <a:bodyPr wrap="square" rtlCol="0" anchor="ctr"/>
          <a:lstStyle/>
          <a:p>
            <a:pPr marL="0" indent="0" algn="ctr">
              <a:buNone/>
            </a:pPr>
            <a:r>
              <a:rPr lang="en-US" sz="1300" b="1" dirty="0">
                <a:solidFill>
                  <a:srgbClr val="FFFFFF"/>
                </a:solidFill>
              </a:rPr>
              <a:t>Recommandation : proceder a la planification du deploiement en production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1F4E79"/>
        </a:solidFill>
        <a:effectLst/>
      </p:bgPr>
    </p:bg>
    <p:spTree>
      <p:nvGrpSpPr>
        <p:cNvPr id="1" name=""/>
        <p:cNvGrpSpPr/>
        <p:nvPr/>
      </p:nvGrpSpPr>
      <p:grpSpPr>
        <a:xfrm>
          <a:off x="0" y="0"/>
          <a:ext cx="0" cy="0"/>
          <a:chOff x="0" y="0"/>
          <a:chExt cx="0" cy="0"/>
        </a:xfrm>
      </p:grpSpPr>
      <p:sp>
        <p:nvSpPr>
          <p:cNvPr id="2" name="Shape 0"/>
          <p:cNvSpPr/>
          <p:nvPr/>
        </p:nvSpPr>
        <p:spPr>
          <a:xfrm>
            <a:off x="3200400" y="548640"/>
            <a:ext cx="2743200" cy="2743200"/>
          </a:xfrm>
          <a:prstGeom prst="ellipse">
            <a:avLst/>
          </a:prstGeom>
          <a:solidFill>
            <a:srgbClr val="2E75B6"/>
          </a:solidFill>
          <a:ln/>
        </p:spPr>
      </p:sp>
      <p:sp>
        <p:nvSpPr>
          <p:cNvPr id="3" name="Text 1"/>
          <p:cNvSpPr/>
          <p:nvPr/>
        </p:nvSpPr>
        <p:spPr>
          <a:xfrm>
            <a:off x="3200400" y="548640"/>
            <a:ext cx="2743200" cy="2743200"/>
          </a:xfrm>
          <a:prstGeom prst="rect">
            <a:avLst/>
          </a:prstGeom>
          <a:noFill/>
          <a:ln/>
        </p:spPr>
        <p:txBody>
          <a:bodyPr wrap="square" lIns="0" tIns="0" rIns="0" bIns="0" rtlCol="0" anchor="ctr"/>
          <a:lstStyle/>
          <a:p>
            <a:pPr marL="0" indent="0" algn="ctr">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4" name="Text 2"/>
          <p:cNvSpPr/>
          <p:nvPr/>
        </p:nvSpPr>
        <p:spPr>
          <a:xfrm>
            <a:off x="457200" y="3474720"/>
            <a:ext cx="8229600" cy="548640"/>
          </a:xfrm>
          <a:prstGeom prst="rect">
            <a:avLst/>
          </a:prstGeom>
          <a:noFill/>
          <a:ln/>
        </p:spPr>
        <p:txBody>
          <a:bodyPr wrap="square" rtlCol="0" anchor="ctr"/>
          <a:lstStyle/>
          <a:p>
            <a:pPr marL="0" indent="0" algn="ctr">
              <a:buNone/>
            </a:pPr>
            <a:r>
              <a:rPr lang="en-US" sz="2800" b="1" kern="0" spc="600" dirty="0">
                <a:solidFill>
                  <a:srgbClr val="FFFFFF"/>
                </a:solidFill>
              </a:rPr>
              <a:t>QUESTIONS</a:t>
            </a:r>
            <a:endParaRPr lang="en-US" sz="2800" dirty="0"/>
          </a:p>
        </p:txBody>
      </p:sp>
      <p:sp>
        <p:nvSpPr>
          <p:cNvPr id="5" name="Text 3"/>
          <p:cNvSpPr/>
          <p:nvPr/>
        </p:nvSpPr>
        <p:spPr>
          <a:xfrm>
            <a:off x="457200" y="4114800"/>
            <a:ext cx="8229600" cy="365760"/>
          </a:xfrm>
          <a:prstGeom prst="rect">
            <a:avLst/>
          </a:prstGeom>
          <a:noFill/>
          <a:ln/>
        </p:spPr>
        <p:txBody>
          <a:bodyPr wrap="square" rtlCol="0" anchor="ctr"/>
          <a:lstStyle/>
          <a:p>
            <a:pPr marL="0" indent="0" algn="ctr">
              <a:buNone/>
            </a:pPr>
            <a:r>
              <a:rPr lang="en-US" sz="1200" dirty="0">
                <a:solidFill>
                  <a:srgbClr val="CADCFC"/>
                </a:solidFill>
              </a:rPr>
              <a:t>Hope Donglo  |  Ingenieur de donnees freelance  |  Mars 2026</a:t>
            </a:r>
            <a:endParaRPr lang="en-US" sz="1200" dirty="0"/>
          </a:p>
        </p:txBody>
      </p:sp>
      <p:sp>
        <p:nvSpPr>
          <p:cNvPr id="6" name="Text 4"/>
          <p:cNvSpPr/>
          <p:nvPr/>
        </p:nvSpPr>
        <p:spPr>
          <a:xfrm>
            <a:off x="457200" y="4526280"/>
            <a:ext cx="8229600" cy="320040"/>
          </a:xfrm>
          <a:prstGeom prst="rect">
            <a:avLst/>
          </a:prstGeom>
          <a:noFill/>
          <a:ln/>
        </p:spPr>
        <p:txBody>
          <a:bodyPr wrap="square" rtlCol="0" anchor="ctr"/>
          <a:lstStyle/>
          <a:p>
            <a:pPr marL="0" indent="0" algn="ctr">
              <a:buNone/>
            </a:pPr>
            <a:r>
              <a:rPr lang="en-US" sz="1100" dirty="0">
                <a:solidFill>
                  <a:srgbClr val="F39C12"/>
                </a:solidFill>
              </a:rPr>
              <a:t>github.com/project  |  data/processed/test_dataset.csv</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F4E79"/>
          </a:solidFill>
          <a:ln/>
        </p:spPr>
      </p:sp>
      <p:sp>
        <p:nvSpPr>
          <p:cNvPr id="3" name="Text 1"/>
          <p:cNvSpPr/>
          <p:nvPr/>
        </p:nvSpPr>
        <p:spPr>
          <a:xfrm>
            <a:off x="365760" y="0"/>
            <a:ext cx="8412480" cy="914400"/>
          </a:xfrm>
          <a:prstGeom prst="rect">
            <a:avLst/>
          </a:prstGeom>
          <a:noFill/>
          <a:ln/>
        </p:spPr>
        <p:txBody>
          <a:bodyPr wrap="square" rtlCol="0" anchor="ctr"/>
          <a:lstStyle/>
          <a:p>
            <a:pPr marL="0" indent="0">
              <a:buNone/>
            </a:pPr>
            <a:r>
              <a:rPr lang="fr-FR" sz="2200" b="1" dirty="0">
                <a:solidFill>
                  <a:srgbClr val="FFFFFF"/>
                </a:solidFill>
              </a:rPr>
              <a:t>LIVRABLES SOUMIS</a:t>
            </a:r>
            <a:endParaRPr lang="fr-FR" sz="2200" dirty="0"/>
          </a:p>
        </p:txBody>
      </p:sp>
      <p:sp>
        <p:nvSpPr>
          <p:cNvPr id="10" name="Card1"/>
          <p:cNvSpPr/>
          <p:nvPr/>
        </p:nvSpPr>
        <p:spPr>
          <a:xfrm>
            <a:off x="274320" y="1051560"/>
            <a:ext cx="4114800" cy="685800"/>
          </a:xfrm>
          <a:prstGeom prst="roundRect">
            <a:avLst>
              <a:gd name="adj" fmla="val 10667"/>
            </a:avLst>
          </a:prstGeom>
          <a:solidFill>
            <a:srgbClr val="F2F6FA"/>
          </a:solidFill>
          <a:ln/>
        </p:spPr>
      </p:sp>
      <p:sp>
        <p:nvSpPr>
          <p:cNvPr id="11" name="Num1"/>
          <p:cNvSpPr/>
          <p:nvPr/>
        </p:nvSpPr>
        <p:spPr>
          <a:xfrm>
            <a:off x="384048" y="1143000"/>
            <a:ext cx="457200" cy="502920"/>
          </a:xfrm>
          <a:prstGeom prst="roundRect">
            <a:avLst>
              <a:gd name="adj" fmla="val 12000"/>
            </a:avLst>
          </a:prstGeom>
          <a:solidFill>
            <a:srgbClr val="1F4E79"/>
          </a:solidFill>
          <a:ln/>
        </p:spPr>
      </p:sp>
      <p:sp>
        <p:nvSpPr>
          <p:cNvPr id="12" name="NumTxt1"/>
          <p:cNvSpPr/>
          <p:nvPr/>
        </p:nvSpPr>
        <p:spPr>
          <a:xfrm>
            <a:off x="384048" y="1143000"/>
            <a:ext cx="457200" cy="502920"/>
          </a:xfrm>
          <a:prstGeom prst="rect">
            <a:avLst/>
          </a:prstGeom>
          <a:noFill/>
          <a:ln/>
        </p:spPr>
        <p:txBody>
          <a:bodyPr wrap="square" lIns="0" tIns="0" rIns="0" bIns="0" rtlCol="0" anchor="ctr"/>
          <a:lstStyle/>
          <a:p>
            <a:pPr marL="0" indent="0" algn="ctr">
              <a:buNone/>
            </a:pPr>
            <a:r>
              <a:rPr lang="fr-FR" sz="1200" b="1" dirty="0">
                <a:solidFill>
                  <a:srgbClr val="FFFFFF"/>
                </a:solidFill>
              </a:rPr>
              <a:t>1</a:t>
            </a:r>
          </a:p>
        </p:txBody>
      </p:sp>
      <p:sp>
        <p:nvSpPr>
          <p:cNvPr id="13" name="Title1"/>
          <p:cNvSpPr/>
          <p:nvPr/>
        </p:nvSpPr>
        <p:spPr>
          <a:xfrm>
            <a:off x="932688" y="1124712"/>
            <a:ext cx="3200400" cy="320040"/>
          </a:xfrm>
          <a:prstGeom prst="rect">
            <a:avLst/>
          </a:prstGeom>
          <a:noFill/>
          <a:ln/>
        </p:spPr>
        <p:txBody>
          <a:bodyPr wrap="square" rtlCol="0" anchor="ctr"/>
          <a:lstStyle/>
          <a:p>
            <a:pPr marL="0" indent="0">
              <a:buNone/>
            </a:pPr>
            <a:r>
              <a:rPr lang="fr-FR" sz="1200" b="1" dirty="0">
                <a:solidFill>
                  <a:srgbClr val="1F4E79"/>
                </a:solidFill>
              </a:rPr>
              <a:t>README</a:t>
            </a:r>
          </a:p>
        </p:txBody>
      </p:sp>
      <p:sp>
        <p:nvSpPr>
          <p:cNvPr id="14" name="Desc1"/>
          <p:cNvSpPr/>
          <p:nvPr/>
        </p:nvSpPr>
        <p:spPr>
          <a:xfrm>
            <a:off x="932688" y="1435608"/>
            <a:ext cx="3200400" cy="256032"/>
          </a:xfrm>
          <a:prstGeom prst="rect">
            <a:avLst/>
          </a:prstGeom>
          <a:noFill/>
          <a:ln/>
        </p:spPr>
        <p:txBody>
          <a:bodyPr wrap="square" rtlCol="0" anchor="ctr"/>
          <a:lstStyle/>
          <a:p>
            <a:pPr marL="0" indent="0">
              <a:buNone/>
            </a:pPr>
            <a:r>
              <a:rPr lang="fr-FR" sz="1000" dirty="0">
                <a:solidFill>
                  <a:srgbClr val="5D6D7E"/>
                </a:solidFill>
              </a:rPr>
              <a:t>Presentation, objectifs, reproduction, description des fichiers</a:t>
            </a:r>
          </a:p>
        </p:txBody>
      </p:sp>
      <p:sp>
        <p:nvSpPr>
          <p:cNvPr id="20" name="Card2"/>
          <p:cNvSpPr/>
          <p:nvPr/>
        </p:nvSpPr>
        <p:spPr>
          <a:xfrm>
            <a:off x="274320" y="1837944"/>
            <a:ext cx="4114800" cy="685800"/>
          </a:xfrm>
          <a:prstGeom prst="roundRect">
            <a:avLst>
              <a:gd name="adj" fmla="val 10667"/>
            </a:avLst>
          </a:prstGeom>
          <a:solidFill>
            <a:srgbClr val="F2F6FA"/>
          </a:solidFill>
          <a:ln/>
        </p:spPr>
      </p:sp>
      <p:sp>
        <p:nvSpPr>
          <p:cNvPr id="21" name="Num2"/>
          <p:cNvSpPr/>
          <p:nvPr/>
        </p:nvSpPr>
        <p:spPr>
          <a:xfrm>
            <a:off x="384048" y="1929384"/>
            <a:ext cx="457200" cy="502920"/>
          </a:xfrm>
          <a:prstGeom prst="roundRect">
            <a:avLst>
              <a:gd name="adj" fmla="val 12000"/>
            </a:avLst>
          </a:prstGeom>
          <a:solidFill>
            <a:srgbClr val="2E75B6"/>
          </a:solidFill>
          <a:ln/>
        </p:spPr>
      </p:sp>
      <p:sp>
        <p:nvSpPr>
          <p:cNvPr id="22" name="NumTxt2"/>
          <p:cNvSpPr/>
          <p:nvPr/>
        </p:nvSpPr>
        <p:spPr>
          <a:xfrm>
            <a:off x="384048" y="1929384"/>
            <a:ext cx="457200" cy="502920"/>
          </a:xfrm>
          <a:prstGeom prst="rect">
            <a:avLst/>
          </a:prstGeom>
          <a:noFill/>
          <a:ln/>
        </p:spPr>
        <p:txBody>
          <a:bodyPr wrap="square" lIns="0" tIns="0" rIns="0" bIns="0" rtlCol="0" anchor="ctr"/>
          <a:lstStyle/>
          <a:p>
            <a:pPr marL="0" indent="0" algn="ctr">
              <a:buNone/>
            </a:pPr>
            <a:r>
              <a:rPr lang="fr-FR" sz="1200" b="1" dirty="0">
                <a:solidFill>
                  <a:srgbClr val="FFFFFF"/>
                </a:solidFill>
              </a:rPr>
              <a:t>2</a:t>
            </a:r>
          </a:p>
        </p:txBody>
      </p:sp>
      <p:sp>
        <p:nvSpPr>
          <p:cNvPr id="23" name="Title2"/>
          <p:cNvSpPr/>
          <p:nvPr/>
        </p:nvSpPr>
        <p:spPr>
          <a:xfrm>
            <a:off x="932688" y="1911096"/>
            <a:ext cx="3200400" cy="320040"/>
          </a:xfrm>
          <a:prstGeom prst="rect">
            <a:avLst/>
          </a:prstGeom>
          <a:noFill/>
          <a:ln/>
        </p:spPr>
        <p:txBody>
          <a:bodyPr wrap="square" rtlCol="0" anchor="ctr"/>
          <a:lstStyle/>
          <a:p>
            <a:pPr marL="0" indent="0">
              <a:buNone/>
            </a:pPr>
            <a:r>
              <a:rPr lang="fr-FR" sz="1200" b="1" dirty="0">
                <a:solidFill>
                  <a:srgbClr val="1F4E79"/>
                </a:solidFill>
              </a:rPr>
              <a:t>Gestion des dependances</a:t>
            </a:r>
          </a:p>
        </p:txBody>
      </p:sp>
      <p:sp>
        <p:nvSpPr>
          <p:cNvPr id="24" name="Desc2"/>
          <p:cNvSpPr/>
          <p:nvPr/>
        </p:nvSpPr>
        <p:spPr>
          <a:xfrm>
            <a:off x="932688" y="2221992"/>
            <a:ext cx="3200400" cy="256032"/>
          </a:xfrm>
          <a:prstGeom prst="rect">
            <a:avLst/>
          </a:prstGeom>
          <a:noFill/>
          <a:ln/>
        </p:spPr>
        <p:txBody>
          <a:bodyPr wrap="square" rtlCol="0" anchor="ctr"/>
          <a:lstStyle/>
          <a:p>
            <a:pPr marL="0" indent="0">
              <a:buNone/>
            </a:pPr>
            <a:r>
              <a:rPr lang="fr-FR" sz="1000" dirty="0">
                <a:solidFill>
                  <a:srgbClr val="5D6D7E"/>
                </a:solidFill>
              </a:rPr>
              <a:t>Poetry, pyproject.toml, poetry.lock — environnement reproductible</a:t>
            </a:r>
          </a:p>
        </p:txBody>
      </p:sp>
      <p:sp>
        <p:nvSpPr>
          <p:cNvPr id="30" name="Card3"/>
          <p:cNvSpPr/>
          <p:nvPr/>
        </p:nvSpPr>
        <p:spPr>
          <a:xfrm>
            <a:off x="274320" y="2624328"/>
            <a:ext cx="4114800" cy="685800"/>
          </a:xfrm>
          <a:prstGeom prst="roundRect">
            <a:avLst>
              <a:gd name="adj" fmla="val 10667"/>
            </a:avLst>
          </a:prstGeom>
          <a:solidFill>
            <a:srgbClr val="F2F6FA"/>
          </a:solidFill>
          <a:ln/>
        </p:spPr>
      </p:sp>
      <p:sp>
        <p:nvSpPr>
          <p:cNvPr id="31" name="Num3"/>
          <p:cNvSpPr/>
          <p:nvPr/>
        </p:nvSpPr>
        <p:spPr>
          <a:xfrm>
            <a:off x="384048" y="2715768"/>
            <a:ext cx="457200" cy="502920"/>
          </a:xfrm>
          <a:prstGeom prst="roundRect">
            <a:avLst>
              <a:gd name="adj" fmla="val 12000"/>
            </a:avLst>
          </a:prstGeom>
          <a:solidFill>
            <a:srgbClr val="028090"/>
          </a:solidFill>
          <a:ln/>
        </p:spPr>
      </p:sp>
      <p:sp>
        <p:nvSpPr>
          <p:cNvPr id="32" name="NumTxt3"/>
          <p:cNvSpPr/>
          <p:nvPr/>
        </p:nvSpPr>
        <p:spPr>
          <a:xfrm>
            <a:off x="384048" y="2715768"/>
            <a:ext cx="457200" cy="502920"/>
          </a:xfrm>
          <a:prstGeom prst="rect">
            <a:avLst/>
          </a:prstGeom>
          <a:noFill/>
          <a:ln/>
        </p:spPr>
        <p:txBody>
          <a:bodyPr wrap="square" lIns="0" tIns="0" rIns="0" bIns="0" rtlCol="0" anchor="ctr"/>
          <a:lstStyle/>
          <a:p>
            <a:pPr marL="0" indent="0" algn="ctr">
              <a:buNone/>
            </a:pPr>
            <a:r>
              <a:rPr lang="fr-FR" sz="1200" b="1" dirty="0">
                <a:solidFill>
                  <a:srgbClr val="FFFFFF"/>
                </a:solidFill>
              </a:rPr>
              <a:t>3</a:t>
            </a:r>
          </a:p>
        </p:txBody>
      </p:sp>
      <p:sp>
        <p:nvSpPr>
          <p:cNvPr id="33" name="Title3"/>
          <p:cNvSpPr/>
          <p:nvPr/>
        </p:nvSpPr>
        <p:spPr>
          <a:xfrm>
            <a:off x="932688" y="2697480"/>
            <a:ext cx="3200400" cy="320040"/>
          </a:xfrm>
          <a:prstGeom prst="rect">
            <a:avLst/>
          </a:prstGeom>
          <a:noFill/>
          <a:ln/>
        </p:spPr>
        <p:txBody>
          <a:bodyPr wrap="square" rtlCol="0" anchor="ctr"/>
          <a:lstStyle/>
          <a:p>
            <a:pPr marL="0" indent="0">
              <a:buNone/>
            </a:pPr>
            <a:r>
              <a:rPr lang="fr-FR" sz="1200" b="1" dirty="0">
                <a:solidFill>
                  <a:srgbClr val="1F4E79"/>
                </a:solidFill>
              </a:rPr>
              <a:t>Scripts de pre-traitement et vectorisation</a:t>
            </a:r>
          </a:p>
        </p:txBody>
      </p:sp>
      <p:sp>
        <p:nvSpPr>
          <p:cNvPr id="34" name="Desc3"/>
          <p:cNvSpPr/>
          <p:nvPr/>
        </p:nvSpPr>
        <p:spPr>
          <a:xfrm>
            <a:off x="932688" y="3008376"/>
            <a:ext cx="3200400" cy="256032"/>
          </a:xfrm>
          <a:prstGeom prst="rect">
            <a:avLst/>
          </a:prstGeom>
          <a:noFill/>
          <a:ln/>
        </p:spPr>
        <p:txBody>
          <a:bodyPr wrap="square" rtlCol="0" anchor="ctr"/>
          <a:lstStyle/>
          <a:p>
            <a:pPr marL="0" indent="0">
              <a:buNone/>
            </a:pPr>
            <a:r>
              <a:rPr lang="fr-FR" sz="1000" dirty="0">
                <a:solidFill>
                  <a:srgbClr val="5D6D7E"/>
                </a:solidFill>
              </a:rPr>
              <a:t>fetch, chunk, embed, index — avec docstrings integrees</a:t>
            </a:r>
          </a:p>
        </p:txBody>
      </p:sp>
      <p:sp>
        <p:nvSpPr>
          <p:cNvPr id="40" name="Card4"/>
          <p:cNvSpPr/>
          <p:nvPr/>
        </p:nvSpPr>
        <p:spPr>
          <a:xfrm>
            <a:off x="274320" y="3410712"/>
            <a:ext cx="4114800" cy="685800"/>
          </a:xfrm>
          <a:prstGeom prst="roundRect">
            <a:avLst>
              <a:gd name="adj" fmla="val 10667"/>
            </a:avLst>
          </a:prstGeom>
          <a:solidFill>
            <a:srgbClr val="F2F6FA"/>
          </a:solidFill>
          <a:ln/>
        </p:spPr>
      </p:sp>
      <p:sp>
        <p:nvSpPr>
          <p:cNvPr id="41" name="Num4"/>
          <p:cNvSpPr/>
          <p:nvPr/>
        </p:nvSpPr>
        <p:spPr>
          <a:xfrm>
            <a:off x="384048" y="3502152"/>
            <a:ext cx="457200" cy="502920"/>
          </a:xfrm>
          <a:prstGeom prst="roundRect">
            <a:avLst>
              <a:gd name="adj" fmla="val 12000"/>
            </a:avLst>
          </a:prstGeom>
          <a:solidFill>
            <a:srgbClr val="1F4E79"/>
          </a:solidFill>
          <a:ln/>
        </p:spPr>
      </p:sp>
      <p:sp>
        <p:nvSpPr>
          <p:cNvPr id="42" name="NumTxt4"/>
          <p:cNvSpPr/>
          <p:nvPr/>
        </p:nvSpPr>
        <p:spPr>
          <a:xfrm>
            <a:off x="384048" y="3502152"/>
            <a:ext cx="457200" cy="502920"/>
          </a:xfrm>
          <a:prstGeom prst="rect">
            <a:avLst/>
          </a:prstGeom>
          <a:noFill/>
          <a:ln/>
        </p:spPr>
        <p:txBody>
          <a:bodyPr wrap="square" lIns="0" tIns="0" rIns="0" bIns="0" rtlCol="0" anchor="ctr"/>
          <a:lstStyle/>
          <a:p>
            <a:pPr marL="0" indent="0" algn="ctr">
              <a:buNone/>
            </a:pPr>
            <a:r>
              <a:rPr lang="fr-FR" sz="1200" b="1" dirty="0">
                <a:solidFill>
                  <a:srgbClr val="FFFFFF"/>
                </a:solidFill>
              </a:rPr>
              <a:t>4</a:t>
            </a:r>
          </a:p>
        </p:txBody>
      </p:sp>
      <p:sp>
        <p:nvSpPr>
          <p:cNvPr id="43" name="Title4"/>
          <p:cNvSpPr/>
          <p:nvPr/>
        </p:nvSpPr>
        <p:spPr>
          <a:xfrm>
            <a:off x="932688" y="3483864"/>
            <a:ext cx="3200400" cy="320040"/>
          </a:xfrm>
          <a:prstGeom prst="rect">
            <a:avLst/>
          </a:prstGeom>
          <a:noFill/>
          <a:ln/>
        </p:spPr>
        <p:txBody>
          <a:bodyPr wrap="square" rtlCol="0" anchor="ctr"/>
          <a:lstStyle/>
          <a:p>
            <a:pPr marL="0" indent="0">
              <a:buNone/>
            </a:pPr>
            <a:r>
              <a:rPr lang="fr-FR" sz="1200" b="1" dirty="0">
                <a:solidFill>
                  <a:srgbClr val="1F4E79"/>
                </a:solidFill>
              </a:rPr>
              <a:t>Tests unitaires integres au pipeline</a:t>
            </a:r>
          </a:p>
        </p:txBody>
      </p:sp>
      <p:sp>
        <p:nvSpPr>
          <p:cNvPr id="44" name="Desc4"/>
          <p:cNvSpPr/>
          <p:nvPr/>
        </p:nvSpPr>
        <p:spPr>
          <a:xfrm>
            <a:off x="932688" y="3794760"/>
            <a:ext cx="3200400" cy="256032"/>
          </a:xfrm>
          <a:prstGeom prst="rect">
            <a:avLst/>
          </a:prstGeom>
          <a:noFill/>
          <a:ln/>
        </p:spPr>
        <p:txBody>
          <a:bodyPr wrap="square" rtlCol="0" anchor="ctr"/>
          <a:lstStyle/>
          <a:p>
            <a:pPr marL="0" indent="0">
              <a:buNone/>
            </a:pPr>
            <a:r>
              <a:rPr lang="fr-FR" sz="1000" dirty="0">
                <a:solidFill>
                  <a:srgbClr val="5D6D7E"/>
                </a:solidFill>
              </a:rPr>
              <a:t>25 tests pytest — date, localisation, index, qualite chunks</a:t>
            </a:r>
          </a:p>
        </p:txBody>
      </p:sp>
      <p:sp>
        <p:nvSpPr>
          <p:cNvPr id="50" name="Card5"/>
          <p:cNvSpPr/>
          <p:nvPr/>
        </p:nvSpPr>
        <p:spPr>
          <a:xfrm>
            <a:off x="4754880" y="1051560"/>
            <a:ext cx="4114800" cy="685800"/>
          </a:xfrm>
          <a:prstGeom prst="roundRect">
            <a:avLst>
              <a:gd name="adj" fmla="val 10667"/>
            </a:avLst>
          </a:prstGeom>
          <a:solidFill>
            <a:srgbClr val="F2F6FA"/>
          </a:solidFill>
          <a:ln/>
        </p:spPr>
      </p:sp>
      <p:sp>
        <p:nvSpPr>
          <p:cNvPr id="51" name="Num5"/>
          <p:cNvSpPr/>
          <p:nvPr/>
        </p:nvSpPr>
        <p:spPr>
          <a:xfrm>
            <a:off x="4864608" y="1143000"/>
            <a:ext cx="457200" cy="502920"/>
          </a:xfrm>
          <a:prstGeom prst="roundRect">
            <a:avLst>
              <a:gd name="adj" fmla="val 12000"/>
            </a:avLst>
          </a:prstGeom>
          <a:solidFill>
            <a:srgbClr val="2E75B6"/>
          </a:solidFill>
          <a:ln/>
        </p:spPr>
      </p:sp>
      <p:sp>
        <p:nvSpPr>
          <p:cNvPr id="52" name="NumTxt5"/>
          <p:cNvSpPr/>
          <p:nvPr/>
        </p:nvSpPr>
        <p:spPr>
          <a:xfrm>
            <a:off x="4864608" y="1143000"/>
            <a:ext cx="457200" cy="502920"/>
          </a:xfrm>
          <a:prstGeom prst="rect">
            <a:avLst/>
          </a:prstGeom>
          <a:noFill/>
          <a:ln/>
        </p:spPr>
        <p:txBody>
          <a:bodyPr wrap="square" lIns="0" tIns="0" rIns="0" bIns="0" rtlCol="0" anchor="ctr"/>
          <a:lstStyle/>
          <a:p>
            <a:pPr marL="0" indent="0" algn="ctr">
              <a:buNone/>
            </a:pPr>
            <a:r>
              <a:rPr lang="fr-FR" sz="1200" b="1" dirty="0">
                <a:solidFill>
                  <a:srgbClr val="FFFFFF"/>
                </a:solidFill>
              </a:rPr>
              <a:t>5</a:t>
            </a:r>
          </a:p>
        </p:txBody>
      </p:sp>
      <p:sp>
        <p:nvSpPr>
          <p:cNvPr id="53" name="Title5"/>
          <p:cNvSpPr/>
          <p:nvPr/>
        </p:nvSpPr>
        <p:spPr>
          <a:xfrm>
            <a:off x="5413248" y="1124712"/>
            <a:ext cx="3200400" cy="320040"/>
          </a:xfrm>
          <a:prstGeom prst="rect">
            <a:avLst/>
          </a:prstGeom>
          <a:noFill/>
          <a:ln/>
        </p:spPr>
        <p:txBody>
          <a:bodyPr wrap="square" rtlCol="0" anchor="ctr"/>
          <a:lstStyle/>
          <a:p>
            <a:pPr marL="0" indent="0">
              <a:buNone/>
            </a:pPr>
            <a:r>
              <a:rPr lang="fr-FR" sz="1200" b="1" dirty="0">
                <a:solidFill>
                  <a:srgbClr val="1F4E79"/>
                </a:solidFill>
              </a:rPr>
              <a:t>Rapport technique</a:t>
            </a:r>
          </a:p>
        </p:txBody>
      </p:sp>
      <p:sp>
        <p:nvSpPr>
          <p:cNvPr id="54" name="Desc5"/>
          <p:cNvSpPr/>
          <p:nvPr/>
        </p:nvSpPr>
        <p:spPr>
          <a:xfrm>
            <a:off x="5413248" y="1435608"/>
            <a:ext cx="3200400" cy="256032"/>
          </a:xfrm>
          <a:prstGeom prst="rect">
            <a:avLst/>
          </a:prstGeom>
          <a:noFill/>
          <a:ln/>
        </p:spPr>
        <p:txBody>
          <a:bodyPr wrap="square" rtlCol="0" anchor="ctr"/>
          <a:lstStyle/>
          <a:p>
            <a:pPr marL="0" indent="0">
              <a:buNone/>
            </a:pPr>
            <a:r>
              <a:rPr lang="fr-FR" sz="1000" dirty="0">
                <a:solidFill>
                  <a:srgbClr val="5D6D7E"/>
                </a:solidFill>
              </a:rPr>
              <a:t>Architecture, choix techniques, resultats, recommandations</a:t>
            </a:r>
          </a:p>
        </p:txBody>
      </p:sp>
      <p:sp>
        <p:nvSpPr>
          <p:cNvPr id="60" name="Card6"/>
          <p:cNvSpPr/>
          <p:nvPr/>
        </p:nvSpPr>
        <p:spPr>
          <a:xfrm>
            <a:off x="4754880" y="1837944"/>
            <a:ext cx="4114800" cy="685800"/>
          </a:xfrm>
          <a:prstGeom prst="roundRect">
            <a:avLst>
              <a:gd name="adj" fmla="val 10667"/>
            </a:avLst>
          </a:prstGeom>
          <a:solidFill>
            <a:srgbClr val="F2F6FA"/>
          </a:solidFill>
          <a:ln/>
        </p:spPr>
      </p:sp>
      <p:sp>
        <p:nvSpPr>
          <p:cNvPr id="61" name="Num6"/>
          <p:cNvSpPr/>
          <p:nvPr/>
        </p:nvSpPr>
        <p:spPr>
          <a:xfrm>
            <a:off x="4864608" y="1929384"/>
            <a:ext cx="457200" cy="502920"/>
          </a:xfrm>
          <a:prstGeom prst="roundRect">
            <a:avLst>
              <a:gd name="adj" fmla="val 12000"/>
            </a:avLst>
          </a:prstGeom>
          <a:solidFill>
            <a:srgbClr val="028090"/>
          </a:solidFill>
          <a:ln/>
        </p:spPr>
      </p:sp>
      <p:sp>
        <p:nvSpPr>
          <p:cNvPr id="62" name="NumTxt6"/>
          <p:cNvSpPr/>
          <p:nvPr/>
        </p:nvSpPr>
        <p:spPr>
          <a:xfrm>
            <a:off x="4864608" y="1929384"/>
            <a:ext cx="457200" cy="502920"/>
          </a:xfrm>
          <a:prstGeom prst="rect">
            <a:avLst/>
          </a:prstGeom>
          <a:noFill/>
          <a:ln/>
        </p:spPr>
        <p:txBody>
          <a:bodyPr wrap="square" lIns="0" tIns="0" rIns="0" bIns="0" rtlCol="0" anchor="ctr"/>
          <a:lstStyle/>
          <a:p>
            <a:pPr marL="0" indent="0" algn="ctr">
              <a:buNone/>
            </a:pPr>
            <a:r>
              <a:rPr lang="fr-FR" sz="1200" b="1" dirty="0">
                <a:solidFill>
                  <a:srgbClr val="FFFFFF"/>
                </a:solidFill>
              </a:rPr>
              <a:t>6</a:t>
            </a:r>
          </a:p>
        </p:txBody>
      </p:sp>
      <p:sp>
        <p:nvSpPr>
          <p:cNvPr id="63" name="Title6"/>
          <p:cNvSpPr/>
          <p:nvPr/>
        </p:nvSpPr>
        <p:spPr>
          <a:xfrm>
            <a:off x="5413248" y="1911096"/>
            <a:ext cx="3200400" cy="320040"/>
          </a:xfrm>
          <a:prstGeom prst="rect">
            <a:avLst/>
          </a:prstGeom>
          <a:noFill/>
          <a:ln/>
        </p:spPr>
        <p:txBody>
          <a:bodyPr wrap="square" rtlCol="0" anchor="ctr"/>
          <a:lstStyle/>
          <a:p>
            <a:pPr marL="0" indent="0">
              <a:buNone/>
            </a:pPr>
            <a:r>
              <a:rPr lang="fr-FR" sz="1200" b="1" dirty="0">
                <a:solidFill>
                  <a:srgbClr val="1F4E79"/>
                </a:solidFill>
              </a:rPr>
              <a:t>Code du systeme RAG</a:t>
            </a:r>
          </a:p>
        </p:txBody>
      </p:sp>
      <p:sp>
        <p:nvSpPr>
          <p:cNvPr id="64" name="Desc6"/>
          <p:cNvSpPr/>
          <p:nvPr/>
        </p:nvSpPr>
        <p:spPr>
          <a:xfrm>
            <a:off x="5413248" y="2221992"/>
            <a:ext cx="3200400" cy="256032"/>
          </a:xfrm>
          <a:prstGeom prst="rect">
            <a:avLst/>
          </a:prstGeom>
          <a:noFill/>
          <a:ln/>
        </p:spPr>
        <p:txBody>
          <a:bodyPr wrap="square" rtlCol="0" anchor="ctr"/>
          <a:lstStyle/>
          <a:p>
            <a:pPr marL="0" indent="0">
              <a:buNone/>
            </a:pPr>
            <a:r>
              <a:rPr lang="fr-FR" sz="1000" dirty="0">
                <a:solidFill>
                  <a:srgbClr val="5D6D7E"/>
                </a:solidFill>
              </a:rPr>
              <a:t>Chaine complete LangChain + Mistral + FAISS versionnee Git</a:t>
            </a:r>
          </a:p>
        </p:txBody>
      </p:sp>
      <p:sp>
        <p:nvSpPr>
          <p:cNvPr id="70" name="Card7"/>
          <p:cNvSpPr/>
          <p:nvPr/>
        </p:nvSpPr>
        <p:spPr>
          <a:xfrm>
            <a:off x="4754880" y="2624328"/>
            <a:ext cx="4114800" cy="685800"/>
          </a:xfrm>
          <a:prstGeom prst="roundRect">
            <a:avLst>
              <a:gd name="adj" fmla="val 10667"/>
            </a:avLst>
          </a:prstGeom>
          <a:solidFill>
            <a:srgbClr val="F2F6FA"/>
          </a:solidFill>
          <a:ln/>
        </p:spPr>
      </p:sp>
      <p:sp>
        <p:nvSpPr>
          <p:cNvPr id="71" name="Num7"/>
          <p:cNvSpPr/>
          <p:nvPr/>
        </p:nvSpPr>
        <p:spPr>
          <a:xfrm>
            <a:off x="4864608" y="2715768"/>
            <a:ext cx="457200" cy="502920"/>
          </a:xfrm>
          <a:prstGeom prst="roundRect">
            <a:avLst>
              <a:gd name="adj" fmla="val 12000"/>
            </a:avLst>
          </a:prstGeom>
          <a:solidFill>
            <a:srgbClr val="1F4E79"/>
          </a:solidFill>
          <a:ln/>
        </p:spPr>
      </p:sp>
      <p:sp>
        <p:nvSpPr>
          <p:cNvPr id="72" name="NumTxt7"/>
          <p:cNvSpPr/>
          <p:nvPr/>
        </p:nvSpPr>
        <p:spPr>
          <a:xfrm>
            <a:off x="4864608" y="2715768"/>
            <a:ext cx="457200" cy="502920"/>
          </a:xfrm>
          <a:prstGeom prst="rect">
            <a:avLst/>
          </a:prstGeom>
          <a:noFill/>
          <a:ln/>
        </p:spPr>
        <p:txBody>
          <a:bodyPr wrap="square" lIns="0" tIns="0" rIns="0" bIns="0" rtlCol="0" anchor="ctr"/>
          <a:lstStyle/>
          <a:p>
            <a:pPr marL="0" indent="0" algn="ctr">
              <a:buNone/>
            </a:pPr>
            <a:r>
              <a:rPr lang="fr-FR" sz="1200" b="1" dirty="0">
                <a:solidFill>
                  <a:srgbClr val="FFFFFF"/>
                </a:solidFill>
              </a:rPr>
              <a:t>7</a:t>
            </a:r>
          </a:p>
        </p:txBody>
      </p:sp>
      <p:sp>
        <p:nvSpPr>
          <p:cNvPr id="73" name="Title7"/>
          <p:cNvSpPr/>
          <p:nvPr/>
        </p:nvSpPr>
        <p:spPr>
          <a:xfrm>
            <a:off x="5413248" y="2697480"/>
            <a:ext cx="3200400" cy="320040"/>
          </a:xfrm>
          <a:prstGeom prst="rect">
            <a:avLst/>
          </a:prstGeom>
          <a:noFill/>
          <a:ln/>
        </p:spPr>
        <p:txBody>
          <a:bodyPr wrap="square" rtlCol="0" anchor="ctr"/>
          <a:lstStyle/>
          <a:p>
            <a:pPr marL="0" indent="0">
              <a:buNone/>
            </a:pPr>
            <a:r>
              <a:rPr lang="fr-FR" sz="1200" b="1" dirty="0">
                <a:solidFill>
                  <a:srgbClr val="1F4E79"/>
                </a:solidFill>
              </a:rPr>
              <a:t>Presentation PowerPoint</a:t>
            </a:r>
          </a:p>
        </p:txBody>
      </p:sp>
      <p:sp>
        <p:nvSpPr>
          <p:cNvPr id="74" name="Desc7"/>
          <p:cNvSpPr/>
          <p:nvPr/>
        </p:nvSpPr>
        <p:spPr>
          <a:xfrm>
            <a:off x="5413248" y="3008376"/>
            <a:ext cx="3200400" cy="256032"/>
          </a:xfrm>
          <a:prstGeom prst="rect">
            <a:avLst/>
          </a:prstGeom>
          <a:noFill/>
          <a:ln/>
        </p:spPr>
        <p:txBody>
          <a:bodyPr wrap="square" rtlCol="0" anchor="ctr"/>
          <a:lstStyle/>
          <a:p>
            <a:pPr marL="0" indent="0">
              <a:buNone/>
            </a:pPr>
            <a:r>
              <a:rPr lang="fr-FR" sz="1000" dirty="0">
                <a:solidFill>
                  <a:srgbClr val="5D6D7E"/>
                </a:solidFill>
              </a:rPr>
              <a:t>10-15 diapositives — concept, resultats, demo, recommandations</a:t>
            </a:r>
          </a:p>
        </p:txBody>
      </p:sp>
      <p:sp>
        <p:nvSpPr>
          <p:cNvPr id="80" name="Footer"/>
          <p:cNvSpPr/>
          <p:nvPr/>
        </p:nvSpPr>
        <p:spPr>
          <a:xfrm>
            <a:off x="274320" y="4700000"/>
            <a:ext cx="8595360" cy="420000"/>
          </a:xfrm>
          <a:prstGeom prst="roundRect">
            <a:avLst>
              <a:gd name="adj" fmla="val 6000"/>
            </a:avLst>
          </a:prstGeom>
          <a:solidFill>
            <a:srgbClr val="1A252F"/>
          </a:solidFill>
          <a:ln/>
        </p:spPr>
      </p:sp>
      <p:sp>
        <p:nvSpPr>
          <p:cNvPr id="81" name="FooterText"/>
          <p:cNvSpPr/>
          <p:nvPr/>
        </p:nvSpPr>
        <p:spPr>
          <a:xfrm>
            <a:off x="274320" y="4700000"/>
            <a:ext cx="8595360" cy="420000"/>
          </a:xfrm>
          <a:prstGeom prst="rect">
            <a:avLst/>
          </a:prstGeom>
          <a:noFill/>
          <a:ln/>
        </p:spPr>
        <p:txBody>
          <a:bodyPr wrap="square" lIns="114300" tIns="0" rIns="0" bIns="0" rtlCol="0" anchor="ctr"/>
          <a:lstStyle/>
          <a:p>
            <a:pPr marL="0" indent="0">
              <a:buNone/>
            </a:pPr>
            <a:r>
              <a:rPr lang="fr-FR" sz="900" b="0" dirty="0">
                <a:solidFill>
                  <a:srgbClr val="F39C12"/>
                </a:solidFill>
                <a:latin typeface="Courier New"/>
              </a:rPr>
              <a:t>Convention de nommage :  Donglo_Hope_1_readme_072026  |  Donglo_Hope_2_management_072026  |  Donglo_Hope_3_scripts_072026</a:t>
            </a:r>
          </a:p>
        </p:txBody>
      </p:sp>
      <p:sp>
        <p:nvSpPr>
          <p:cNvPr id="90" name="Notes"/>
          <p:cNvSpPr>
            <a:spLocks noGrp="1"/>
          </p:cNvSpPr>
          <p:nvPr>
            <p:ph type="body" idx="1"/>
          </p:nvPr>
        </p:nvSpPr>
        <p:spPr/>
        <p:txBody>
          <a:bodyPr/>
          <a:lstStyle/>
          <a:p>
            <a:r>
              <a:t>Presenter chaque livrable en une phrase. Insister sur : (1) le README couvre la reproduction complete en une commande, (2) Poetry assure un environnement identique sur toutes les machines, (3) les docstrings sont integrees dans le code de production, (4) les 25 tests sont lances avant le deploiement, bloquant si echec, (5) le rapport couvre architecture + resultats + recommandations, (6) tout le code est versionne sur Git. La convention de nommage en bas correspond aux exigences de soumission de la plateforme.</a:t>
            </a:r>
          </a:p>
        </p:txBody>
      </p:sp>
    </p:spTree>
    <p:extLst>
      <p:ext uri="{BB962C8B-B14F-4D97-AF65-F5344CB8AC3E}">
        <p14:creationId xmlns:p14="http://schemas.microsoft.com/office/powerpoint/2010/main" val="27448046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222</TotalTime>
  <Words>1826</Words>
  <Application>Microsoft Macintosh PowerPoint</Application>
  <PresentationFormat>On-screen Show (16:9)</PresentationFormat>
  <Paragraphs>255</Paragraphs>
  <Slides>15</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Puls-Events RAG POC</dc:title>
  <dc:subject>PptxGenJS Presentation</dc:subject>
  <dc:creator>Hope Donglo</dc:creator>
  <cp:lastModifiedBy>Hope Donglo</cp:lastModifiedBy>
  <cp:revision>4</cp:revision>
  <dcterms:created xsi:type="dcterms:W3CDTF">2026-06-12T05:53:34Z</dcterms:created>
  <dcterms:modified xsi:type="dcterms:W3CDTF">2026-07-26T12:54:50Z</dcterms:modified>
</cp:coreProperties>
</file>
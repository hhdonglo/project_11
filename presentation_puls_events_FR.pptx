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57" r:id="rId4"/>
    <p:sldId id="258" r:id="rId5"/>
    <p:sldId id="259" r:id="rId6"/>
    <p:sldId id="260" r:id="rId7"/>
    <p:sldId id="27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196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00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21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Presenter le contexte : Puls-Events veut tester si un chatbot IA peut recommander des evenements culturels a partir de donnees reelles Open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difference entre un LLM standard et un RAG. Le LLM seul invente. Le RAG recupere d'abord les vrais evenements puis les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L'architecture est en deux temps : le pipeline hors ligne construit l'index, le pipeline en ligne sert les requetes. Insister sur la separation des responsabilites.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rejet de la source OpenDataSoft. Montrer que l'exploration des donnees en notebook avant d'ecrire le code de production est essentielle.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Justifier chaque choix. Pour FAISS : IndexFlatL2 est exact et suffisant a cette echelle. Pour le chunking : les descriptions sont trop courtes pour etre decoupees.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83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pattern self-contained : chaque script bash ecrit le fichier Python ET l'execute. Souligner la logique de skip : si l'artefact existe deja, l'etape est ignoree.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distances L2 valident que la recherche semantique fonctionne. Insister sur le cas 4 : requete hors perimetre correctement refusee sans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LIVE. Lancer : bash pipeline.sh --skip-run puis bash 04_run.sh. Ouvrir localhost:8501. Tester : 1) concert classique 2) restaurant (hors perimetre) 3) que faire ce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Souligner la decouverte du bug de parsing des dates (millisecondes vs ISO). Ce bug aurait silencieusement corrompu le filtre en production. Les tests l'ont detecte.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questions couvrant tous les cas realistes. Les metriques RAGAS mesurent objectivement la qualite. Mentionner la limitation de debit sur le niveau gratuit Mistral.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fait que le chemin vers la production est bien defini. Pas de refonte architecturale : uniquement de l'infrastructure.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conclusion. Revenir sur les cinq points valides. Terminer avec la recommandation claire de passer en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anticipees de Jeremy : Comment FAISS optimise la recherche ? Limites de FAISS a grande echelle ? Pourquoi LangChain ? Qualite des donnees dans un pipeline automatise ? Detection des derives de performance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640080"/>
            <a:ext cx="1280160" cy="1280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640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4E79"/>
                </a:solidFill>
              </a:rPr>
              <a:t>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Puls-Events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Assistant Culturel Paris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914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39C12"/>
                </a:solidFill>
              </a:rPr>
              <a:t>SYSTEME RAG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5544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de Concept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d'Evenements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4048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Generation Augmentee par Recuperation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3200400"/>
            <a:ext cx="47548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3383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Hope Donglo  |  OpenClassrooms Projet 11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Juillet 2026  |  Paris, Ile-de-France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ooter"/>
          <p:cNvSpPr/>
          <p:nvPr/>
        </p:nvSpPr>
        <p:spPr>
          <a:xfrm>
            <a:off x="41565" y="4695790"/>
            <a:ext cx="9033164" cy="420000"/>
          </a:xfrm>
          <a:prstGeom prst="roundRect">
            <a:avLst>
              <a:gd name="adj" fmla="val 6000"/>
            </a:avLst>
          </a:prstGeom>
          <a:solidFill>
            <a:srgbClr val="1A252F"/>
          </a:solidFill>
          <a:ln/>
        </p:spPr>
      </p:sp>
      <p:sp>
        <p:nvSpPr>
          <p:cNvPr id="90" name="Notes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5" name="Card1">
            <a:extLst>
              <a:ext uri="{FF2B5EF4-FFF2-40B4-BE49-F238E27FC236}">
                <a16:creationId xmlns:a16="http://schemas.microsoft.com/office/drawing/2014/main" id="{C04C85A0-67AF-0DFC-2A60-312368D2BD0E}"/>
              </a:ext>
            </a:extLst>
          </p:cNvPr>
          <p:cNvSpPr/>
          <p:nvPr/>
        </p:nvSpPr>
        <p:spPr>
          <a:xfrm>
            <a:off x="274320" y="10515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6" name="Num1">
            <a:extLst>
              <a:ext uri="{FF2B5EF4-FFF2-40B4-BE49-F238E27FC236}">
                <a16:creationId xmlns:a16="http://schemas.microsoft.com/office/drawing/2014/main" id="{CF740CE2-61F6-0C04-D970-05C65248C1C6}"/>
              </a:ext>
            </a:extLst>
          </p:cNvPr>
          <p:cNvSpPr/>
          <p:nvPr/>
        </p:nvSpPr>
        <p:spPr>
          <a:xfrm>
            <a:off x="384048" y="1143000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7" name="NumTxt1">
            <a:extLst>
              <a:ext uri="{FF2B5EF4-FFF2-40B4-BE49-F238E27FC236}">
                <a16:creationId xmlns:a16="http://schemas.microsoft.com/office/drawing/2014/main" id="{0B351CAA-CCD4-6D48-C2B6-5B1701BCE21E}"/>
              </a:ext>
            </a:extLst>
          </p:cNvPr>
          <p:cNvSpPr/>
          <p:nvPr/>
        </p:nvSpPr>
        <p:spPr>
          <a:xfrm>
            <a:off x="384048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itle1">
            <a:extLst>
              <a:ext uri="{FF2B5EF4-FFF2-40B4-BE49-F238E27FC236}">
                <a16:creationId xmlns:a16="http://schemas.microsoft.com/office/drawing/2014/main" id="{0C261C5C-3CEA-8623-8DEE-C96569935541}"/>
              </a:ext>
            </a:extLst>
          </p:cNvPr>
          <p:cNvSpPr/>
          <p:nvPr/>
        </p:nvSpPr>
        <p:spPr>
          <a:xfrm>
            <a:off x="932688" y="1124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1F4E79"/>
                </a:solidFill>
              </a:rPr>
              <a:t>README</a:t>
            </a:r>
          </a:p>
        </p:txBody>
      </p:sp>
      <p:sp>
        <p:nvSpPr>
          <p:cNvPr id="9" name="Desc1">
            <a:extLst>
              <a:ext uri="{FF2B5EF4-FFF2-40B4-BE49-F238E27FC236}">
                <a16:creationId xmlns:a16="http://schemas.microsoft.com/office/drawing/2014/main" id="{8A2FF9AF-9351-CD96-84D5-8E73FA46FC3F}"/>
              </a:ext>
            </a:extLst>
          </p:cNvPr>
          <p:cNvSpPr/>
          <p:nvPr/>
        </p:nvSpPr>
        <p:spPr>
          <a:xfrm>
            <a:off x="932688" y="1435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dirty="0">
                <a:solidFill>
                  <a:srgbClr val="5D6D7E"/>
                </a:solidFill>
              </a:rPr>
              <a:t>Presentation, objectifs, reproduction, description des fichiers</a:t>
            </a:r>
          </a:p>
        </p:txBody>
      </p:sp>
      <p:sp>
        <p:nvSpPr>
          <p:cNvPr id="15" name="Card2">
            <a:extLst>
              <a:ext uri="{FF2B5EF4-FFF2-40B4-BE49-F238E27FC236}">
                <a16:creationId xmlns:a16="http://schemas.microsoft.com/office/drawing/2014/main" id="{0E2474B4-E383-A585-758E-B7A154E2F6BC}"/>
              </a:ext>
            </a:extLst>
          </p:cNvPr>
          <p:cNvSpPr/>
          <p:nvPr/>
        </p:nvSpPr>
        <p:spPr>
          <a:xfrm>
            <a:off x="274320" y="1837944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16" name="Num2">
            <a:extLst>
              <a:ext uri="{FF2B5EF4-FFF2-40B4-BE49-F238E27FC236}">
                <a16:creationId xmlns:a16="http://schemas.microsoft.com/office/drawing/2014/main" id="{1BF14CEF-F21D-BECE-885B-6DC29F305BF0}"/>
              </a:ext>
            </a:extLst>
          </p:cNvPr>
          <p:cNvSpPr/>
          <p:nvPr/>
        </p:nvSpPr>
        <p:spPr>
          <a:xfrm>
            <a:off x="384048" y="1929384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/>
        </p:spPr>
      </p:sp>
      <p:sp>
        <p:nvSpPr>
          <p:cNvPr id="17" name="NumTxt2">
            <a:extLst>
              <a:ext uri="{FF2B5EF4-FFF2-40B4-BE49-F238E27FC236}">
                <a16:creationId xmlns:a16="http://schemas.microsoft.com/office/drawing/2014/main" id="{B8D80186-BC05-0C28-FD11-D05147ED6E9B}"/>
              </a:ext>
            </a:extLst>
          </p:cNvPr>
          <p:cNvSpPr/>
          <p:nvPr/>
        </p:nvSpPr>
        <p:spPr>
          <a:xfrm>
            <a:off x="384048" y="19293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itle2">
            <a:extLst>
              <a:ext uri="{FF2B5EF4-FFF2-40B4-BE49-F238E27FC236}">
                <a16:creationId xmlns:a16="http://schemas.microsoft.com/office/drawing/2014/main" id="{F253DA5C-5475-2680-CB96-A73885370324}"/>
              </a:ext>
            </a:extLst>
          </p:cNvPr>
          <p:cNvSpPr/>
          <p:nvPr/>
        </p:nvSpPr>
        <p:spPr>
          <a:xfrm>
            <a:off x="932688" y="19110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1F4E79"/>
                </a:solidFill>
              </a:rPr>
              <a:t>Gestion des dependances</a:t>
            </a:r>
          </a:p>
        </p:txBody>
      </p:sp>
      <p:sp>
        <p:nvSpPr>
          <p:cNvPr id="19" name="Desc2">
            <a:extLst>
              <a:ext uri="{FF2B5EF4-FFF2-40B4-BE49-F238E27FC236}">
                <a16:creationId xmlns:a16="http://schemas.microsoft.com/office/drawing/2014/main" id="{EF4F8470-CA90-218D-EEE3-7E341C4FA459}"/>
              </a:ext>
            </a:extLst>
          </p:cNvPr>
          <p:cNvSpPr/>
          <p:nvPr/>
        </p:nvSpPr>
        <p:spPr>
          <a:xfrm>
            <a:off x="932688" y="2221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dirty="0">
                <a:solidFill>
                  <a:srgbClr val="5D6D7E"/>
                </a:solidFill>
              </a:rPr>
              <a:t>Poetry, pyproject.toml, poetry.lock — environnement reproductible</a:t>
            </a:r>
          </a:p>
        </p:txBody>
      </p:sp>
      <p:sp>
        <p:nvSpPr>
          <p:cNvPr id="25" name="Card3">
            <a:extLst>
              <a:ext uri="{FF2B5EF4-FFF2-40B4-BE49-F238E27FC236}">
                <a16:creationId xmlns:a16="http://schemas.microsoft.com/office/drawing/2014/main" id="{27AAF48E-2FD9-7D89-295B-0D8018D5D522}"/>
              </a:ext>
            </a:extLst>
          </p:cNvPr>
          <p:cNvSpPr/>
          <p:nvPr/>
        </p:nvSpPr>
        <p:spPr>
          <a:xfrm>
            <a:off x="274320" y="262432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26" name="Num3">
            <a:extLst>
              <a:ext uri="{FF2B5EF4-FFF2-40B4-BE49-F238E27FC236}">
                <a16:creationId xmlns:a16="http://schemas.microsoft.com/office/drawing/2014/main" id="{094A45E6-A055-C528-5F2B-3B269B3FE52B}"/>
              </a:ext>
            </a:extLst>
          </p:cNvPr>
          <p:cNvSpPr/>
          <p:nvPr/>
        </p:nvSpPr>
        <p:spPr>
          <a:xfrm>
            <a:off x="384048" y="2715768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7" name="NumTxt3">
            <a:extLst>
              <a:ext uri="{FF2B5EF4-FFF2-40B4-BE49-F238E27FC236}">
                <a16:creationId xmlns:a16="http://schemas.microsoft.com/office/drawing/2014/main" id="{6E7358C8-6E27-37F8-9B45-4D899FD26C37}"/>
              </a:ext>
            </a:extLst>
          </p:cNvPr>
          <p:cNvSpPr/>
          <p:nvPr/>
        </p:nvSpPr>
        <p:spPr>
          <a:xfrm>
            <a:off x="384048" y="2715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itle3">
            <a:extLst>
              <a:ext uri="{FF2B5EF4-FFF2-40B4-BE49-F238E27FC236}">
                <a16:creationId xmlns:a16="http://schemas.microsoft.com/office/drawing/2014/main" id="{D6460E36-F6E0-FCF4-2043-7AD7A2F27886}"/>
              </a:ext>
            </a:extLst>
          </p:cNvPr>
          <p:cNvSpPr/>
          <p:nvPr/>
        </p:nvSpPr>
        <p:spPr>
          <a:xfrm>
            <a:off x="932688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1F4E79"/>
                </a:solidFill>
              </a:rPr>
              <a:t>Scripts de pre-traitement et vectorisation</a:t>
            </a:r>
          </a:p>
        </p:txBody>
      </p:sp>
      <p:sp>
        <p:nvSpPr>
          <p:cNvPr id="29" name="Desc3">
            <a:extLst>
              <a:ext uri="{FF2B5EF4-FFF2-40B4-BE49-F238E27FC236}">
                <a16:creationId xmlns:a16="http://schemas.microsoft.com/office/drawing/2014/main" id="{B277533C-6F53-2F16-2F9C-405AC7FAF325}"/>
              </a:ext>
            </a:extLst>
          </p:cNvPr>
          <p:cNvSpPr/>
          <p:nvPr/>
        </p:nvSpPr>
        <p:spPr>
          <a:xfrm>
            <a:off x="932688" y="3008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dirty="0">
                <a:solidFill>
                  <a:srgbClr val="5D6D7E"/>
                </a:solidFill>
              </a:rPr>
              <a:t>fetch, chunk, embed, index — avec docstrings integrees</a:t>
            </a:r>
          </a:p>
        </p:txBody>
      </p:sp>
      <p:sp>
        <p:nvSpPr>
          <p:cNvPr id="35" name="Card4">
            <a:extLst>
              <a:ext uri="{FF2B5EF4-FFF2-40B4-BE49-F238E27FC236}">
                <a16:creationId xmlns:a16="http://schemas.microsoft.com/office/drawing/2014/main" id="{D31A94C9-8557-09E5-8F53-0DA4723F0C75}"/>
              </a:ext>
            </a:extLst>
          </p:cNvPr>
          <p:cNvSpPr/>
          <p:nvPr/>
        </p:nvSpPr>
        <p:spPr>
          <a:xfrm>
            <a:off x="274320" y="3410712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36" name="Num4">
            <a:extLst>
              <a:ext uri="{FF2B5EF4-FFF2-40B4-BE49-F238E27FC236}">
                <a16:creationId xmlns:a16="http://schemas.microsoft.com/office/drawing/2014/main" id="{BF6D25AE-730C-0606-D3A3-7EE2A897A254}"/>
              </a:ext>
            </a:extLst>
          </p:cNvPr>
          <p:cNvSpPr/>
          <p:nvPr/>
        </p:nvSpPr>
        <p:spPr>
          <a:xfrm>
            <a:off x="384048" y="3502152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37" name="NumTxt4">
            <a:extLst>
              <a:ext uri="{FF2B5EF4-FFF2-40B4-BE49-F238E27FC236}">
                <a16:creationId xmlns:a16="http://schemas.microsoft.com/office/drawing/2014/main" id="{53945532-2877-5E49-4521-EDA93578109A}"/>
              </a:ext>
            </a:extLst>
          </p:cNvPr>
          <p:cNvSpPr/>
          <p:nvPr/>
        </p:nvSpPr>
        <p:spPr>
          <a:xfrm>
            <a:off x="384048" y="3502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Title4">
            <a:extLst>
              <a:ext uri="{FF2B5EF4-FFF2-40B4-BE49-F238E27FC236}">
                <a16:creationId xmlns:a16="http://schemas.microsoft.com/office/drawing/2014/main" id="{7DBE6EBD-D642-43A5-E083-3A2E239C1617}"/>
              </a:ext>
            </a:extLst>
          </p:cNvPr>
          <p:cNvSpPr/>
          <p:nvPr/>
        </p:nvSpPr>
        <p:spPr>
          <a:xfrm>
            <a:off x="932688" y="34838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1F4E79"/>
                </a:solidFill>
              </a:rPr>
              <a:t>Tests unitaires integres au pipeline</a:t>
            </a:r>
          </a:p>
        </p:txBody>
      </p:sp>
      <p:sp>
        <p:nvSpPr>
          <p:cNvPr id="39" name="Desc4">
            <a:extLst>
              <a:ext uri="{FF2B5EF4-FFF2-40B4-BE49-F238E27FC236}">
                <a16:creationId xmlns:a16="http://schemas.microsoft.com/office/drawing/2014/main" id="{4E362993-FDF6-73F9-3B5E-7D5EA45C90A7}"/>
              </a:ext>
            </a:extLst>
          </p:cNvPr>
          <p:cNvSpPr/>
          <p:nvPr/>
        </p:nvSpPr>
        <p:spPr>
          <a:xfrm>
            <a:off x="932688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dirty="0">
                <a:solidFill>
                  <a:srgbClr val="5D6D7E"/>
                </a:solidFill>
              </a:rPr>
              <a:t>25 tests pytest — date, localisation, index, qualite chunks</a:t>
            </a:r>
          </a:p>
        </p:txBody>
      </p:sp>
      <p:sp>
        <p:nvSpPr>
          <p:cNvPr id="45" name="Card5">
            <a:extLst>
              <a:ext uri="{FF2B5EF4-FFF2-40B4-BE49-F238E27FC236}">
                <a16:creationId xmlns:a16="http://schemas.microsoft.com/office/drawing/2014/main" id="{CED640BE-4F1F-5A77-4B0D-1E2C5A7C740F}"/>
              </a:ext>
            </a:extLst>
          </p:cNvPr>
          <p:cNvSpPr/>
          <p:nvPr/>
        </p:nvSpPr>
        <p:spPr>
          <a:xfrm>
            <a:off x="4754880" y="10515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46" name="Num5">
            <a:extLst>
              <a:ext uri="{FF2B5EF4-FFF2-40B4-BE49-F238E27FC236}">
                <a16:creationId xmlns:a16="http://schemas.microsoft.com/office/drawing/2014/main" id="{9C2A2E10-7BC6-B335-2B2D-A6D78BB307D5}"/>
              </a:ext>
            </a:extLst>
          </p:cNvPr>
          <p:cNvSpPr/>
          <p:nvPr/>
        </p:nvSpPr>
        <p:spPr>
          <a:xfrm>
            <a:off x="4864608" y="1143000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/>
        </p:spPr>
      </p:sp>
      <p:sp>
        <p:nvSpPr>
          <p:cNvPr id="47" name="NumTxt5">
            <a:extLst>
              <a:ext uri="{FF2B5EF4-FFF2-40B4-BE49-F238E27FC236}">
                <a16:creationId xmlns:a16="http://schemas.microsoft.com/office/drawing/2014/main" id="{42BA2D11-CB05-FDA4-3FF3-CA04CD8E1EB7}"/>
              </a:ext>
            </a:extLst>
          </p:cNvPr>
          <p:cNvSpPr/>
          <p:nvPr/>
        </p:nvSpPr>
        <p:spPr>
          <a:xfrm>
            <a:off x="4864608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Title5">
            <a:extLst>
              <a:ext uri="{FF2B5EF4-FFF2-40B4-BE49-F238E27FC236}">
                <a16:creationId xmlns:a16="http://schemas.microsoft.com/office/drawing/2014/main" id="{E9BFD86D-24A3-1FFE-7DC9-3F900EB72969}"/>
              </a:ext>
            </a:extLst>
          </p:cNvPr>
          <p:cNvSpPr/>
          <p:nvPr/>
        </p:nvSpPr>
        <p:spPr>
          <a:xfrm>
            <a:off x="5413248" y="1124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1F4E79"/>
                </a:solidFill>
              </a:rPr>
              <a:t>Rapport technique</a:t>
            </a:r>
          </a:p>
        </p:txBody>
      </p:sp>
      <p:sp>
        <p:nvSpPr>
          <p:cNvPr id="49" name="Desc5">
            <a:extLst>
              <a:ext uri="{FF2B5EF4-FFF2-40B4-BE49-F238E27FC236}">
                <a16:creationId xmlns:a16="http://schemas.microsoft.com/office/drawing/2014/main" id="{D65E0CDA-C8D7-C5AF-0F87-4EA92BA609FA}"/>
              </a:ext>
            </a:extLst>
          </p:cNvPr>
          <p:cNvSpPr/>
          <p:nvPr/>
        </p:nvSpPr>
        <p:spPr>
          <a:xfrm>
            <a:off x="5413248" y="1435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dirty="0">
                <a:solidFill>
                  <a:srgbClr val="5D6D7E"/>
                </a:solidFill>
              </a:rPr>
              <a:t>Architecture, choix techniques, resultats, recommandations</a:t>
            </a:r>
          </a:p>
        </p:txBody>
      </p:sp>
      <p:sp>
        <p:nvSpPr>
          <p:cNvPr id="55" name="Card6">
            <a:extLst>
              <a:ext uri="{FF2B5EF4-FFF2-40B4-BE49-F238E27FC236}">
                <a16:creationId xmlns:a16="http://schemas.microsoft.com/office/drawing/2014/main" id="{CA4F9888-62B0-5396-95ED-713197FE9460}"/>
              </a:ext>
            </a:extLst>
          </p:cNvPr>
          <p:cNvSpPr/>
          <p:nvPr/>
        </p:nvSpPr>
        <p:spPr>
          <a:xfrm>
            <a:off x="4754880" y="1837944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56" name="Num6">
            <a:extLst>
              <a:ext uri="{FF2B5EF4-FFF2-40B4-BE49-F238E27FC236}">
                <a16:creationId xmlns:a16="http://schemas.microsoft.com/office/drawing/2014/main" id="{77E92353-E7CB-5137-1DB4-583CD1F2E6FA}"/>
              </a:ext>
            </a:extLst>
          </p:cNvPr>
          <p:cNvSpPr/>
          <p:nvPr/>
        </p:nvSpPr>
        <p:spPr>
          <a:xfrm>
            <a:off x="4864608" y="1929384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57" name="NumTxt6">
            <a:extLst>
              <a:ext uri="{FF2B5EF4-FFF2-40B4-BE49-F238E27FC236}">
                <a16:creationId xmlns:a16="http://schemas.microsoft.com/office/drawing/2014/main" id="{010FFA98-56E9-B345-C8D1-9E6705AD0851}"/>
              </a:ext>
            </a:extLst>
          </p:cNvPr>
          <p:cNvSpPr/>
          <p:nvPr/>
        </p:nvSpPr>
        <p:spPr>
          <a:xfrm>
            <a:off x="4864608" y="19293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8" name="Title6">
            <a:extLst>
              <a:ext uri="{FF2B5EF4-FFF2-40B4-BE49-F238E27FC236}">
                <a16:creationId xmlns:a16="http://schemas.microsoft.com/office/drawing/2014/main" id="{23DBD1A3-9F1E-90FF-83CA-A4A61187798A}"/>
              </a:ext>
            </a:extLst>
          </p:cNvPr>
          <p:cNvSpPr/>
          <p:nvPr/>
        </p:nvSpPr>
        <p:spPr>
          <a:xfrm>
            <a:off x="5413248" y="19110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1F4E79"/>
                </a:solidFill>
              </a:rPr>
              <a:t>Code du systeme RAG</a:t>
            </a:r>
          </a:p>
        </p:txBody>
      </p:sp>
      <p:sp>
        <p:nvSpPr>
          <p:cNvPr id="59" name="Desc6">
            <a:extLst>
              <a:ext uri="{FF2B5EF4-FFF2-40B4-BE49-F238E27FC236}">
                <a16:creationId xmlns:a16="http://schemas.microsoft.com/office/drawing/2014/main" id="{43AFA956-6599-4B42-9C82-BDB0AF67C985}"/>
              </a:ext>
            </a:extLst>
          </p:cNvPr>
          <p:cNvSpPr/>
          <p:nvPr/>
        </p:nvSpPr>
        <p:spPr>
          <a:xfrm>
            <a:off x="5413248" y="2221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dirty="0">
                <a:solidFill>
                  <a:srgbClr val="5D6D7E"/>
                </a:solidFill>
              </a:rPr>
              <a:t>Chaine complete LangChain + Mistral + FAISS versionnee Git</a:t>
            </a:r>
          </a:p>
        </p:txBody>
      </p:sp>
      <p:sp>
        <p:nvSpPr>
          <p:cNvPr id="65" name="Card7">
            <a:extLst>
              <a:ext uri="{FF2B5EF4-FFF2-40B4-BE49-F238E27FC236}">
                <a16:creationId xmlns:a16="http://schemas.microsoft.com/office/drawing/2014/main" id="{66577EF0-7E1C-82FD-1FF1-01CD820D81D3}"/>
              </a:ext>
            </a:extLst>
          </p:cNvPr>
          <p:cNvSpPr/>
          <p:nvPr/>
        </p:nvSpPr>
        <p:spPr>
          <a:xfrm>
            <a:off x="4754880" y="262432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66" name="Num7">
            <a:extLst>
              <a:ext uri="{FF2B5EF4-FFF2-40B4-BE49-F238E27FC236}">
                <a16:creationId xmlns:a16="http://schemas.microsoft.com/office/drawing/2014/main" id="{39044C20-C9FE-D665-D167-03AF35AEAEEE}"/>
              </a:ext>
            </a:extLst>
          </p:cNvPr>
          <p:cNvSpPr/>
          <p:nvPr/>
        </p:nvSpPr>
        <p:spPr>
          <a:xfrm>
            <a:off x="4864608" y="2715768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67" name="NumTxt7">
            <a:extLst>
              <a:ext uri="{FF2B5EF4-FFF2-40B4-BE49-F238E27FC236}">
                <a16:creationId xmlns:a16="http://schemas.microsoft.com/office/drawing/2014/main" id="{61F73B06-C9E7-EED6-1B96-EA771A3ED17C}"/>
              </a:ext>
            </a:extLst>
          </p:cNvPr>
          <p:cNvSpPr/>
          <p:nvPr/>
        </p:nvSpPr>
        <p:spPr>
          <a:xfrm>
            <a:off x="4864608" y="2715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8" name="Title7">
            <a:extLst>
              <a:ext uri="{FF2B5EF4-FFF2-40B4-BE49-F238E27FC236}">
                <a16:creationId xmlns:a16="http://schemas.microsoft.com/office/drawing/2014/main" id="{43BD2D4D-B257-E0E4-8B2B-D78A91F36161}"/>
              </a:ext>
            </a:extLst>
          </p:cNvPr>
          <p:cNvSpPr/>
          <p:nvPr/>
        </p:nvSpPr>
        <p:spPr>
          <a:xfrm>
            <a:off x="5413248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1F4E79"/>
                </a:solidFill>
              </a:rPr>
              <a:t>Presentation PowerPoint</a:t>
            </a:r>
          </a:p>
        </p:txBody>
      </p:sp>
      <p:sp>
        <p:nvSpPr>
          <p:cNvPr id="69" name="Desc7">
            <a:extLst>
              <a:ext uri="{FF2B5EF4-FFF2-40B4-BE49-F238E27FC236}">
                <a16:creationId xmlns:a16="http://schemas.microsoft.com/office/drawing/2014/main" id="{43C92354-2169-8ECC-59CE-05EAB5DFF49D}"/>
              </a:ext>
            </a:extLst>
          </p:cNvPr>
          <p:cNvSpPr/>
          <p:nvPr/>
        </p:nvSpPr>
        <p:spPr>
          <a:xfrm>
            <a:off x="5413248" y="3008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dirty="0">
                <a:solidFill>
                  <a:srgbClr val="5D6D7E"/>
                </a:solidFill>
              </a:rPr>
              <a:t>10-15 diapositives — concept, resultats, demo, recommandations</a:t>
            </a:r>
          </a:p>
        </p:txBody>
      </p:sp>
      <p:sp>
        <p:nvSpPr>
          <p:cNvPr id="76" name="Text 1">
            <a:extLst>
              <a:ext uri="{FF2B5EF4-FFF2-40B4-BE49-F238E27FC236}">
                <a16:creationId xmlns:a16="http://schemas.microsoft.com/office/drawing/2014/main" id="{2AEF46E8-BF84-BC3D-EBC9-0F71FDD87F40}"/>
              </a:ext>
            </a:extLst>
          </p:cNvPr>
          <p:cNvSpPr/>
          <p:nvPr/>
        </p:nvSpPr>
        <p:spPr>
          <a:xfrm>
            <a:off x="457200" y="10533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dirty="0">
                <a:solidFill>
                  <a:srgbClr val="FFFFFF"/>
                </a:solidFill>
              </a:rPr>
              <a:t>LIVRABLES SOUMIS</a:t>
            </a:r>
            <a:endParaRPr lang="fr-FR" sz="2200" dirty="0"/>
          </a:p>
        </p:txBody>
      </p:sp>
      <p:sp>
        <p:nvSpPr>
          <p:cNvPr id="77" name="Shape 0">
            <a:extLst>
              <a:ext uri="{FF2B5EF4-FFF2-40B4-BE49-F238E27FC236}">
                <a16:creationId xmlns:a16="http://schemas.microsoft.com/office/drawing/2014/main" id="{E475820E-4DCD-0F3B-F4FB-259EE2118BC9}"/>
              </a:ext>
            </a:extLst>
          </p:cNvPr>
          <p:cNvSpPr/>
          <p:nvPr/>
        </p:nvSpPr>
        <p:spPr>
          <a:xfrm>
            <a:off x="0" y="-44335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084F38-5A20-F56A-69EB-D267D5CBF544}"/>
              </a:ext>
            </a:extLst>
          </p:cNvPr>
          <p:cNvSpPr txBox="1"/>
          <p:nvPr/>
        </p:nvSpPr>
        <p:spPr>
          <a:xfrm>
            <a:off x="0" y="98401"/>
            <a:ext cx="4613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800" b="1" dirty="0">
                <a:solidFill>
                  <a:srgbClr val="FFFFFF"/>
                </a:solidFill>
              </a:rPr>
              <a:t>LIVRABLES SOUMIS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744804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CONTEXTE ET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Le Defi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Puls-Events agregge des evenements culturels depuis Open Agenda.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Les utilisateurs veulent decouvrir des evenements en posant des questions en langue naturelle.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Les LLMs generiques ne connaissent pas les evenements locaux recents et inventent des reponses.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12080" y="1280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371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La Solution RAG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20116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Le systeme RAG combine 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Recuperation  des evenements pertinents depuis une base vectorielle.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Generation  d'une reponse en francais ancree exclusivement dans ces donnees.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Zero hallucination. Donnees toujours recentes.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DU SYSTEME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274320" y="3200400"/>
            <a:ext cx="8595360" cy="1600200"/>
          </a:xfrm>
          <a:prstGeom prst="rect">
            <a:avLst/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E79"/>
                </a:solidFill>
              </a:rPr>
              <a:t>FLUX EN TEMPS REEL</a:t>
            </a:r>
            <a:endParaRPr lang="en-US" sz="11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1583648-565B-67D2-E651-2B6810E34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092708"/>
            <a:ext cx="8116277" cy="169621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C8C31B7-AABF-3A7F-2237-77012E570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8" y="3575964"/>
            <a:ext cx="8116277" cy="12246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SOURCE DE DONNEES  |  OPEN AGENDA PARIS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430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10 025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evenements disponibles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1051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2450592" y="11430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1 643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50592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retenus (12 mois)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051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1430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26864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pages API fetchees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1051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6803136" y="11430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03136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champs selectionnes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Pourquoi Open Agenda 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Donnees en temps reel (API native v2)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Agenda Deciding for Paris (UID 82290100)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Export OpenDataSoft rejete : donnees de 2021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Filtrage par curseur sur 12 mois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Qualite des donnees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15468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description.fr : 0 % de valeurs nulles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keywords.fr : 89 % nuls, exclu du pipeline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Dates en millisecondes Unix (non ISO 8601)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Codes postaux corriges dans le champ ville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CHOIX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4300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887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43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mistral-embed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Modele d'embedding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1828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1 024 dimensions. Support francais optimise. Meme fournisseur que le LLM pour la coherence de tokenisation.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105156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1430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887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143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FAISS IndexFlatL2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84048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Base vectorielle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264408" y="1828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Recherche exacte en moins de 1 ms sur 1 643 vecteurs. Zero configuration pour le POC. Scalable avec IVFFlat en production.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05156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1143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1887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1143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mistral-small-latest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72084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Modele de generation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144768" y="1828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Temperature 0,1. Niveau gratuit. Reponses en francais. Prompt systeme strict : zero hallucination.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74320" y="297180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84048" y="306324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0896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Poetry + Python 3.13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6012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Environnement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84048" y="374904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Lock file pour la reproducibilite. Contrainte Python bornee a 3.13-3.15. mistralai epingle a 1.2.5.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154680" y="297180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64408" y="306324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10896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40480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1 chunk par evenement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84048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Strategie de chunking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264408" y="374904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Mediane 50 caracteres. Pas de decoupage recursif. Concatenation titre + description + lieu + date.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35040" y="297180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44768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108960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20840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Streamlit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72084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Interface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144768" y="374904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Interface conversationnelle avec panneau de sources. Chargement unique via @st.cache_resource.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38102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8C5A7-B90C-BF60-BF05-B79DD81F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Card">
            <a:extLst>
              <a:ext uri="{FF2B5EF4-FFF2-40B4-BE49-F238E27FC236}">
                <a16:creationId xmlns:a16="http://schemas.microsoft.com/office/drawing/2014/main" id="{43DBE610-E73E-DF86-165D-18C1A2C4AC0A}"/>
              </a:ext>
            </a:extLst>
          </p:cNvPr>
          <p:cNvSpPr/>
          <p:nvPr/>
        </p:nvSpPr>
        <p:spPr>
          <a:xfrm>
            <a:off x="274320" y="1051560"/>
            <a:ext cx="4114800" cy="4100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</p:spPr>
      </p:sp>
      <p:sp>
        <p:nvSpPr>
          <p:cNvPr id="11" name="IconCircle">
            <a:extLst>
              <a:ext uri="{FF2B5EF4-FFF2-40B4-BE49-F238E27FC236}">
                <a16:creationId xmlns:a16="http://schemas.microsoft.com/office/drawing/2014/main" id="{E0094B40-7E33-2823-4DC0-671FBA132CC0}"/>
              </a:ext>
            </a:extLst>
          </p:cNvPr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IconText">
            <a:extLst>
              <a:ext uri="{FF2B5EF4-FFF2-40B4-BE49-F238E27FC236}">
                <a16:creationId xmlns:a16="http://schemas.microsoft.com/office/drawing/2014/main" id="{A9E46E7F-EBF8-D9C5-3D50-667E2D6394DF}"/>
              </a:ext>
            </a:extLst>
          </p:cNvPr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</a:rPr>
              <a:t>LC</a:t>
            </a:r>
          </a:p>
        </p:txBody>
      </p:sp>
      <p:sp>
        <p:nvSpPr>
          <p:cNvPr id="13" name="LeftTitle">
            <a:extLst>
              <a:ext uri="{FF2B5EF4-FFF2-40B4-BE49-F238E27FC236}">
                <a16:creationId xmlns:a16="http://schemas.microsoft.com/office/drawing/2014/main" id="{1EDF1D71-FCCC-85AC-22FF-F7DA35759D34}"/>
              </a:ext>
            </a:extLst>
          </p:cNvPr>
          <p:cNvSpPr/>
          <p:nvPr/>
        </p:nvSpPr>
        <p:spPr>
          <a:xfrm>
            <a:off x="1097280" y="1270440"/>
            <a:ext cx="32004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b="1" dirty="0">
                <a:solidFill>
                  <a:srgbClr val="1F4E79"/>
                </a:solidFill>
              </a:rPr>
              <a:t>LangChain</a:t>
            </a:r>
          </a:p>
        </p:txBody>
      </p:sp>
      <p:sp>
        <p:nvSpPr>
          <p:cNvPr id="14" name="LeftSub">
            <a:extLst>
              <a:ext uri="{FF2B5EF4-FFF2-40B4-BE49-F238E27FC236}">
                <a16:creationId xmlns:a16="http://schemas.microsoft.com/office/drawing/2014/main" id="{1D181C80-E34F-38E4-F98B-9417524CD486}"/>
              </a:ext>
            </a:extLst>
          </p:cNvPr>
          <p:cNvSpPr/>
          <p:nvPr/>
        </p:nvSpPr>
        <p:spPr>
          <a:xfrm>
            <a:off x="1097280" y="1620000"/>
            <a:ext cx="32004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i="1" dirty="0">
                <a:solidFill>
                  <a:srgbClr val="5D6D7E"/>
                </a:solidFill>
              </a:rPr>
              <a:t>Framework d'orchestration NLP</a:t>
            </a:r>
          </a:p>
        </p:txBody>
      </p:sp>
      <p:sp>
        <p:nvSpPr>
          <p:cNvPr id="15" name="LeftBody">
            <a:extLst>
              <a:ext uri="{FF2B5EF4-FFF2-40B4-BE49-F238E27FC236}">
                <a16:creationId xmlns:a16="http://schemas.microsoft.com/office/drawing/2014/main" id="{981ED764-45E7-0B07-0061-DB18727563A2}"/>
              </a:ext>
            </a:extLst>
          </p:cNvPr>
          <p:cNvSpPr/>
          <p:nvPr/>
        </p:nvSpPr>
        <p:spPr>
          <a:xfrm>
            <a:off x="457200" y="2000000"/>
            <a:ext cx="3840000" cy="3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Char char="•"/>
            </a:pPr>
            <a:r>
              <a:rPr lang="fr-FR" sz="1100" dirty="0">
                <a:solidFill>
                  <a:srgbClr val="5D6D7E"/>
                </a:solidFill>
              </a:rPr>
              <a:t>Interfaces standardisees pour LLMs et bases vectorielles — changer de fournisseur ne necessite que de modifier une ligne de configuration</a:t>
            </a:r>
          </a:p>
          <a:p>
            <a:pPr marL="228600" indent="-228600">
              <a:buChar char="•"/>
            </a:pPr>
            <a:r>
              <a:rPr lang="fr-FR" sz="1100" dirty="0">
                <a:solidFill>
                  <a:srgbClr val="5D6D7E"/>
                </a:solidFill>
              </a:rPr>
              <a:t>Chaines RAG preconstruites (RetrievalQA) qui orchestrent recuperation et generation en quelques lignes</a:t>
            </a:r>
          </a:p>
          <a:p>
            <a:pPr marL="228600" indent="-228600">
              <a:buChar char="•"/>
            </a:pPr>
            <a:r>
              <a:rPr lang="fr-FR" sz="1100" dirty="0">
                <a:solidFill>
                  <a:srgbClr val="5D6D7E"/>
                </a:solidFill>
              </a:rPr>
              <a:t>Vaste ecosysteme de connecteurs pour dizaines de fournisseurs LLM et bases vectorielles</a:t>
            </a:r>
          </a:p>
          <a:p>
            <a:pPr marL="228600" indent="-228600">
              <a:buChar char="•"/>
            </a:pPr>
            <a:r>
              <a:rPr lang="fr-FR" sz="1100" dirty="0">
                <a:solidFill>
                  <a:srgbClr val="5D6D7E"/>
                </a:solidFill>
              </a:rPr>
              <a:t>Gestion native de l'historique conversationnel pour les versions multi-tours en production</a:t>
            </a:r>
          </a:p>
          <a:p>
            <a:pPr marL="228600" indent="-228600">
              <a:buChar char="•"/>
            </a:pPr>
            <a:r>
              <a:rPr lang="fr-FR" sz="1100" dirty="0">
                <a:solidFill>
                  <a:srgbClr val="5D6D7E"/>
                </a:solidFill>
              </a:rPr>
              <a:t>Chaine unique et partagee : le meme module alimente le chatbot en direct et l'evaluation RAGAS</a:t>
            </a:r>
          </a:p>
        </p:txBody>
      </p:sp>
      <p:sp>
        <p:nvSpPr>
          <p:cNvPr id="20" name="RightCard">
            <a:extLst>
              <a:ext uri="{FF2B5EF4-FFF2-40B4-BE49-F238E27FC236}">
                <a16:creationId xmlns:a16="http://schemas.microsoft.com/office/drawing/2014/main" id="{517582AE-CDF5-FEC0-1FBC-525F2DC9721C}"/>
              </a:ext>
            </a:extLst>
          </p:cNvPr>
          <p:cNvSpPr/>
          <p:nvPr/>
        </p:nvSpPr>
        <p:spPr>
          <a:xfrm>
            <a:off x="4754880" y="1051560"/>
            <a:ext cx="4114800" cy="4100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</p:spPr>
      </p:sp>
      <p:sp>
        <p:nvSpPr>
          <p:cNvPr id="21" name="RightTitle">
            <a:extLst>
              <a:ext uri="{FF2B5EF4-FFF2-40B4-BE49-F238E27FC236}">
                <a16:creationId xmlns:a16="http://schemas.microsoft.com/office/drawing/2014/main" id="{DA85FFBD-83DD-57C5-97ED-5E8FB2163C29}"/>
              </a:ext>
            </a:extLst>
          </p:cNvPr>
          <p:cNvSpPr/>
          <p:nvPr/>
        </p:nvSpPr>
        <p:spPr>
          <a:xfrm>
            <a:off x="5029200" y="1270440"/>
            <a:ext cx="3657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rgbClr val="1F4E79"/>
                </a:solidFill>
              </a:rPr>
              <a:t>Role dans ce projet</a:t>
            </a:r>
          </a:p>
        </p:txBody>
      </p:sp>
      <p:sp>
        <p:nvSpPr>
          <p:cNvPr id="30" name="BlockA">
            <a:extLst>
              <a:ext uri="{FF2B5EF4-FFF2-40B4-BE49-F238E27FC236}">
                <a16:creationId xmlns:a16="http://schemas.microsoft.com/office/drawing/2014/main" id="{CEAE79EE-71BB-10FF-C5DF-7B34B86193A2}"/>
              </a:ext>
            </a:extLst>
          </p:cNvPr>
          <p:cNvSpPr/>
          <p:nvPr/>
        </p:nvSpPr>
        <p:spPr>
          <a:xfrm>
            <a:off x="4937400" y="18288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1C7"/>
            </a:solidFill>
          </a:ln>
        </p:spPr>
      </p:sp>
      <p:sp>
        <p:nvSpPr>
          <p:cNvPr id="31" name="BlockALabel">
            <a:extLst>
              <a:ext uri="{FF2B5EF4-FFF2-40B4-BE49-F238E27FC236}">
                <a16:creationId xmlns:a16="http://schemas.microsoft.com/office/drawing/2014/main" id="{1D71FB57-18A4-E280-FA2A-A4FBF76CE2BC}"/>
              </a:ext>
            </a:extLst>
          </p:cNvPr>
          <p:cNvSpPr/>
          <p:nvPr/>
        </p:nvSpPr>
        <p:spPr>
          <a:xfrm>
            <a:off x="4937400" y="1828800"/>
            <a:ext cx="548640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32" name="BlockALabelTxt">
            <a:extLst>
              <a:ext uri="{FF2B5EF4-FFF2-40B4-BE49-F238E27FC236}">
                <a16:creationId xmlns:a16="http://schemas.microsoft.com/office/drawing/2014/main" id="{0B47D4B9-4A92-74B4-2509-4E4B197B60C4}"/>
              </a:ext>
            </a:extLst>
          </p:cNvPr>
          <p:cNvSpPr/>
          <p:nvPr/>
        </p:nvSpPr>
        <p:spPr>
          <a:xfrm>
            <a:off x="4937400" y="18288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dirty="0">
                <a:solidFill>
                  <a:srgbClr val="FFFFFF"/>
                </a:solidFill>
              </a:rPr>
              <a:t>CHATBOT</a:t>
            </a:r>
          </a:p>
        </p:txBody>
      </p:sp>
      <p:sp>
        <p:nvSpPr>
          <p:cNvPr id="33" name="BlockAText">
            <a:extLst>
              <a:ext uri="{FF2B5EF4-FFF2-40B4-BE49-F238E27FC236}">
                <a16:creationId xmlns:a16="http://schemas.microsoft.com/office/drawing/2014/main" id="{C879BC36-E181-595A-F7BA-F713F64C4898}"/>
              </a:ext>
            </a:extLst>
          </p:cNvPr>
          <p:cNvSpPr/>
          <p:nvPr/>
        </p:nvSpPr>
        <p:spPr>
          <a:xfrm>
            <a:off x="5577480" y="1865880"/>
            <a:ext cx="2926200" cy="84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dirty="0">
                <a:solidFill>
                  <a:srgbClr val="1F4E79"/>
                </a:solidFill>
              </a:rPr>
              <a:t>Chaine LCEL unique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5D6D7E"/>
                </a:solidFill>
              </a:rPr>
              <a:t>embed → retrieve → generate — utilisee par le chatbot ET l'evaluation</a:t>
            </a:r>
          </a:p>
        </p:txBody>
      </p:sp>
      <p:sp>
        <p:nvSpPr>
          <p:cNvPr id="40" name="BlockB">
            <a:extLst>
              <a:ext uri="{FF2B5EF4-FFF2-40B4-BE49-F238E27FC236}">
                <a16:creationId xmlns:a16="http://schemas.microsoft.com/office/drawing/2014/main" id="{70D81573-A3D3-10AC-428A-34A5A76A6AE1}"/>
              </a:ext>
            </a:extLst>
          </p:cNvPr>
          <p:cNvSpPr/>
          <p:nvPr/>
        </p:nvSpPr>
        <p:spPr>
          <a:xfrm>
            <a:off x="4937400" y="28350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1C7"/>
            </a:solidFill>
          </a:ln>
        </p:spPr>
      </p:sp>
      <p:sp>
        <p:nvSpPr>
          <p:cNvPr id="41" name="BlockBLabel">
            <a:extLst>
              <a:ext uri="{FF2B5EF4-FFF2-40B4-BE49-F238E27FC236}">
                <a16:creationId xmlns:a16="http://schemas.microsoft.com/office/drawing/2014/main" id="{60C83080-14FF-58E8-4246-A258CD9BB26B}"/>
              </a:ext>
            </a:extLst>
          </p:cNvPr>
          <p:cNvSpPr/>
          <p:nvPr/>
        </p:nvSpPr>
        <p:spPr>
          <a:xfrm>
            <a:off x="4937400" y="2835000"/>
            <a:ext cx="548640" cy="91440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/>
        </p:spPr>
      </p:sp>
      <p:sp>
        <p:nvSpPr>
          <p:cNvPr id="42" name="BlockBLabelTxt">
            <a:extLst>
              <a:ext uri="{FF2B5EF4-FFF2-40B4-BE49-F238E27FC236}">
                <a16:creationId xmlns:a16="http://schemas.microsoft.com/office/drawing/2014/main" id="{DA1869B8-1BF1-466D-3BF9-B36DB231A6D6}"/>
              </a:ext>
            </a:extLst>
          </p:cNvPr>
          <p:cNvSpPr/>
          <p:nvPr/>
        </p:nvSpPr>
        <p:spPr>
          <a:xfrm>
            <a:off x="4937400" y="28350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650" b="1" dirty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43" name="BlockBText">
            <a:extLst>
              <a:ext uri="{FF2B5EF4-FFF2-40B4-BE49-F238E27FC236}">
                <a16:creationId xmlns:a16="http://schemas.microsoft.com/office/drawing/2014/main" id="{50C8EFAF-A294-818B-3A03-B2C29FE18CF2}"/>
              </a:ext>
            </a:extLst>
          </p:cNvPr>
          <p:cNvSpPr/>
          <p:nvPr/>
        </p:nvSpPr>
        <p:spPr>
          <a:xfrm>
            <a:off x="5577480" y="2872080"/>
            <a:ext cx="2926200" cy="84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dirty="0">
                <a:solidFill>
                  <a:srgbClr val="1F4E79"/>
                </a:solidFill>
              </a:rPr>
              <a:t>Meme chaine RAGAS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5D6D7E"/>
                </a:solidFill>
              </a:rPr>
              <a:t>30 questions annotees evaluees sur la chaine exacte du chatbot</a:t>
            </a:r>
          </a:p>
        </p:txBody>
      </p:sp>
      <p:sp>
        <p:nvSpPr>
          <p:cNvPr id="50" name="BlockC">
            <a:extLst>
              <a:ext uri="{FF2B5EF4-FFF2-40B4-BE49-F238E27FC236}">
                <a16:creationId xmlns:a16="http://schemas.microsoft.com/office/drawing/2014/main" id="{D6C6C839-926D-09A2-95F0-DC8468F08A95}"/>
              </a:ext>
            </a:extLst>
          </p:cNvPr>
          <p:cNvSpPr/>
          <p:nvPr/>
        </p:nvSpPr>
        <p:spPr>
          <a:xfrm>
            <a:off x="4937400" y="38412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9525">
            <a:solidFill>
              <a:srgbClr val="185FA5"/>
            </a:solidFill>
          </a:ln>
        </p:spPr>
      </p:sp>
      <p:sp>
        <p:nvSpPr>
          <p:cNvPr id="51" name="BlockCText">
            <a:extLst>
              <a:ext uri="{FF2B5EF4-FFF2-40B4-BE49-F238E27FC236}">
                <a16:creationId xmlns:a16="http://schemas.microsoft.com/office/drawing/2014/main" id="{A8B500F9-5223-6410-04AD-9F2928622A17}"/>
              </a:ext>
            </a:extLst>
          </p:cNvPr>
          <p:cNvSpPr/>
          <p:nvPr/>
        </p:nvSpPr>
        <p:spPr>
          <a:xfrm>
            <a:off x="5029200" y="3878280"/>
            <a:ext cx="3474720" cy="84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0C447C"/>
                </a:solidFill>
              </a:rPr>
              <a:t>Pourquoi pas l'API Mistral directement ?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185FA5"/>
                </a:solidFill>
              </a:rPr>
              <a:t>LangChain abstrait le fournisseur : migration vers GPT-4 ou Llama sans reecriture de la logique de recherche</a:t>
            </a:r>
          </a:p>
        </p:txBody>
      </p:sp>
      <p:sp>
        <p:nvSpPr>
          <p:cNvPr id="99" name="Notes">
            <a:extLst>
              <a:ext uri="{FF2B5EF4-FFF2-40B4-BE49-F238E27FC236}">
                <a16:creationId xmlns:a16="http://schemas.microsoft.com/office/drawing/2014/main" id="{A72D2951-C07F-9F1F-B1EA-89BE80623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  <p:sp>
        <p:nvSpPr>
          <p:cNvPr id="4" name="Header">
            <a:extLst>
              <a:ext uri="{FF2B5EF4-FFF2-40B4-BE49-F238E27FC236}">
                <a16:creationId xmlns:a16="http://schemas.microsoft.com/office/drawing/2014/main" id="{8510CF28-1EFC-A4F8-0647-9E18F7270250}"/>
              </a:ext>
            </a:extLst>
          </p:cNvPr>
          <p:cNvSpPr/>
          <p:nvPr/>
        </p:nvSpPr>
        <p:spPr>
          <a:xfrm>
            <a:off x="0" y="-11839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E5E7B1-E631-9AB4-BE26-7BB71CFE04C0}"/>
              </a:ext>
            </a:extLst>
          </p:cNvPr>
          <p:cNvSpPr txBox="1"/>
          <p:nvPr/>
        </p:nvSpPr>
        <p:spPr>
          <a:xfrm>
            <a:off x="75252" y="173504"/>
            <a:ext cx="7612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800" b="1" dirty="0">
                <a:solidFill>
                  <a:srgbClr val="FFFFFF"/>
                </a:solidFill>
              </a:rPr>
              <a:t>POURQUOI LANGCHAIN  |  ORCHESTRATION DU PIPELINE RAG</a:t>
            </a:r>
          </a:p>
        </p:txBody>
      </p:sp>
    </p:spTree>
    <p:extLst>
      <p:ext uri="{BB962C8B-B14F-4D97-AF65-F5344CB8AC3E}">
        <p14:creationId xmlns:p14="http://schemas.microsoft.com/office/powerpoint/2010/main" val="1602728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AUTOMATISE</a:t>
            </a:r>
            <a:endParaRPr lang="en-US" sz="22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91D484C-D6FB-AD65-6305-B856F3868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635" y="914400"/>
            <a:ext cx="5221277" cy="42291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21F88B7-16E7-D1AB-41FC-31E0890A128D}"/>
              </a:ext>
            </a:extLst>
          </p:cNvPr>
          <p:cNvSpPr txBox="1"/>
          <p:nvPr/>
        </p:nvSpPr>
        <p:spPr>
          <a:xfrm>
            <a:off x="4330205" y="1833086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Logique</a:t>
            </a:r>
            <a:r>
              <a:rPr lang="en-GB" dirty="0"/>
              <a:t> de saut </a:t>
            </a:r>
            <a:r>
              <a:rPr lang="en-GB" dirty="0" err="1"/>
              <a:t>intelligente</a:t>
            </a:r>
            <a:r>
              <a:rPr lang="en-GB" dirty="0"/>
              <a:t> : </a:t>
            </a:r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etape</a:t>
            </a:r>
            <a:r>
              <a:rPr lang="en-GB" dirty="0"/>
              <a:t> est </a:t>
            </a:r>
            <a:r>
              <a:rPr lang="en-GB" dirty="0" err="1"/>
              <a:t>ignoree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son artefact </a:t>
            </a:r>
            <a:r>
              <a:rPr lang="en-GB" dirty="0" err="1"/>
              <a:t>existe</a:t>
            </a:r>
            <a:r>
              <a:rPr lang="en-GB" dirty="0"/>
              <a:t> </a:t>
            </a:r>
            <a:r>
              <a:rPr lang="en-GB" dirty="0" err="1"/>
              <a:t>deja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L'indicateur</a:t>
            </a:r>
            <a:r>
              <a:rPr lang="en-GB" dirty="0"/>
              <a:t> --force force la reconstruction complete.</a:t>
            </a:r>
            <a:endParaRPr lang="en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RESULTATS  |  QUALITE DE LA RECUPERATION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21615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16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1247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Requete 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1247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Concert de musique classique a Paris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</a:rPr>
              <a:t>Resultat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5087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Les 4 Saisons de Vivaldi  |  Eglise de La Madeleine  |  dist: 0,43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2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21762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0848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Requete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0848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Evenements a l'Eglise de La Madeleine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</a:rPr>
              <a:t>Resultat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4688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Concert Onestage  |  Vendredi 27 mars, 16h00  |  dist: 0,38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2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313639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30449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Requete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04495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Que faire ce weekend a Paris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290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</a:rPr>
              <a:t>Resultat 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4290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Soiree de partage pour les jeunes  |  Salle de La Madeleine  |  dist: 0,41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2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4096512"/>
            <a:ext cx="475488" cy="47548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40050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Requete 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400507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Quel est le meilleur restaurant a Paris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3891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</a:rPr>
              <a:t>Resultat 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43891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Refus correct : Je ne sais pas  |  (dist: 0,61 hors perimetre)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75B6"/>
                </a:solidFill>
              </a:rPr>
              <a:t>Distance L2 &lt; 0,50 = pertinent  |  Distance L2 &gt; 0,60 = hors perimetre detecte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39C12"/>
                </a:solidFill>
              </a:rPr>
              <a:t>DEMONSTRATION EN DIRECT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0" y="1188720"/>
            <a:ext cx="658368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0" y="1188720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188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Puls-Events  |  Assistant Culturel Paris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192024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920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Quels concerts classiques ce mois 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1828800" cy="3749040"/>
          </a:xfrm>
          <a:prstGeom prst="roundRect">
            <a:avLst>
              <a:gd name="adj" fmla="val 5000"/>
            </a:avLst>
          </a:prstGeom>
          <a:solidFill>
            <a:srgbClr val="1A252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</a:rPr>
              <a:t>Sources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691640"/>
            <a:ext cx="1645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1. Les 4 Saisons...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11 mars, 20h00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La Madeleine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2. Concert Aria...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14 mars, 16h00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Ste-Elisabeth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5C2EFC-2D18-AD72-36CA-3920B31CC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030" y="1730968"/>
            <a:ext cx="6583679" cy="3406140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6189772" y="2458556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0000"/>
                </a:solidFill>
              </a:rPr>
              <a:t>Voici les concerts disponibles :</a:t>
            </a:r>
            <a:endParaRPr lang="en-US" sz="1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0000"/>
                </a:solidFill>
              </a:rPr>
              <a:t>1. Les 4 Saisons de Vivaldi</a:t>
            </a:r>
            <a:endParaRPr lang="en-US" sz="1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</a:rPr>
              <a:t>   Mercredi 11 mars, 20h00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</a:rPr>
              <a:t>   Eglise de La Madeleine, Paris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0000"/>
                </a:solidFill>
              </a:rPr>
              <a:t>2. Concert Aria Baroque</a:t>
            </a:r>
            <a:endParaRPr lang="en-US" sz="1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</a:rPr>
              <a:t>   Samedi 14 mars, 16h00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</a:rPr>
              <a:t>   Eglise Sainte-Elisabeth de Hongrie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TESTS UNITAIRES  |  25 / 25 REUSSIS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143000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124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TestRawData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435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Fichier present, non vide, titres et descriptions non nuls, dates presentes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1216152"/>
            <a:ext cx="10058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REUSSI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3794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" y="1929384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9293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1911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TestDateFilter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2219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Tous les evenements dans les 12 mois, aucun a plus de 2 ans dans le futur, plage de dates &gt; 30 jours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2002536"/>
            <a:ext cx="10058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REUSSI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2432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2715768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715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TestLocationFilter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008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Plus de 90 % des evenements a Paris, champ ville non nul, aucun code postal residuel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2788920"/>
            <a:ext cx="10058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REUSSI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41071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" y="3502152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502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" y="34838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TestVectorDatabase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37947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Dimension 1024, index non vide, synchronisation index/metadonnees, dtype float32, recherche valide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3575304"/>
            <a:ext cx="10058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REUSSI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19709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384048" y="4288536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42885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2688" y="4270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TestChunkQuality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4581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Texte de chunk non vide, marqueur Evenement present, URL non vide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4361688"/>
            <a:ext cx="10058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REUSSI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EVALUATION  |  JEU DE TEST ANNOTE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16152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Evenements specifiques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216152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04488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Requetes par 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2161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144768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84848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Requetes par categorie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267712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Requetes par lieu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103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2267712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04488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Hors perimetre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103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22677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144768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84848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Sans correspondance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46120"/>
            <a:ext cx="8595360" cy="1691640"/>
          </a:xfrm>
          <a:prstGeom prst="roundRect">
            <a:avLst>
              <a:gd name="adj" fmla="val 5405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4E79"/>
                </a:solidFill>
              </a:rPr>
              <a:t>METRIQUES RAGAS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</a:rPr>
              <a:t>faithfulness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Reponse ancree dans le contexte 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54456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&gt; 0,80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78608" y="37033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2578608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</a:rPr>
              <a:t>answer_relevancy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78608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Reponse pertinente par rapport a la question 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78608" y="454456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&gt; 0,75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0016" y="37033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700016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</a:rPr>
              <a:t>context_precision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0016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Chunks recuperes sans bruit ?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0016" y="454456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&gt; 0,70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21424" y="37033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21424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</a:rPr>
              <a:t>context_recall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21424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Toutes les infos necessaires recuperees ?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21424" y="454456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&gt; 0,70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LIMITES DU POC  &amp;  RECOMMANDATIONS PRODUCTION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</a:rPr>
              <a:t>Limites actuelles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Source unique (un seul agenda Open Agenda)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Pipeline manuel, pas de rafraichissement programme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Embedding 1 643 evenements : ~16 min (niveau gratuit)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FAISS IndexFlatL2 : non scalable au-dela de 100k vecteurs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Pas d'historique conversationnel dans le contexte RAG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Base de connaissances statique entre les reconstructions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Pour la production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Pipeline programme (Airflow ou Kestra) : refresh quotidien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Base vectorielle geree (Pinecone, Qdrant) : persistance et filtrage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Niveau payant Mistral : elimination des limites de debit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Agregation multi-agendas : musees, theatres, mairies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Indexation incrementale : re-embedding des seuls nouveaux evenements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Monitoring : taux de refus, age de l'index, retours utilisateurs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39C12"/>
                </a:solidFill>
              </a:rPr>
              <a:t>BILAN &amp; PROCHAINES ETAPES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Architecture RAG validee pour la recommandation d'evenements culturels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733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1 643 evenements parisiens indexes et interrogeables semantiquement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40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295144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Zero hallucination confirmee sur tous les types de requetes testes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91693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25 / 25 tests unitaires passes, pipeline reproductible en une commande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53872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Jeu de test annote de 30 questions, evaluation RAGAS executee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429768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Recommandation : proceder a la planification du deploiement en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548640"/>
            <a:ext cx="2743200" cy="2743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548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FFFFFF"/>
                </a:solidFill>
              </a:rPr>
              <a:t>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Hope Donglo  |  OpenClassrooms Projet 11  |  Juillet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12"/>
                </a:solidFill>
              </a:rPr>
              <a:t>github.com/project  |  data/processed/test_dataset.csv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1607</Words>
  <Application>Microsoft Macintosh PowerPoint</Application>
  <PresentationFormat>On-screen Show (16:9)</PresentationFormat>
  <Paragraphs>253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Puls-Events RAG POC</dc:title>
  <dc:subject>PptxGenJS Presentation</dc:subject>
  <dc:creator>Hope Donglo</dc:creator>
  <cp:lastModifiedBy>Hope Donglo</cp:lastModifiedBy>
  <cp:revision>6</cp:revision>
  <dcterms:created xsi:type="dcterms:W3CDTF">2026-06-12T05:53:34Z</dcterms:created>
  <dcterms:modified xsi:type="dcterms:W3CDTF">2026-08-05T22:20:48Z</dcterms:modified>
</cp:coreProperties>
</file>